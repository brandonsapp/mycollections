
<file path=[Content_Types].xml><?xml version="1.0" encoding="utf-8"?>
<Types xmlns="http://schemas.openxmlformats.org/package/2006/content-types">
  <Default Extension="bin" ContentType="application/vnd.ms-office.activeX"/>
  <Default Extension="png" ContentType="image/png"/>
  <Default Extension="tmp" ContentType="image/png"/>
  <Default Extension="wmf" ContentType="image/x-wmf"/>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activeX/activeX1.xml" ContentType="application/vnd.ms-office.activeX+xml"/>
  <Override PartName="/ppt/activeX/activeX2.xml" ContentType="application/vnd.ms-office.activeX+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0" r:id="rId3"/>
    <p:sldId id="264" r:id="rId4"/>
    <p:sldId id="267" r:id="rId5"/>
    <p:sldId id="276" r:id="rId6"/>
    <p:sldId id="282" r:id="rId7"/>
    <p:sldId id="283" r:id="rId8"/>
    <p:sldId id="284" r:id="rId9"/>
    <p:sldId id="274" r:id="rId10"/>
    <p:sldId id="277" r:id="rId11"/>
    <p:sldId id="278" r:id="rId12"/>
    <p:sldId id="280" r:id="rId13"/>
    <p:sldId id="281" r:id="rId14"/>
    <p:sldId id="279" r:id="rId15"/>
    <p:sldId id="275" r:id="rId16"/>
    <p:sldId id="269" r:id="rId17"/>
    <p:sldId id="285" r:id="rId18"/>
    <p:sldId id="286" r:id="rId19"/>
    <p:sldId id="268" r:id="rId20"/>
    <p:sldId id="258" r:id="rId21"/>
    <p:sldId id="266" r:id="rId22"/>
    <p:sldId id="259" r:id="rId23"/>
    <p:sldId id="265" r:id="rId24"/>
    <p:sldId id="262" r:id="rId25"/>
    <p:sldId id="272"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12" autoAdjust="0"/>
    <p:restoredTop sz="94660"/>
  </p:normalViewPr>
  <p:slideViewPr>
    <p:cSldViewPr snapToGrid="0">
      <p:cViewPr varScale="1">
        <p:scale>
          <a:sx n="103" d="100"/>
          <a:sy n="103" d="100"/>
        </p:scale>
        <p:origin x="144" y="318"/>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activeX/_rels/activeX1.xml.rels><?xml version="1.0" encoding="UTF-8" standalone="yes"?>
<Relationships xmlns="http://schemas.openxmlformats.org/package/2006/relationships"><Relationship Id="rId1" Type="http://schemas.microsoft.com/office/2006/relationships/activeXControlBinary" Target="activeX1.bin"/></Relationships>
</file>

<file path=ppt/activeX/_rels/activeX2.xml.rels><?xml version="1.0" encoding="UTF-8" standalone="yes"?>
<Relationships xmlns="http://schemas.openxmlformats.org/package/2006/relationships"><Relationship Id="rId1" Type="http://schemas.microsoft.com/office/2006/relationships/activeXControlBinary" Target="activeX2.bin"/></Relationships>
</file>

<file path=ppt/activeX/activeX1.xml><?xml version="1.0" encoding="utf-8"?>
<ax:ocx xmlns:ax="http://schemas.microsoft.com/office/2006/activeX" xmlns:r="http://schemas.openxmlformats.org/officeDocument/2006/relationships" ax:classid="{4C599241-6926-101B-9992-00000B65C6F9}" ax:persistence="persistStorage" r:id="rId1"/>
</file>

<file path=ppt/activeX/activeX2.xml><?xml version="1.0" encoding="utf-8"?>
<ax:ocx xmlns:ax="http://schemas.microsoft.com/office/2006/activeX" xmlns:r="http://schemas.openxmlformats.org/officeDocument/2006/relationships" ax:classid="{4C599241-6926-101B-9992-00000B65C6F9}" ax:persistence="persistStorage" r:id="rId1"/>
</file>

<file path=ppt/drawings/_rels/vmlDrawing1.v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image" Target="../media/image1.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B45A553-0190-49B3-BADD-32298FC94B27}" type="datetimeFigureOut">
              <a:rPr lang="en-US" smtClean="0"/>
              <a:t>4/8/2019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1212C5-E03B-492D-BED9-519DC41A48C7}" type="slidenum">
              <a:rPr lang="en-US" smtClean="0"/>
              <a:t>‹#›</a:t>
            </a:fld>
            <a:endParaRPr lang="en-US"/>
          </a:p>
        </p:txBody>
      </p:sp>
    </p:spTree>
    <p:extLst>
      <p:ext uri="{BB962C8B-B14F-4D97-AF65-F5344CB8AC3E}">
        <p14:creationId xmlns:p14="http://schemas.microsoft.com/office/powerpoint/2010/main" val="25803583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3B45A553-0190-49B3-BADD-32298FC94B27}" type="datetimeFigureOut">
              <a:rPr lang="en-US" smtClean="0"/>
              <a:t>4/8/2019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1212C5-E03B-492D-BED9-519DC41A48C7}" type="slidenum">
              <a:rPr lang="en-US" smtClean="0"/>
              <a:t>‹#›</a:t>
            </a:fld>
            <a:endParaRPr lang="en-US"/>
          </a:p>
        </p:txBody>
      </p:sp>
    </p:spTree>
    <p:extLst>
      <p:ext uri="{BB962C8B-B14F-4D97-AF65-F5344CB8AC3E}">
        <p14:creationId xmlns:p14="http://schemas.microsoft.com/office/powerpoint/2010/main" val="22673377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B45A553-0190-49B3-BADD-32298FC94B27}" type="datetimeFigureOut">
              <a:rPr lang="en-US" smtClean="0"/>
              <a:t>4/8/2019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1212C5-E03B-492D-BED9-519DC41A48C7}" type="slidenum">
              <a:rPr lang="en-US" smtClean="0"/>
              <a:t>‹#›</a:t>
            </a:fld>
            <a:endParaRPr lang="en-US"/>
          </a:p>
        </p:txBody>
      </p:sp>
    </p:spTree>
    <p:extLst>
      <p:ext uri="{BB962C8B-B14F-4D97-AF65-F5344CB8AC3E}">
        <p14:creationId xmlns:p14="http://schemas.microsoft.com/office/powerpoint/2010/main" val="5400425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3B45A553-0190-49B3-BADD-32298FC94B27}" type="datetimeFigureOut">
              <a:rPr lang="en-US" smtClean="0"/>
              <a:t>4/8/2019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81212C5-E03B-492D-BED9-519DC41A48C7}" type="slidenum">
              <a:rPr lang="en-US" smtClean="0"/>
              <a:t>‹#›</a:t>
            </a:fld>
            <a:endParaRPr lang="en-US"/>
          </a:p>
        </p:txBody>
      </p:sp>
    </p:spTree>
    <p:extLst>
      <p:ext uri="{BB962C8B-B14F-4D97-AF65-F5344CB8AC3E}">
        <p14:creationId xmlns:p14="http://schemas.microsoft.com/office/powerpoint/2010/main" val="16347006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3B45A553-0190-49B3-BADD-32298FC94B27}" type="datetimeFigureOut">
              <a:rPr lang="en-US" smtClean="0"/>
              <a:t>4/8/2019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81212C5-E03B-492D-BED9-519DC41A48C7}" type="slidenum">
              <a:rPr lang="en-US" smtClean="0"/>
              <a:t>‹#›</a:t>
            </a:fld>
            <a:endParaRPr lang="en-US"/>
          </a:p>
        </p:txBody>
      </p:sp>
    </p:spTree>
    <p:extLst>
      <p:ext uri="{BB962C8B-B14F-4D97-AF65-F5344CB8AC3E}">
        <p14:creationId xmlns:p14="http://schemas.microsoft.com/office/powerpoint/2010/main" val="27702938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B45A553-0190-49B3-BADD-32298FC94B27}" type="datetimeFigureOut">
              <a:rPr lang="en-US" smtClean="0"/>
              <a:t>4/8/2019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81212C5-E03B-492D-BED9-519DC41A48C7}" type="slidenum">
              <a:rPr lang="en-US" smtClean="0"/>
              <a:t>‹#›</a:t>
            </a:fld>
            <a:endParaRPr lang="en-US"/>
          </a:p>
        </p:txBody>
      </p:sp>
    </p:spTree>
    <p:extLst>
      <p:ext uri="{BB962C8B-B14F-4D97-AF65-F5344CB8AC3E}">
        <p14:creationId xmlns:p14="http://schemas.microsoft.com/office/powerpoint/2010/main" val="36336524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B45A553-0190-49B3-BADD-32298FC94B27}" type="datetimeFigureOut">
              <a:rPr lang="en-US" smtClean="0"/>
              <a:t>4/8/2019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81212C5-E03B-492D-BED9-519DC41A48C7}" type="slidenum">
              <a:rPr lang="en-US" smtClean="0"/>
              <a:t>‹#›</a:t>
            </a:fld>
            <a:endParaRPr lang="en-US"/>
          </a:p>
        </p:txBody>
      </p:sp>
    </p:spTree>
    <p:extLst>
      <p:ext uri="{BB962C8B-B14F-4D97-AF65-F5344CB8AC3E}">
        <p14:creationId xmlns:p14="http://schemas.microsoft.com/office/powerpoint/2010/main" val="25529866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B45A553-0190-49B3-BADD-32298FC94B27}" type="datetimeFigureOut">
              <a:rPr lang="en-US" smtClean="0"/>
              <a:t>4/8/2019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81212C5-E03B-492D-BED9-519DC41A48C7}" type="slidenum">
              <a:rPr lang="en-US" smtClean="0"/>
              <a:t>‹#›</a:t>
            </a:fld>
            <a:endParaRPr lang="en-US"/>
          </a:p>
        </p:txBody>
      </p:sp>
    </p:spTree>
    <p:extLst>
      <p:ext uri="{BB962C8B-B14F-4D97-AF65-F5344CB8AC3E}">
        <p14:creationId xmlns:p14="http://schemas.microsoft.com/office/powerpoint/2010/main" val="39342598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B45A553-0190-49B3-BADD-32298FC94B27}" type="datetimeFigureOut">
              <a:rPr lang="en-US" smtClean="0"/>
              <a:t>4/8/2019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81212C5-E03B-492D-BED9-519DC41A48C7}" type="slidenum">
              <a:rPr lang="en-US" smtClean="0"/>
              <a:t>‹#›</a:t>
            </a:fld>
            <a:endParaRPr lang="en-US"/>
          </a:p>
        </p:txBody>
      </p:sp>
    </p:spTree>
    <p:extLst>
      <p:ext uri="{BB962C8B-B14F-4D97-AF65-F5344CB8AC3E}">
        <p14:creationId xmlns:p14="http://schemas.microsoft.com/office/powerpoint/2010/main" val="7306598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B45A553-0190-49B3-BADD-32298FC94B27}" type="datetimeFigureOut">
              <a:rPr lang="en-US" smtClean="0"/>
              <a:t>4/8/2019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1212C5-E03B-492D-BED9-519DC41A48C7}" type="slidenum">
              <a:rPr lang="en-US" smtClean="0"/>
              <a:t>‹#›</a:t>
            </a:fld>
            <a:endParaRPr lang="en-US"/>
          </a:p>
        </p:txBody>
      </p:sp>
    </p:spTree>
    <p:extLst>
      <p:ext uri="{BB962C8B-B14F-4D97-AF65-F5344CB8AC3E}">
        <p14:creationId xmlns:p14="http://schemas.microsoft.com/office/powerpoint/2010/main" val="41768227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B45A553-0190-49B3-BADD-32298FC94B27}" type="datetimeFigureOut">
              <a:rPr lang="en-US" smtClean="0"/>
              <a:t>4/8/2019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1212C5-E03B-492D-BED9-519DC41A48C7}" type="slidenum">
              <a:rPr lang="en-US" smtClean="0"/>
              <a:t>‹#›</a:t>
            </a:fld>
            <a:endParaRPr lang="en-US"/>
          </a:p>
        </p:txBody>
      </p:sp>
    </p:spTree>
    <p:extLst>
      <p:ext uri="{BB962C8B-B14F-4D97-AF65-F5344CB8AC3E}">
        <p14:creationId xmlns:p14="http://schemas.microsoft.com/office/powerpoint/2010/main" val="11576380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 Title -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fr-FR" dirty="0"/>
          </a:p>
        </p:txBody>
      </p:sp>
      <p:sp>
        <p:nvSpPr>
          <p:cNvPr id="5" name="Espace réservé du contenu 2"/>
          <p:cNvSpPr>
            <a:spLocks noGrp="1"/>
          </p:cNvSpPr>
          <p:nvPr>
            <p:ph idx="1"/>
          </p:nvPr>
        </p:nvSpPr>
        <p:spPr>
          <a:xfrm>
            <a:off x="838200" y="1567542"/>
            <a:ext cx="10668000" cy="4571684"/>
          </a:xfrm>
          <a:prstGeom prst="rect">
            <a:avLst/>
          </a:prstGeom>
        </p:spPr>
        <p:txBody>
          <a:bodyPr lIns="0" tIns="0" rIns="0" bIns="0">
            <a:normAutofit/>
          </a:bodyPr>
          <a:lstStyle>
            <a:lvl1pPr marL="0" indent="0">
              <a:buFontTx/>
              <a:buNone/>
              <a:defRPr sz="2200">
                <a:solidFill>
                  <a:srgbClr val="3D3D3F"/>
                </a:solidFill>
                <a:latin typeface="MetaPro-Light"/>
                <a:ea typeface="MetaPro-Light"/>
                <a:cs typeface="Arial"/>
              </a:defRPr>
            </a:lvl1pPr>
            <a:lvl2pPr>
              <a:defRPr sz="2200">
                <a:solidFill>
                  <a:srgbClr val="3D3D3F"/>
                </a:solidFill>
                <a:latin typeface="MetaPro-Light"/>
                <a:ea typeface="MetaPro-Light"/>
              </a:defRPr>
            </a:lvl2pPr>
            <a:lvl3pPr>
              <a:defRPr sz="2200">
                <a:solidFill>
                  <a:srgbClr val="3D3D3F"/>
                </a:solidFill>
                <a:latin typeface="MetaPro-Light"/>
                <a:ea typeface="MetaPro-Light"/>
              </a:defRPr>
            </a:lvl3pPr>
            <a:lvl4pPr>
              <a:defRPr sz="2200">
                <a:solidFill>
                  <a:srgbClr val="3D3D3F"/>
                </a:solidFill>
                <a:latin typeface="MetaPro-Light"/>
                <a:ea typeface="MetaPro-Light"/>
              </a:defRPr>
            </a:lvl4pPr>
            <a:lvl5pPr>
              <a:defRPr sz="2200">
                <a:solidFill>
                  <a:srgbClr val="3D3D3F"/>
                </a:solidFill>
                <a:latin typeface="MetaPro-Light"/>
                <a:ea typeface="MetaPro-Ligh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GB" dirty="0"/>
          </a:p>
        </p:txBody>
      </p:sp>
      <p:sp>
        <p:nvSpPr>
          <p:cNvPr id="4"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174757B-1E1C-4F5F-A559-56373CCB318E}" type="slidenum">
              <a:rPr lang="en-US" smtClean="0"/>
              <a:t>‹#›</a:t>
            </a:fld>
            <a:endParaRPr lang="en-US"/>
          </a:p>
        </p:txBody>
      </p:sp>
      <p:sp>
        <p:nvSpPr>
          <p:cNvPr id="6"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1CD8F7B-E4A7-4C12-8759-CE129B7E86CE}" type="datetime1">
              <a:rPr lang="en-US" smtClean="0"/>
              <a:t>4/8/2019</a:t>
            </a:fld>
            <a:endParaRPr lang="en-US"/>
          </a:p>
        </p:txBody>
      </p:sp>
      <p:sp>
        <p:nvSpPr>
          <p:cNvPr id="7"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ciao</a:t>
            </a:r>
            <a:endParaRPr lang="en-US"/>
          </a:p>
        </p:txBody>
      </p:sp>
    </p:spTree>
    <p:extLst>
      <p:ext uri="{BB962C8B-B14F-4D97-AF65-F5344CB8AC3E}">
        <p14:creationId xmlns:p14="http://schemas.microsoft.com/office/powerpoint/2010/main" val="17794699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18" Type="http://schemas.openxmlformats.org/officeDocument/2006/relationships/image" Target="../media/image2.w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wmf"/><Relationship Id="rId2" Type="http://schemas.openxmlformats.org/officeDocument/2006/relationships/slideLayout" Target="../slideLayouts/slideLayout2.xml"/><Relationship Id="rId16" Type="http://schemas.openxmlformats.org/officeDocument/2006/relationships/control" Target="../activeX/activeX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control" Target="../activeX/activeX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vmlDrawing" Target="../drawings/vmlDrawing1.v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B45A553-0190-49B3-BADD-32298FC94B27}" type="datetimeFigureOut">
              <a:rPr lang="en-US" smtClean="0"/>
              <a:t>4/8/2019</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81212C5-E03B-492D-BED9-519DC41A48C7}" type="slidenum">
              <a:rPr lang="en-US" smtClean="0"/>
              <a:t>‹#›</a:t>
            </a:fld>
            <a:endParaRPr lang="en-US"/>
          </a:p>
        </p:txBody>
      </p:sp>
      <p:sp>
        <p:nvSpPr>
          <p:cNvPr id="11" name="TextBox 10"/>
          <p:cNvSpPr txBox="1"/>
          <p:nvPr userDrawn="1"/>
        </p:nvSpPr>
        <p:spPr>
          <a:xfrm>
            <a:off x="10287000" y="117475"/>
            <a:ext cx="1905000" cy="369332"/>
          </a:xfrm>
          <a:prstGeom prst="rect">
            <a:avLst/>
          </a:prstGeom>
          <a:noFill/>
        </p:spPr>
        <p:txBody>
          <a:bodyPr wrap="square" rtlCol="0">
            <a:spAutoFit/>
          </a:bodyPr>
          <a:lstStyle/>
          <a:p>
            <a:pPr algn="r"/>
            <a:r>
              <a:rPr lang="en-US" dirty="0" smtClean="0"/>
              <a:t>ISO TC184/SC</a:t>
            </a:r>
            <a:r>
              <a:rPr lang="en-US" baseline="0" dirty="0" smtClean="0"/>
              <a:t>4</a:t>
            </a:r>
            <a:endParaRPr lang="en-US" dirty="0"/>
          </a:p>
        </p:txBody>
      </p:sp>
    </p:spTree>
    <p:controls>
      <mc:AlternateContent xmlns:mc="http://schemas.openxmlformats.org/markup-compatibility/2006">
        <mc:Choice xmlns:v="urn:schemas-microsoft-com:vml" Requires="v">
          <p:control spid="1138" name="Image1" r:id="rId15" imgW="12192120" imgH="114480"/>
        </mc:Choice>
        <mc:Fallback>
          <p:control name="Image1" r:id="rId15" imgW="12192120" imgH="114480">
            <p:pic>
              <p:nvPicPr>
                <p:cNvPr id="8" name="Image1"/>
                <p:cNvPicPr preferRelativeResize="0">
                  <a:picLocks noChangeArrowheads="1" noChangeShapeType="1"/>
                </p:cNvPicPr>
                <p:nvPr/>
              </p:nvPicPr>
              <p:blipFill>
                <a:blip r:embed="rId17"/>
                <a:srcRect/>
                <a:stretch>
                  <a:fillRect/>
                </a:stretch>
              </p:blipFill>
              <p:spPr bwMode="auto">
                <a:xfrm>
                  <a:off x="-1" y="0"/>
                  <a:ext cx="12192001" cy="117475"/>
                </a:xfrm>
                <a:prstGeom prst="rect">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ontrol>
        </mc:Fallback>
      </mc:AlternateContent>
      <mc:AlternateContent xmlns:mc="http://schemas.openxmlformats.org/markup-compatibility/2006">
        <mc:Choice xmlns:v="urn:schemas-microsoft-com:vml" Requires="v">
          <p:control spid="1139" name="Image3" r:id="rId16" imgW="552600" imgH="504720"/>
        </mc:Choice>
        <mc:Fallback>
          <p:control name="Image3" r:id="rId16" imgW="552600" imgH="504720">
            <p:pic>
              <p:nvPicPr>
                <p:cNvPr id="10" name="Image3"/>
                <p:cNvPicPr preferRelativeResize="0">
                  <a:picLocks noChangeArrowheads="1" noChangeShapeType="1"/>
                </p:cNvPicPr>
                <p:nvPr/>
              </p:nvPicPr>
              <p:blipFill>
                <a:blip r:embed="rId18"/>
                <a:srcRect/>
                <a:stretch>
                  <a:fillRect/>
                </a:stretch>
              </p:blipFill>
              <p:spPr bwMode="auto">
                <a:xfrm>
                  <a:off x="575933" y="40097"/>
                  <a:ext cx="555955" cy="505094"/>
                </a:xfrm>
                <a:prstGeom prst="rect">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ontrol>
        </mc:Fallback>
      </mc:AlternateContent>
    </p:controls>
    <p:extLst>
      <p:ext uri="{BB962C8B-B14F-4D97-AF65-F5344CB8AC3E}">
        <p14:creationId xmlns:p14="http://schemas.microsoft.com/office/powerpoint/2010/main" val="1938165491"/>
      </p:ext>
    </p:extLst>
  </p:cSld>
  <p:clrMap bg1="lt1" tx1="dk1" bg2="lt2" tx2="dk2" accent1="accent1" accent2="accent2" accent3="accent3" accent4="accent4" accent5="accent5" accent6="accent6" hlink="hlink" folHlink="folHlink"/>
  <p:sldLayoutIdLst>
    <p:sldLayoutId id="2147483651" r:id="rId1"/>
    <p:sldLayoutId id="2147483649" r:id="rId2"/>
    <p:sldLayoutId id="2147483650"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www.step-bugzilla.com/" TargetMode="Externa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3.xml"/><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hyperlink" Target="http://mm.step-bugzilla.com/" TargetMode="External"/><Relationship Id="rId7" Type="http://schemas.openxmlformats.org/officeDocument/2006/relationships/image" Target="../media/image13.png"/><Relationship Id="rId2" Type="http://schemas.openxmlformats.org/officeDocument/2006/relationships/hyperlink" Target="https://mm.step-bugzilla.com/signup_user_complete/?id=f4z9xyyec3nd8ppc386t7jgo9c" TargetMode="External"/><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hyperlink" Target="https://mattermost.com/download/#mattermostApps"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8.tmp"/><Relationship Id="rId2" Type="http://schemas.openxmlformats.org/officeDocument/2006/relationships/image" Target="../media/image17.tmp"/><Relationship Id="rId1" Type="http://schemas.openxmlformats.org/officeDocument/2006/relationships/slideLayout" Target="../slideLayouts/slideLayout3.xml"/><Relationship Id="rId5" Type="http://schemas.openxmlformats.org/officeDocument/2006/relationships/image" Target="../media/image20.png"/><Relationship Id="rId4" Type="http://schemas.openxmlformats.org/officeDocument/2006/relationships/image" Target="../media/image19.tmp"/></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3.xml"/><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24.png"/><Relationship Id="rId1" Type="http://schemas.openxmlformats.org/officeDocument/2006/relationships/slideLayout" Target="../slideLayouts/slideLayout3.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 Id="rId9" Type="http://schemas.openxmlformats.org/officeDocument/2006/relationships/image" Target="../media/image3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emf"/><Relationship Id="rId1" Type="http://schemas.openxmlformats.org/officeDocument/2006/relationships/slideLayout" Target="../slideLayouts/slideLayout3.xml"/><Relationship Id="rId4" Type="http://schemas.openxmlformats.org/officeDocument/2006/relationships/image" Target="../media/image3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hyperlink" Target="http://www.boost-conseil.com/" TargetMode="External"/><Relationship Id="rId2" Type="http://schemas.openxmlformats.org/officeDocument/2006/relationships/hyperlink" Target="mailto:kevin.letutour@boost-conseil.com" TargetMode="External"/><Relationship Id="rId1" Type="http://schemas.openxmlformats.org/officeDocument/2006/relationships/slideLayout" Target="../slideLayouts/slideLayout3.xml"/><Relationship Id="rId4" Type="http://schemas.openxmlformats.org/officeDocument/2006/relationships/hyperlink" Target="http://www.iso.org/iso/contact_iso" TargetMode="External"/></Relationships>
</file>

<file path=ppt/slides/_rels/slide2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hyperlink" Target="https://dzone.com/articles/which-one-to-choose-jira-or-bugzilla-training" TargetMode="Externa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3.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a:bodyPr>
          <a:lstStyle/>
          <a:p>
            <a:r>
              <a:rPr lang="en-US" sz="4000" dirty="0" smtClean="0">
                <a:latin typeface="MetaPro-Light"/>
              </a:rPr>
              <a:t>Source code management with Jira and GIT</a:t>
            </a:r>
            <a:br>
              <a:rPr lang="en-US" sz="4000" dirty="0" smtClean="0">
                <a:latin typeface="MetaPro-Light"/>
              </a:rPr>
            </a:br>
            <a:r>
              <a:rPr lang="en-US" sz="4000" dirty="0" smtClean="0">
                <a:latin typeface="MetaPro-Light"/>
              </a:rPr>
              <a:t/>
            </a:r>
            <a:br>
              <a:rPr lang="en-US" sz="4000" dirty="0" smtClean="0">
                <a:latin typeface="MetaPro-Light"/>
              </a:rPr>
            </a:br>
            <a:r>
              <a:rPr lang="en-US" sz="3600" dirty="0" smtClean="0">
                <a:latin typeface="MetaPro-Light"/>
              </a:rPr>
              <a:t>ISO/TC 184/SC 4</a:t>
            </a:r>
            <a:r>
              <a:rPr lang="en-US" sz="3600" dirty="0">
                <a:latin typeface="MetaPro-Light"/>
              </a:rPr>
              <a:t>: </a:t>
            </a:r>
            <a:r>
              <a:rPr lang="en-US" sz="3600" i="1" dirty="0">
                <a:latin typeface="MetaPro-Light"/>
              </a:rPr>
              <a:t>Industrial </a:t>
            </a:r>
            <a:r>
              <a:rPr lang="en-US" sz="3600" i="1" dirty="0" smtClean="0">
                <a:latin typeface="MetaPro-Light"/>
              </a:rPr>
              <a:t>Data </a:t>
            </a:r>
            <a:r>
              <a:rPr lang="en-US" sz="3600" dirty="0" smtClean="0">
                <a:latin typeface="MetaPro-Light"/>
              </a:rPr>
              <a:t>Living </a:t>
            </a:r>
            <a:r>
              <a:rPr lang="en-US" sz="3600" dirty="0">
                <a:latin typeface="MetaPro-Light"/>
              </a:rPr>
              <a:t>Lab</a:t>
            </a:r>
            <a:br>
              <a:rPr lang="en-US" sz="3600" dirty="0">
                <a:latin typeface="MetaPro-Light"/>
              </a:rPr>
            </a:br>
            <a:endParaRPr lang="en-US" sz="4800" dirty="0">
              <a:latin typeface="MetaPro-Light"/>
            </a:endParaRPr>
          </a:p>
        </p:txBody>
      </p:sp>
      <p:sp>
        <p:nvSpPr>
          <p:cNvPr id="9" name="Text Placeholder 8"/>
          <p:cNvSpPr>
            <a:spLocks noGrp="1"/>
          </p:cNvSpPr>
          <p:nvPr>
            <p:ph type="body" idx="1"/>
          </p:nvPr>
        </p:nvSpPr>
        <p:spPr/>
        <p:txBody>
          <a:bodyPr>
            <a:normAutofit/>
          </a:bodyPr>
          <a:lstStyle/>
          <a:p>
            <a:r>
              <a:rPr lang="en-US" dirty="0" smtClean="0">
                <a:latin typeface="MetaPro-Light"/>
              </a:rPr>
              <a:t>Brandon Sapp - Boeing</a:t>
            </a:r>
          </a:p>
          <a:p>
            <a:r>
              <a:rPr lang="en-US" dirty="0" smtClean="0">
                <a:latin typeface="MetaPro-Light"/>
              </a:rPr>
              <a:t>Melissa Harvey - Boeing</a:t>
            </a:r>
          </a:p>
          <a:p>
            <a:r>
              <a:rPr lang="en-US" dirty="0" smtClean="0">
                <a:latin typeface="MetaPro-Light"/>
              </a:rPr>
              <a:t>Kevin Le </a:t>
            </a:r>
            <a:r>
              <a:rPr lang="en-US" dirty="0" err="1" smtClean="0">
                <a:latin typeface="MetaPro-Light"/>
              </a:rPr>
              <a:t>Tutour</a:t>
            </a:r>
            <a:r>
              <a:rPr lang="en-US" dirty="0" smtClean="0">
                <a:latin typeface="MetaPro-Light"/>
              </a:rPr>
              <a:t> - Boost</a:t>
            </a:r>
          </a:p>
        </p:txBody>
      </p:sp>
    </p:spTree>
    <p:extLst>
      <p:ext uri="{BB962C8B-B14F-4D97-AF65-F5344CB8AC3E}">
        <p14:creationId xmlns:p14="http://schemas.microsoft.com/office/powerpoint/2010/main" val="32919139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550589"/>
            <a:ext cx="10515600" cy="1325563"/>
          </a:xfrm>
        </p:spPr>
        <p:txBody>
          <a:bodyPr>
            <a:normAutofit/>
          </a:bodyPr>
          <a:lstStyle/>
          <a:p>
            <a:r>
              <a:rPr lang="en-US" dirty="0" smtClean="0">
                <a:solidFill>
                  <a:prstClr val="white">
                    <a:lumMod val="50000"/>
                  </a:prstClr>
                </a:solidFill>
              </a:rPr>
              <a:t>TC </a:t>
            </a:r>
            <a:r>
              <a:rPr lang="en-US" dirty="0">
                <a:solidFill>
                  <a:prstClr val="white">
                    <a:lumMod val="50000"/>
                  </a:prstClr>
                </a:solidFill>
              </a:rPr>
              <a:t>184/SC 4: </a:t>
            </a:r>
            <a:r>
              <a:rPr lang="en-US" i="1" dirty="0">
                <a:solidFill>
                  <a:prstClr val="white">
                    <a:lumMod val="50000"/>
                  </a:prstClr>
                </a:solidFill>
              </a:rPr>
              <a:t>Industrial </a:t>
            </a:r>
            <a:r>
              <a:rPr lang="en-US" i="1" dirty="0" smtClean="0">
                <a:solidFill>
                  <a:prstClr val="white">
                    <a:lumMod val="50000"/>
                  </a:prstClr>
                </a:solidFill>
              </a:rPr>
              <a:t>Data</a:t>
            </a:r>
            <a:r>
              <a:rPr lang="en-US" dirty="0" smtClean="0">
                <a:solidFill>
                  <a:prstClr val="white">
                    <a:lumMod val="50000"/>
                  </a:prstClr>
                </a:solidFill>
              </a:rPr>
              <a:t/>
            </a:r>
            <a:br>
              <a:rPr lang="en-US" dirty="0" smtClean="0">
                <a:solidFill>
                  <a:prstClr val="white">
                    <a:lumMod val="50000"/>
                  </a:prstClr>
                </a:solidFill>
              </a:rPr>
            </a:br>
            <a:r>
              <a:rPr lang="en-US" sz="4000" dirty="0" smtClean="0">
                <a:solidFill>
                  <a:prstClr val="white">
                    <a:lumMod val="50000"/>
                  </a:prstClr>
                </a:solidFill>
              </a:rPr>
              <a:t>Source code management with Jira and GIT</a:t>
            </a:r>
            <a:endParaRPr lang="en-US" sz="4000" dirty="0"/>
          </a:p>
        </p:txBody>
      </p:sp>
      <p:sp>
        <p:nvSpPr>
          <p:cNvPr id="3" name="Content Placeholder 2"/>
          <p:cNvSpPr>
            <a:spLocks noGrp="1"/>
          </p:cNvSpPr>
          <p:nvPr>
            <p:ph idx="1"/>
          </p:nvPr>
        </p:nvSpPr>
        <p:spPr>
          <a:xfrm>
            <a:off x="762000" y="1876152"/>
            <a:ext cx="10668000" cy="4571684"/>
          </a:xfrm>
        </p:spPr>
        <p:txBody>
          <a:bodyPr>
            <a:normAutofit/>
          </a:bodyPr>
          <a:lstStyle/>
          <a:p>
            <a:r>
              <a:rPr lang="en-US" sz="3200" b="1" dirty="0" smtClean="0"/>
              <a:t>Project Description:</a:t>
            </a:r>
            <a:endParaRPr lang="en-US" sz="3200" b="1" dirty="0"/>
          </a:p>
          <a:p>
            <a:r>
              <a:rPr lang="en-US" sz="2400" dirty="0"/>
              <a:t>ISO/TC 184/SC 4/WG 12 currently manages an extensive architecture and tool chain for a computer generated version of ISO 10303 that fully integrates all the parts of the standard coupled with integrated quality checks and publication to ISO.  This tool chain is managed outside the ISO environment and is frequently challenged with support and technology obsolescence.  This project deploys a </a:t>
            </a:r>
            <a:r>
              <a:rPr lang="en-US" sz="2400" b="1" dirty="0"/>
              <a:t>GIT source code control </a:t>
            </a:r>
            <a:r>
              <a:rPr lang="en-US" sz="2400" dirty="0"/>
              <a:t>server and associated defect management system within the ISO IT infrastructure </a:t>
            </a:r>
            <a:r>
              <a:rPr lang="en-US" sz="2400" b="1" dirty="0"/>
              <a:t>enabling the concurrent development</a:t>
            </a:r>
            <a:r>
              <a:rPr lang="en-US" sz="2400" dirty="0"/>
              <a:t> of ISO 10303 and its parts, including models, </a:t>
            </a:r>
            <a:r>
              <a:rPr lang="en-US" sz="2400" dirty="0" smtClean="0"/>
              <a:t>data schemas</a:t>
            </a:r>
            <a:r>
              <a:rPr lang="en-US" sz="2400" dirty="0"/>
              <a:t>, validation and modeling tools.  This is viewed as a prototype for other TC’s to follow for standards that utilize code management more </a:t>
            </a:r>
            <a:r>
              <a:rPr lang="en-US" sz="2400" dirty="0" smtClean="0"/>
              <a:t>than </a:t>
            </a:r>
            <a:r>
              <a:rPr lang="en-US" sz="2400" dirty="0"/>
              <a:t>document management in the development of their standards.</a:t>
            </a:r>
          </a:p>
          <a:p>
            <a:endParaRPr lang="en-US" sz="1800" dirty="0"/>
          </a:p>
        </p:txBody>
      </p:sp>
    </p:spTree>
    <p:extLst>
      <p:ext uri="{BB962C8B-B14F-4D97-AF65-F5344CB8AC3E}">
        <p14:creationId xmlns:p14="http://schemas.microsoft.com/office/powerpoint/2010/main" val="350328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a:endCxn id="4" idx="0"/>
          </p:cNvCxnSpPr>
          <p:nvPr/>
        </p:nvCxnSpPr>
        <p:spPr>
          <a:xfrm flipH="1">
            <a:off x="6105525" y="1123950"/>
            <a:ext cx="1" cy="3905250"/>
          </a:xfrm>
          <a:prstGeom prst="line">
            <a:avLst/>
          </a:prstGeom>
        </p:spPr>
        <p:style>
          <a:lnRef idx="3">
            <a:schemeClr val="dk1"/>
          </a:lnRef>
          <a:fillRef idx="0">
            <a:schemeClr val="dk1"/>
          </a:fillRef>
          <a:effectRef idx="2">
            <a:schemeClr val="dk1"/>
          </a:effectRef>
          <a:fontRef idx="minor">
            <a:schemeClr val="tx1"/>
          </a:fontRef>
        </p:style>
      </p:cxnSp>
      <p:cxnSp>
        <p:nvCxnSpPr>
          <p:cNvPr id="8" name="Straight Connector 7"/>
          <p:cNvCxnSpPr/>
          <p:nvPr/>
        </p:nvCxnSpPr>
        <p:spPr>
          <a:xfrm>
            <a:off x="619125" y="1123950"/>
            <a:ext cx="10972800" cy="0"/>
          </a:xfrm>
          <a:prstGeom prst="line">
            <a:avLst/>
          </a:prstGeom>
        </p:spPr>
        <p:style>
          <a:lnRef idx="3">
            <a:schemeClr val="dk1"/>
          </a:lnRef>
          <a:fillRef idx="0">
            <a:schemeClr val="dk1"/>
          </a:fillRef>
          <a:effectRef idx="2">
            <a:schemeClr val="dk1"/>
          </a:effectRef>
          <a:fontRef idx="minor">
            <a:schemeClr val="tx1"/>
          </a:fontRef>
        </p:style>
      </p:cxnSp>
      <p:cxnSp>
        <p:nvCxnSpPr>
          <p:cNvPr id="9" name="Straight Connector 8"/>
          <p:cNvCxnSpPr/>
          <p:nvPr/>
        </p:nvCxnSpPr>
        <p:spPr>
          <a:xfrm>
            <a:off x="619125" y="1114425"/>
            <a:ext cx="0" cy="3905250"/>
          </a:xfrm>
          <a:prstGeom prst="line">
            <a:avLst/>
          </a:prstGeom>
        </p:spPr>
        <p:style>
          <a:lnRef idx="3">
            <a:schemeClr val="dk1"/>
          </a:lnRef>
          <a:fillRef idx="0">
            <a:schemeClr val="dk1"/>
          </a:fillRef>
          <a:effectRef idx="2">
            <a:schemeClr val="dk1"/>
          </a:effectRef>
          <a:fontRef idx="minor">
            <a:schemeClr val="tx1"/>
          </a:fontRef>
        </p:style>
      </p:cxnSp>
      <p:cxnSp>
        <p:nvCxnSpPr>
          <p:cNvPr id="10" name="Straight Connector 9"/>
          <p:cNvCxnSpPr/>
          <p:nvPr/>
        </p:nvCxnSpPr>
        <p:spPr>
          <a:xfrm>
            <a:off x="11591925" y="1114425"/>
            <a:ext cx="0" cy="3905250"/>
          </a:xfrm>
          <a:prstGeom prst="line">
            <a:avLst/>
          </a:prstGeom>
        </p:spPr>
        <p:style>
          <a:lnRef idx="3">
            <a:schemeClr val="dk1"/>
          </a:lnRef>
          <a:fillRef idx="0">
            <a:schemeClr val="dk1"/>
          </a:fillRef>
          <a:effectRef idx="2">
            <a:schemeClr val="dk1"/>
          </a:effectRef>
          <a:fontRef idx="minor">
            <a:schemeClr val="tx1"/>
          </a:fontRef>
        </p:style>
      </p:cxnSp>
      <p:cxnSp>
        <p:nvCxnSpPr>
          <p:cNvPr id="11" name="Straight Connector 10"/>
          <p:cNvCxnSpPr/>
          <p:nvPr/>
        </p:nvCxnSpPr>
        <p:spPr>
          <a:xfrm>
            <a:off x="619125" y="5019675"/>
            <a:ext cx="10972800" cy="0"/>
          </a:xfrm>
          <a:prstGeom prst="line">
            <a:avLst/>
          </a:prstGeom>
        </p:spPr>
        <p:style>
          <a:lnRef idx="3">
            <a:schemeClr val="dk1"/>
          </a:lnRef>
          <a:fillRef idx="0">
            <a:schemeClr val="dk1"/>
          </a:fillRef>
          <a:effectRef idx="2">
            <a:schemeClr val="dk1"/>
          </a:effectRef>
          <a:fontRef idx="minor">
            <a:schemeClr val="tx1"/>
          </a:fontRef>
        </p:style>
      </p:cxnSp>
      <p:sp>
        <p:nvSpPr>
          <p:cNvPr id="12" name="TextBox 11"/>
          <p:cNvSpPr txBox="1"/>
          <p:nvPr/>
        </p:nvSpPr>
        <p:spPr>
          <a:xfrm>
            <a:off x="657226" y="1152525"/>
            <a:ext cx="5410202" cy="3600986"/>
          </a:xfrm>
          <a:prstGeom prst="rect">
            <a:avLst/>
          </a:prstGeom>
          <a:noFill/>
        </p:spPr>
        <p:txBody>
          <a:bodyPr wrap="square" rtlCol="0">
            <a:spAutoFit/>
          </a:bodyPr>
          <a:lstStyle/>
          <a:p>
            <a:r>
              <a:rPr lang="en-US" sz="2000" dirty="0" smtClean="0">
                <a:latin typeface="MetaPro-Light"/>
              </a:rPr>
              <a:t>Project Summary:</a:t>
            </a:r>
          </a:p>
          <a:p>
            <a:pPr marL="285750" indent="-285750">
              <a:buFont typeface="Arial" panose="020B0604020202020204" pitchFamily="34" charset="0"/>
              <a:buChar char="•"/>
            </a:pPr>
            <a:r>
              <a:rPr lang="en-US" sz="1400" dirty="0" smtClean="0">
                <a:latin typeface="MetaPro-Light"/>
              </a:rPr>
              <a:t>Migrate &amp; demonstrate issues management from </a:t>
            </a:r>
            <a:r>
              <a:rPr lang="en-US" sz="1400" dirty="0" err="1" smtClean="0">
                <a:latin typeface="MetaPro-Light"/>
              </a:rPr>
              <a:t>Bugzilla</a:t>
            </a:r>
            <a:r>
              <a:rPr lang="en-US" sz="1400" dirty="0" smtClean="0">
                <a:latin typeface="MetaPro-Light"/>
              </a:rPr>
              <a:t> to ISO Living Lab JIRA. </a:t>
            </a:r>
          </a:p>
          <a:p>
            <a:pPr marL="285750" indent="-285750">
              <a:buFont typeface="Arial" panose="020B0604020202020204" pitchFamily="34" charset="0"/>
              <a:buChar char="•"/>
            </a:pPr>
            <a:r>
              <a:rPr lang="en-US" sz="1400" dirty="0" smtClean="0">
                <a:latin typeface="MetaPro-Light"/>
              </a:rPr>
              <a:t>Migrate &amp; demonstrate source code management from  CVS/GIT to ISO Living Lab</a:t>
            </a:r>
          </a:p>
          <a:p>
            <a:pPr marL="285750" indent="-285750">
              <a:buFont typeface="Arial" panose="020B0604020202020204" pitchFamily="34" charset="0"/>
              <a:buChar char="•"/>
            </a:pPr>
            <a:r>
              <a:rPr lang="en-US" sz="1400" dirty="0" smtClean="0">
                <a:latin typeface="MetaPro-Light"/>
              </a:rPr>
              <a:t>Implement new Project Management capability using JIRA. </a:t>
            </a:r>
          </a:p>
          <a:p>
            <a:pPr marL="285750" indent="-285750">
              <a:buFont typeface="Arial" panose="020B0604020202020204" pitchFamily="34" charset="0"/>
              <a:buChar char="•"/>
            </a:pPr>
            <a:r>
              <a:rPr lang="en-US" sz="1400" dirty="0" smtClean="0">
                <a:latin typeface="MetaPro-Light"/>
              </a:rPr>
              <a:t>Integrate Issue/Project Management with new Source Code management environment.</a:t>
            </a:r>
          </a:p>
          <a:p>
            <a:r>
              <a:rPr lang="en-US" sz="2000" dirty="0" smtClean="0">
                <a:latin typeface="MetaPro-Light"/>
              </a:rPr>
              <a:t>Expected Benefits:</a:t>
            </a:r>
          </a:p>
          <a:p>
            <a:pPr marL="285750" indent="-285750">
              <a:buFont typeface="Arial" panose="020B0604020202020204" pitchFamily="34" charset="0"/>
              <a:buChar char="•"/>
            </a:pPr>
            <a:r>
              <a:rPr lang="en-US" sz="1400" dirty="0" smtClean="0">
                <a:latin typeface="MetaPro-Light"/>
              </a:rPr>
              <a:t>Mitigate risk of source code loss and configuration control lapses </a:t>
            </a:r>
            <a:endParaRPr lang="en-US" sz="1400" dirty="0">
              <a:latin typeface="MetaPro-Light"/>
            </a:endParaRPr>
          </a:p>
          <a:p>
            <a:pPr marL="285750" indent="-285750">
              <a:buFont typeface="Arial" panose="020B0604020202020204" pitchFamily="34" charset="0"/>
              <a:buChar char="•"/>
            </a:pPr>
            <a:r>
              <a:rPr lang="en-US" sz="1400" dirty="0" smtClean="0">
                <a:latin typeface="MetaPro-Light"/>
              </a:rPr>
              <a:t>Speed development </a:t>
            </a:r>
            <a:r>
              <a:rPr lang="en-US" sz="1400" dirty="0">
                <a:latin typeface="MetaPro-Light"/>
              </a:rPr>
              <a:t>of standards</a:t>
            </a:r>
          </a:p>
          <a:p>
            <a:pPr marL="285750" indent="-285750">
              <a:buFont typeface="Arial" panose="020B0604020202020204" pitchFamily="34" charset="0"/>
              <a:buChar char="•"/>
            </a:pPr>
            <a:r>
              <a:rPr lang="en-US" sz="1400" dirty="0" smtClean="0">
                <a:latin typeface="MetaPro-Light"/>
              </a:rPr>
              <a:t>Significantly enhance quality of standards</a:t>
            </a:r>
            <a:endParaRPr lang="en-US" sz="2000" dirty="0" smtClean="0">
              <a:latin typeface="MetaPro-Light"/>
            </a:endParaRPr>
          </a:p>
          <a:p>
            <a:r>
              <a:rPr lang="en-US" sz="2000" dirty="0" smtClean="0">
                <a:latin typeface="MetaPro-Light"/>
              </a:rPr>
              <a:t>Stakeholders:</a:t>
            </a:r>
          </a:p>
          <a:p>
            <a:pPr marL="285750" indent="-285750">
              <a:buFont typeface="Arial" panose="020B0604020202020204" pitchFamily="34" charset="0"/>
              <a:buChar char="•"/>
            </a:pPr>
            <a:r>
              <a:rPr lang="en-US" sz="1400" dirty="0" smtClean="0">
                <a:latin typeface="MetaPro-Light"/>
              </a:rPr>
              <a:t>ISO TC184/SC4 Leaders, Industry Consumers, Developers</a:t>
            </a:r>
            <a:endParaRPr lang="en-US" sz="1400" dirty="0">
              <a:latin typeface="MetaPro-Light"/>
            </a:endParaRPr>
          </a:p>
        </p:txBody>
      </p:sp>
      <p:sp>
        <p:nvSpPr>
          <p:cNvPr id="13" name="TextBox 12"/>
          <p:cNvSpPr txBox="1"/>
          <p:nvPr/>
        </p:nvSpPr>
        <p:spPr>
          <a:xfrm>
            <a:off x="6143624" y="1152525"/>
            <a:ext cx="5419725" cy="3447098"/>
          </a:xfrm>
          <a:prstGeom prst="rect">
            <a:avLst/>
          </a:prstGeom>
          <a:noFill/>
        </p:spPr>
        <p:txBody>
          <a:bodyPr wrap="square" rtlCol="0">
            <a:spAutoFit/>
          </a:bodyPr>
          <a:lstStyle/>
          <a:p>
            <a:r>
              <a:rPr lang="en-US" sz="2000" dirty="0" smtClean="0">
                <a:latin typeface="MetaPro-Light"/>
              </a:rPr>
              <a:t>High level Plan</a:t>
            </a:r>
            <a:r>
              <a:rPr lang="en-US" sz="2400" dirty="0" smtClean="0">
                <a:latin typeface="MetaPro-Light"/>
              </a:rPr>
              <a:t>:</a:t>
            </a:r>
          </a:p>
          <a:p>
            <a:pPr marL="285750" indent="-285750">
              <a:buFont typeface="Arial" panose="020B0604020202020204" pitchFamily="34" charset="0"/>
              <a:buChar char="•"/>
            </a:pPr>
            <a:r>
              <a:rPr lang="en-US" sz="1400" dirty="0" smtClean="0">
                <a:latin typeface="MetaPro-Light"/>
              </a:rPr>
              <a:t>Part 1 – Issue Management [</a:t>
            </a:r>
            <a:r>
              <a:rPr lang="en-US" sz="1400" dirty="0" err="1" smtClean="0">
                <a:latin typeface="MetaPro-Light"/>
              </a:rPr>
              <a:t>Bugzilla</a:t>
            </a:r>
            <a:r>
              <a:rPr lang="en-US" sz="1400" dirty="0" smtClean="0">
                <a:latin typeface="MetaPro-Light"/>
              </a:rPr>
              <a:t> Bugs]</a:t>
            </a:r>
          </a:p>
          <a:p>
            <a:pPr marL="285750" indent="-285750">
              <a:buFont typeface="Arial" panose="020B0604020202020204" pitchFamily="34" charset="0"/>
              <a:buChar char="•"/>
            </a:pPr>
            <a:r>
              <a:rPr lang="en-US" sz="1400" dirty="0" smtClean="0">
                <a:latin typeface="MetaPro-Light"/>
              </a:rPr>
              <a:t>Part 2 – Project Management [Tasks, SCRUMS, Projects, Dashboard, etc.]</a:t>
            </a:r>
          </a:p>
          <a:p>
            <a:pPr marL="285750" indent="-285750">
              <a:buFont typeface="Arial" panose="020B0604020202020204" pitchFamily="34" charset="0"/>
              <a:buChar char="•"/>
            </a:pPr>
            <a:r>
              <a:rPr lang="en-US" sz="1400" dirty="0" smtClean="0">
                <a:latin typeface="MetaPro-Light"/>
              </a:rPr>
              <a:t>Part 3 – Source Code Management [Data/Process Architecture Integration with JIRA, etc.]</a:t>
            </a:r>
          </a:p>
          <a:p>
            <a:pPr marL="742950" lvl="1" indent="-285750">
              <a:buFont typeface="Arial" panose="020B0604020202020204" pitchFamily="34" charset="0"/>
              <a:buChar char="•"/>
            </a:pPr>
            <a:r>
              <a:rPr lang="en-US" sz="1400" dirty="0" smtClean="0">
                <a:latin typeface="MetaPro-Light"/>
              </a:rPr>
              <a:t>Part 3a – CVS2GIT [</a:t>
            </a:r>
            <a:r>
              <a:rPr lang="en-US" sz="1400" dirty="0" err="1" smtClean="0">
                <a:latin typeface="MetaPro-Light"/>
              </a:rPr>
              <a:t>stepmod</a:t>
            </a:r>
            <a:r>
              <a:rPr lang="en-US" sz="1400" dirty="0" smtClean="0">
                <a:latin typeface="MetaPro-Light"/>
              </a:rPr>
              <a:t> tool chain]</a:t>
            </a:r>
          </a:p>
          <a:p>
            <a:pPr marL="742950" lvl="1" indent="-285750">
              <a:buFont typeface="Arial" panose="020B0604020202020204" pitchFamily="34" charset="0"/>
              <a:buChar char="•"/>
            </a:pPr>
            <a:r>
              <a:rPr lang="en-US" sz="1400" dirty="0" smtClean="0">
                <a:latin typeface="MetaPro-Light"/>
              </a:rPr>
              <a:t>Part 3b – GIT2GIT [</a:t>
            </a:r>
            <a:r>
              <a:rPr lang="en-US" sz="1400" dirty="0" err="1" smtClean="0">
                <a:latin typeface="MetaPro-Light"/>
              </a:rPr>
              <a:t>steplib</a:t>
            </a:r>
            <a:r>
              <a:rPr lang="en-US" sz="1400" dirty="0" smtClean="0">
                <a:latin typeface="MetaPro-Light"/>
              </a:rPr>
              <a:t> library]</a:t>
            </a:r>
          </a:p>
          <a:p>
            <a:pPr marL="285750" indent="-285750">
              <a:buFont typeface="Arial" panose="020B0604020202020204" pitchFamily="34" charset="0"/>
              <a:buChar char="•"/>
            </a:pPr>
            <a:r>
              <a:rPr lang="en-US" sz="1400" dirty="0" smtClean="0">
                <a:latin typeface="MetaPro-Light"/>
              </a:rPr>
              <a:t>Part 4 – Continuous Integration</a:t>
            </a:r>
          </a:p>
          <a:p>
            <a:pPr marL="285750" indent="-285750">
              <a:buFont typeface="Arial" panose="020B0604020202020204" pitchFamily="34" charset="0"/>
              <a:buChar char="•"/>
            </a:pPr>
            <a:r>
              <a:rPr lang="en-US" sz="1400" dirty="0" smtClean="0">
                <a:latin typeface="MetaPro-Light"/>
              </a:rPr>
              <a:t>Part 5 – Multi-user collaboration</a:t>
            </a:r>
          </a:p>
          <a:p>
            <a:pPr marL="285750" indent="-285750">
              <a:buFont typeface="Arial" panose="020B0604020202020204" pitchFamily="34" charset="0"/>
              <a:buChar char="•"/>
            </a:pPr>
            <a:endParaRPr lang="en-US" sz="1400" dirty="0" smtClean="0">
              <a:latin typeface="MetaPro-Light"/>
            </a:endParaRPr>
          </a:p>
          <a:p>
            <a:pPr marL="285750" indent="-285750">
              <a:buFont typeface="Arial" panose="020B0604020202020204" pitchFamily="34" charset="0"/>
              <a:buChar char="•"/>
            </a:pPr>
            <a:endParaRPr lang="en-US" sz="1400" dirty="0" smtClean="0">
              <a:latin typeface="MetaPro-Light"/>
            </a:endParaRPr>
          </a:p>
          <a:p>
            <a:r>
              <a:rPr lang="en-US" sz="2000" dirty="0" smtClean="0">
                <a:latin typeface="MetaPro-Light"/>
              </a:rPr>
              <a:t>Project Target: </a:t>
            </a:r>
          </a:p>
          <a:p>
            <a:r>
              <a:rPr lang="en-US" sz="2000" dirty="0" smtClean="0">
                <a:latin typeface="MetaPro-Light"/>
              </a:rPr>
              <a:t>Parts 1, 2, 3 for ISO 10303-242e3 NWI</a:t>
            </a:r>
            <a:endParaRPr lang="en-US" sz="2000" dirty="0">
              <a:latin typeface="MetaPro-Light"/>
            </a:endParaRPr>
          </a:p>
        </p:txBody>
      </p:sp>
      <p:sp>
        <p:nvSpPr>
          <p:cNvPr id="16" name="TextBox 15"/>
          <p:cNvSpPr txBox="1"/>
          <p:nvPr/>
        </p:nvSpPr>
        <p:spPr>
          <a:xfrm>
            <a:off x="1253490" y="195858"/>
            <a:ext cx="5419725" cy="923330"/>
          </a:xfrm>
          <a:prstGeom prst="rect">
            <a:avLst/>
          </a:prstGeom>
          <a:noFill/>
        </p:spPr>
        <p:txBody>
          <a:bodyPr wrap="square" rtlCol="0">
            <a:spAutoFit/>
          </a:bodyPr>
          <a:lstStyle/>
          <a:p>
            <a:r>
              <a:rPr lang="en-US" dirty="0">
                <a:solidFill>
                  <a:prstClr val="white">
                    <a:lumMod val="50000"/>
                  </a:prstClr>
                </a:solidFill>
              </a:rPr>
              <a:t>Source code management with Jira and </a:t>
            </a:r>
            <a:r>
              <a:rPr lang="en-US" dirty="0" smtClean="0">
                <a:solidFill>
                  <a:prstClr val="white">
                    <a:lumMod val="50000"/>
                  </a:prstClr>
                </a:solidFill>
              </a:rPr>
              <a:t>GIT</a:t>
            </a:r>
          </a:p>
          <a:p>
            <a:r>
              <a:rPr lang="en-US" dirty="0" smtClean="0"/>
              <a:t>Project Leaders: </a:t>
            </a:r>
            <a:r>
              <a:rPr lang="en-US" dirty="0" err="1" smtClean="0"/>
              <a:t>B.Sapp</a:t>
            </a:r>
            <a:r>
              <a:rPr lang="en-US" dirty="0" smtClean="0"/>
              <a:t>; </a:t>
            </a:r>
            <a:r>
              <a:rPr lang="en-US" dirty="0" err="1" smtClean="0"/>
              <a:t>K.Le</a:t>
            </a:r>
            <a:r>
              <a:rPr lang="en-US" dirty="0" smtClean="0"/>
              <a:t> Tutour &amp; Stephan </a:t>
            </a:r>
            <a:r>
              <a:rPr lang="en-US" dirty="0" err="1" smtClean="0"/>
              <a:t>Chatelet</a:t>
            </a:r>
            <a:endParaRPr lang="en-US" dirty="0" smtClean="0"/>
          </a:p>
          <a:p>
            <a:r>
              <a:rPr lang="en-US" dirty="0" smtClean="0"/>
              <a:t>Project Sponsor: Kenny Swope – ISO TC184/SC Chair</a:t>
            </a:r>
            <a:endParaRPr lang="en-US" dirty="0"/>
          </a:p>
        </p:txBody>
      </p:sp>
      <p:pic>
        <p:nvPicPr>
          <p:cNvPr id="4" name="Picture 3"/>
          <p:cNvPicPr>
            <a:picLocks noChangeAspect="1"/>
          </p:cNvPicPr>
          <p:nvPr/>
        </p:nvPicPr>
        <p:blipFill>
          <a:blip r:embed="rId2"/>
          <a:stretch>
            <a:fillRect/>
          </a:stretch>
        </p:blipFill>
        <p:spPr>
          <a:xfrm>
            <a:off x="2479972" y="5029200"/>
            <a:ext cx="7251105" cy="1832656"/>
          </a:xfrm>
          <a:prstGeom prst="rect">
            <a:avLst/>
          </a:prstGeom>
        </p:spPr>
      </p:pic>
      <p:sp>
        <p:nvSpPr>
          <p:cNvPr id="2" name="TextBox 1"/>
          <p:cNvSpPr txBox="1"/>
          <p:nvPr/>
        </p:nvSpPr>
        <p:spPr>
          <a:xfrm>
            <a:off x="9731077" y="6004237"/>
            <a:ext cx="1216487" cy="369332"/>
          </a:xfrm>
          <a:prstGeom prst="rect">
            <a:avLst/>
          </a:prstGeom>
          <a:noFill/>
        </p:spPr>
        <p:txBody>
          <a:bodyPr wrap="none" rtlCol="0">
            <a:spAutoFit/>
          </a:bodyPr>
          <a:lstStyle/>
          <a:p>
            <a:r>
              <a:rPr lang="en-US" dirty="0" smtClean="0"/>
              <a:t>Production</a:t>
            </a:r>
            <a:endParaRPr lang="en-US" dirty="0"/>
          </a:p>
        </p:txBody>
      </p:sp>
      <p:sp>
        <p:nvSpPr>
          <p:cNvPr id="14" name="TextBox 13"/>
          <p:cNvSpPr txBox="1"/>
          <p:nvPr/>
        </p:nvSpPr>
        <p:spPr>
          <a:xfrm>
            <a:off x="8117306" y="5146619"/>
            <a:ext cx="2154116" cy="369332"/>
          </a:xfrm>
          <a:prstGeom prst="rect">
            <a:avLst/>
          </a:prstGeom>
          <a:noFill/>
        </p:spPr>
        <p:txBody>
          <a:bodyPr wrap="none" rtlCol="0">
            <a:spAutoFit/>
          </a:bodyPr>
          <a:lstStyle/>
          <a:p>
            <a:r>
              <a:rPr lang="en-US" dirty="0" smtClean="0"/>
              <a:t>Development branch</a:t>
            </a:r>
            <a:endParaRPr lang="en-US" dirty="0"/>
          </a:p>
        </p:txBody>
      </p:sp>
      <p:sp>
        <p:nvSpPr>
          <p:cNvPr id="15" name="TextBox 14"/>
          <p:cNvSpPr txBox="1"/>
          <p:nvPr/>
        </p:nvSpPr>
        <p:spPr>
          <a:xfrm>
            <a:off x="8853486" y="5507962"/>
            <a:ext cx="2743572" cy="369332"/>
          </a:xfrm>
          <a:prstGeom prst="rect">
            <a:avLst/>
          </a:prstGeom>
          <a:noFill/>
        </p:spPr>
        <p:txBody>
          <a:bodyPr wrap="none" rtlCol="0">
            <a:spAutoFit/>
          </a:bodyPr>
          <a:lstStyle/>
          <a:p>
            <a:r>
              <a:rPr lang="en-US" dirty="0" smtClean="0"/>
              <a:t>Testing &amp; Validation branch</a:t>
            </a:r>
            <a:endParaRPr lang="en-US" dirty="0"/>
          </a:p>
        </p:txBody>
      </p:sp>
      <p:sp>
        <p:nvSpPr>
          <p:cNvPr id="3" name="TextBox 2"/>
          <p:cNvSpPr txBox="1"/>
          <p:nvPr/>
        </p:nvSpPr>
        <p:spPr>
          <a:xfrm>
            <a:off x="544932" y="5738617"/>
            <a:ext cx="3345468" cy="646331"/>
          </a:xfrm>
          <a:prstGeom prst="rect">
            <a:avLst/>
          </a:prstGeom>
          <a:noFill/>
        </p:spPr>
        <p:txBody>
          <a:bodyPr wrap="none" rtlCol="0">
            <a:spAutoFit/>
          </a:bodyPr>
          <a:lstStyle/>
          <a:p>
            <a:r>
              <a:rPr lang="en-US" dirty="0" smtClean="0"/>
              <a:t>Capability Roadmap</a:t>
            </a:r>
          </a:p>
          <a:p>
            <a:r>
              <a:rPr lang="en-US" dirty="0" smtClean="0"/>
              <a:t>(based on industry best practices)</a:t>
            </a:r>
            <a:endParaRPr lang="en-US" dirty="0"/>
          </a:p>
        </p:txBody>
      </p:sp>
    </p:spTree>
    <p:extLst>
      <p:ext uri="{BB962C8B-B14F-4D97-AF65-F5344CB8AC3E}">
        <p14:creationId xmlns:p14="http://schemas.microsoft.com/office/powerpoint/2010/main" val="13721615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t>Project Parts Explained</a:t>
            </a:r>
            <a:endParaRPr lang="en-US" sz="4000" dirty="0"/>
          </a:p>
        </p:txBody>
      </p:sp>
      <p:sp>
        <p:nvSpPr>
          <p:cNvPr id="3" name="Content Placeholder 2"/>
          <p:cNvSpPr>
            <a:spLocks noGrp="1"/>
          </p:cNvSpPr>
          <p:nvPr>
            <p:ph idx="1"/>
          </p:nvPr>
        </p:nvSpPr>
        <p:spPr>
          <a:xfrm>
            <a:off x="838200" y="1476375"/>
            <a:ext cx="10515600" cy="4700588"/>
          </a:xfrm>
        </p:spPr>
        <p:txBody>
          <a:bodyPr>
            <a:normAutofit/>
          </a:bodyPr>
          <a:lstStyle/>
          <a:p>
            <a:r>
              <a:rPr lang="en-US" sz="1800" dirty="0" smtClean="0"/>
              <a:t>Part1 – Issues Management</a:t>
            </a:r>
          </a:p>
          <a:p>
            <a:pPr lvl="1"/>
            <a:r>
              <a:rPr lang="en-US" sz="1200" dirty="0" smtClean="0"/>
              <a:t>Migrate </a:t>
            </a:r>
            <a:r>
              <a:rPr lang="en-US" sz="1200" dirty="0" err="1" smtClean="0"/>
              <a:t>Bugzilla</a:t>
            </a:r>
            <a:r>
              <a:rPr lang="en-US" sz="1200" dirty="0" smtClean="0"/>
              <a:t> information included attributes, comment history and attachments to the “Issue” object in JIRA</a:t>
            </a:r>
          </a:p>
          <a:p>
            <a:pPr lvl="1"/>
            <a:r>
              <a:rPr lang="en-US" sz="1200" dirty="0" smtClean="0"/>
              <a:t>Modify current workflows to utilize JIRA Issues workflows and lifecycle states – mapping of data required</a:t>
            </a:r>
          </a:p>
          <a:p>
            <a:r>
              <a:rPr lang="en-US" sz="1800" dirty="0" smtClean="0"/>
              <a:t>Part2 – Project Management</a:t>
            </a:r>
          </a:p>
          <a:p>
            <a:pPr lvl="1"/>
            <a:r>
              <a:rPr lang="en-US" sz="1200" dirty="0" smtClean="0"/>
              <a:t>Implement and utilize the new JIRA object types: Projects, Tasks, Sub-Tasks, etc.</a:t>
            </a:r>
          </a:p>
          <a:p>
            <a:pPr lvl="1"/>
            <a:r>
              <a:rPr lang="en-US" sz="1200" dirty="0" smtClean="0"/>
              <a:t>Validate the workflow and change process when a Change Request is authorized.  Demonstrate GIT branching to manage the Statement of Work.</a:t>
            </a:r>
          </a:p>
          <a:p>
            <a:r>
              <a:rPr lang="en-US" sz="1800" dirty="0" smtClean="0"/>
              <a:t>Part 3 – Source Code Management</a:t>
            </a:r>
          </a:p>
          <a:p>
            <a:pPr lvl="1"/>
            <a:r>
              <a:rPr lang="en-US" sz="1200" dirty="0" smtClean="0"/>
              <a:t>Implement three GIT Repositories [</a:t>
            </a:r>
            <a:r>
              <a:rPr lang="en-US" sz="1200" dirty="0" err="1" smtClean="0"/>
              <a:t>STEPMod</a:t>
            </a:r>
            <a:r>
              <a:rPr lang="en-US" sz="1200" dirty="0" smtClean="0"/>
              <a:t>, </a:t>
            </a:r>
            <a:r>
              <a:rPr lang="en-US" sz="1200" dirty="0" err="1" smtClean="0"/>
              <a:t>STEPLib</a:t>
            </a:r>
            <a:r>
              <a:rPr lang="en-US" sz="1200" dirty="0" smtClean="0"/>
              <a:t>, </a:t>
            </a:r>
            <a:r>
              <a:rPr lang="en-US" sz="1200" dirty="0" err="1" smtClean="0"/>
              <a:t>STEPDev</a:t>
            </a:r>
            <a:r>
              <a:rPr lang="en-US" sz="1200" dirty="0" smtClean="0"/>
              <a:t>]</a:t>
            </a:r>
          </a:p>
          <a:p>
            <a:pPr lvl="1"/>
            <a:r>
              <a:rPr lang="en-US" sz="1200" dirty="0" smtClean="0"/>
              <a:t>Convert data from existing CVS repository and populate the GIT repositories</a:t>
            </a:r>
          </a:p>
          <a:p>
            <a:pPr lvl="1"/>
            <a:r>
              <a:rPr lang="en-US" sz="1200" dirty="0" smtClean="0"/>
              <a:t>Validate data conversion mapping</a:t>
            </a:r>
          </a:p>
          <a:p>
            <a:pPr lvl="1"/>
            <a:r>
              <a:rPr lang="en-US" sz="1200" dirty="0" smtClean="0"/>
              <a:t>Demonstrate branching from the Development Branch for release</a:t>
            </a:r>
          </a:p>
          <a:p>
            <a:r>
              <a:rPr lang="en-US" sz="1800" dirty="0" smtClean="0"/>
              <a:t>Part 4 – Continuous Integration [Pipelines]</a:t>
            </a:r>
          </a:p>
          <a:p>
            <a:pPr lvl="1"/>
            <a:r>
              <a:rPr lang="en-US" sz="1200" dirty="0" smtClean="0"/>
              <a:t>Capture requirements to validate the integration, perform quality checks and build the required ISO documentation upon Branch Merger.</a:t>
            </a:r>
          </a:p>
          <a:p>
            <a:r>
              <a:rPr lang="en-US" sz="1800" dirty="0" smtClean="0"/>
              <a:t>Part 5 – Multi-user collaboration </a:t>
            </a:r>
          </a:p>
          <a:p>
            <a:pPr lvl="1"/>
            <a:r>
              <a:rPr lang="en-US" sz="1200" dirty="0" smtClean="0"/>
              <a:t>Demonstrate advanced collaboration capabilities that refine business processes, data models and proposals</a:t>
            </a:r>
          </a:p>
        </p:txBody>
      </p:sp>
    </p:spTree>
    <p:extLst>
      <p:ext uri="{BB962C8B-B14F-4D97-AF65-F5344CB8AC3E}">
        <p14:creationId xmlns:p14="http://schemas.microsoft.com/office/powerpoint/2010/main" val="39934020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Existing Bugzilla Re-hosted</a:t>
            </a:r>
            <a:endParaRPr lang="en-US" dirty="0"/>
          </a:p>
        </p:txBody>
      </p:sp>
      <p:sp>
        <p:nvSpPr>
          <p:cNvPr id="3" name="Content Placeholder 2"/>
          <p:cNvSpPr>
            <a:spLocks noGrp="1"/>
          </p:cNvSpPr>
          <p:nvPr>
            <p:ph idx="1"/>
          </p:nvPr>
        </p:nvSpPr>
        <p:spPr>
          <a:xfrm>
            <a:off x="838200" y="1825625"/>
            <a:ext cx="10229850" cy="4351338"/>
          </a:xfrm>
        </p:spPr>
        <p:txBody>
          <a:bodyPr>
            <a:normAutofit/>
          </a:bodyPr>
          <a:lstStyle/>
          <a:p>
            <a:r>
              <a:rPr lang="en-US" sz="2400" dirty="0" err="1" smtClean="0"/>
              <a:t>LKSoft</a:t>
            </a:r>
            <a:r>
              <a:rPr lang="en-US" sz="2400" dirty="0" smtClean="0"/>
              <a:t> requested that WG12 re-host the existing Bugzilla instance</a:t>
            </a:r>
          </a:p>
          <a:p>
            <a:r>
              <a:rPr lang="en-US" sz="2400" dirty="0" smtClean="0"/>
              <a:t>PDES Purchased Bugzilla Hosting from RoseHosting.com</a:t>
            </a:r>
          </a:p>
          <a:p>
            <a:endParaRPr lang="en-US" sz="2400" dirty="0"/>
          </a:p>
          <a:p>
            <a:pPr lvl="1"/>
            <a:r>
              <a:rPr lang="en-US" sz="2000" dirty="0" smtClean="0">
                <a:hlinkClick r:id="rId2"/>
              </a:rPr>
              <a:t>http://www.step-bugzilla.com</a:t>
            </a:r>
            <a:r>
              <a:rPr lang="en-US" sz="2000" dirty="0" smtClean="0"/>
              <a:t>       &lt;&lt; new</a:t>
            </a:r>
          </a:p>
          <a:p>
            <a:pPr lvl="1"/>
            <a:endParaRPr lang="en-US" sz="2000" dirty="0"/>
          </a:p>
          <a:p>
            <a:pPr lvl="1"/>
            <a:r>
              <a:rPr lang="en-US" sz="1600" dirty="0" smtClean="0"/>
              <a:t>Some anomalies have been found, e.g. Missing Bugs ~169 out of 7488. </a:t>
            </a:r>
          </a:p>
          <a:p>
            <a:pPr lvl="2"/>
            <a:r>
              <a:rPr lang="en-US" sz="1400" dirty="0" smtClean="0"/>
              <a:t>Early analysis suggest they are missing from previous instance as well.</a:t>
            </a:r>
          </a:p>
          <a:p>
            <a:pPr lvl="2"/>
            <a:endParaRPr lang="en-US" sz="1400" dirty="0" smtClean="0"/>
          </a:p>
          <a:p>
            <a:pPr lvl="1"/>
            <a:r>
              <a:rPr lang="en-US" sz="1600" dirty="0" smtClean="0"/>
              <a:t>Data transfer limits</a:t>
            </a:r>
          </a:p>
          <a:p>
            <a:pPr lvl="1"/>
            <a:endParaRPr lang="en-US" sz="1600" dirty="0"/>
          </a:p>
          <a:p>
            <a:pPr lvl="1"/>
            <a:r>
              <a:rPr lang="en-US" sz="1600" dirty="0" smtClean="0"/>
              <a:t>Bugzilla individual </a:t>
            </a:r>
            <a:r>
              <a:rPr lang="en-US" sz="1600" smtClean="0"/>
              <a:t>file size 1mb &gt; 20mb</a:t>
            </a:r>
            <a:endParaRPr lang="en-US" sz="1600" dirty="0"/>
          </a:p>
        </p:txBody>
      </p:sp>
      <p:pic>
        <p:nvPicPr>
          <p:cNvPr id="4" name="Picture 3"/>
          <p:cNvPicPr>
            <a:picLocks noChangeAspect="1"/>
          </p:cNvPicPr>
          <p:nvPr/>
        </p:nvPicPr>
        <p:blipFill>
          <a:blip r:embed="rId3"/>
          <a:stretch>
            <a:fillRect/>
          </a:stretch>
        </p:blipFill>
        <p:spPr>
          <a:xfrm>
            <a:off x="10343763" y="3736975"/>
            <a:ext cx="1683608" cy="2768600"/>
          </a:xfrm>
          <a:prstGeom prst="rect">
            <a:avLst/>
          </a:prstGeom>
        </p:spPr>
      </p:pic>
      <p:grpSp>
        <p:nvGrpSpPr>
          <p:cNvPr id="7" name="Group 6"/>
          <p:cNvGrpSpPr/>
          <p:nvPr/>
        </p:nvGrpSpPr>
        <p:grpSpPr>
          <a:xfrm>
            <a:off x="5387543" y="4490789"/>
            <a:ext cx="4956220" cy="2014786"/>
            <a:chOff x="3533773" y="4686531"/>
            <a:chExt cx="4956220" cy="2014786"/>
          </a:xfrm>
        </p:grpSpPr>
        <p:pic>
          <p:nvPicPr>
            <p:cNvPr id="5" name="Picture 4"/>
            <p:cNvPicPr>
              <a:picLocks noChangeAspect="1"/>
            </p:cNvPicPr>
            <p:nvPr/>
          </p:nvPicPr>
          <p:blipFill>
            <a:blip r:embed="rId4"/>
            <a:stretch>
              <a:fillRect/>
            </a:stretch>
          </p:blipFill>
          <p:spPr>
            <a:xfrm>
              <a:off x="3533773" y="4686531"/>
              <a:ext cx="4956219" cy="1654738"/>
            </a:xfrm>
            <a:prstGeom prst="rect">
              <a:avLst/>
            </a:prstGeom>
          </p:spPr>
        </p:pic>
        <p:pic>
          <p:nvPicPr>
            <p:cNvPr id="6" name="Picture 5"/>
            <p:cNvPicPr>
              <a:picLocks noChangeAspect="1"/>
            </p:cNvPicPr>
            <p:nvPr/>
          </p:nvPicPr>
          <p:blipFill>
            <a:blip r:embed="rId5"/>
            <a:stretch>
              <a:fillRect/>
            </a:stretch>
          </p:blipFill>
          <p:spPr>
            <a:xfrm>
              <a:off x="3533774" y="6311900"/>
              <a:ext cx="4956219" cy="389417"/>
            </a:xfrm>
            <a:prstGeom prst="rect">
              <a:avLst/>
            </a:prstGeom>
          </p:spPr>
        </p:pic>
      </p:grpSp>
    </p:spTree>
    <p:extLst>
      <p:ext uri="{BB962C8B-B14F-4D97-AF65-F5344CB8AC3E}">
        <p14:creationId xmlns:p14="http://schemas.microsoft.com/office/powerpoint/2010/main" val="10650935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p:cNvPicPr>
            <a:picLocks noChangeAspect="1"/>
          </p:cNvPicPr>
          <p:nvPr/>
        </p:nvPicPr>
        <p:blipFill>
          <a:blip r:embed="rId2"/>
          <a:stretch>
            <a:fillRect/>
          </a:stretch>
        </p:blipFill>
        <p:spPr>
          <a:xfrm>
            <a:off x="838200" y="1420382"/>
            <a:ext cx="8486775" cy="5038725"/>
          </a:xfrm>
          <a:prstGeom prst="rect">
            <a:avLst/>
          </a:prstGeom>
          <a:ln>
            <a:noFill/>
          </a:ln>
          <a:effectLst>
            <a:outerShdw blurRad="292100" dist="139700" dir="2700000" algn="tl" rotWithShape="0">
              <a:srgbClr val="333333">
                <a:alpha val="65000"/>
              </a:srgbClr>
            </a:outerShdw>
          </a:effectLst>
        </p:spPr>
      </p:pic>
      <p:sp>
        <p:nvSpPr>
          <p:cNvPr id="2" name="Title 1"/>
          <p:cNvSpPr>
            <a:spLocks noGrp="1"/>
          </p:cNvSpPr>
          <p:nvPr>
            <p:ph type="title"/>
          </p:nvPr>
        </p:nvSpPr>
        <p:spPr/>
        <p:txBody>
          <a:bodyPr/>
          <a:lstStyle/>
          <a:p>
            <a:r>
              <a:rPr lang="en-US" dirty="0" smtClean="0"/>
              <a:t>Other Advantages to Managed Hosting</a:t>
            </a:r>
            <a:endParaRPr lang="en-US" dirty="0"/>
          </a:p>
        </p:txBody>
      </p:sp>
      <p:pic>
        <p:nvPicPr>
          <p:cNvPr id="9" name="Picture 8"/>
          <p:cNvPicPr>
            <a:picLocks noChangeAspect="1"/>
          </p:cNvPicPr>
          <p:nvPr/>
        </p:nvPicPr>
        <p:blipFill>
          <a:blip r:embed="rId3"/>
          <a:stretch>
            <a:fillRect/>
          </a:stretch>
        </p:blipFill>
        <p:spPr>
          <a:xfrm>
            <a:off x="9977115" y="2023670"/>
            <a:ext cx="1743075" cy="466725"/>
          </a:xfrm>
          <a:prstGeom prst="rect">
            <a:avLst/>
          </a:prstGeom>
          <a:ln>
            <a:noFill/>
          </a:ln>
          <a:effectLst>
            <a:outerShdw blurRad="292100" dist="139700" dir="2700000" algn="tl" rotWithShape="0">
              <a:srgbClr val="333333">
                <a:alpha val="65000"/>
              </a:srgbClr>
            </a:outerShdw>
          </a:effectLst>
        </p:spPr>
      </p:pic>
      <p:pic>
        <p:nvPicPr>
          <p:cNvPr id="10" name="Picture 9"/>
          <p:cNvPicPr>
            <a:picLocks noChangeAspect="1"/>
          </p:cNvPicPr>
          <p:nvPr/>
        </p:nvPicPr>
        <p:blipFill>
          <a:blip r:embed="rId4"/>
          <a:stretch>
            <a:fillRect/>
          </a:stretch>
        </p:blipFill>
        <p:spPr>
          <a:xfrm>
            <a:off x="6929760" y="4217131"/>
            <a:ext cx="4790430" cy="1887013"/>
          </a:xfrm>
          <a:prstGeom prst="rect">
            <a:avLst/>
          </a:prstGeom>
          <a:ln>
            <a:noFill/>
          </a:ln>
          <a:effectLst>
            <a:outerShdw blurRad="292100" dist="139700" dir="2700000" algn="tl" rotWithShape="0">
              <a:srgbClr val="333333">
                <a:alpha val="65000"/>
              </a:srgbClr>
            </a:outerShdw>
          </a:effectLst>
        </p:spPr>
      </p:pic>
      <p:pic>
        <p:nvPicPr>
          <p:cNvPr id="8" name="Picture 7"/>
          <p:cNvPicPr>
            <a:picLocks noChangeAspect="1"/>
          </p:cNvPicPr>
          <p:nvPr/>
        </p:nvPicPr>
        <p:blipFill>
          <a:blip r:embed="rId5"/>
          <a:stretch>
            <a:fillRect/>
          </a:stretch>
        </p:blipFill>
        <p:spPr>
          <a:xfrm>
            <a:off x="6987810" y="2823377"/>
            <a:ext cx="4732380" cy="103329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7189409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Other Advantages to Managed Hosting</a:t>
            </a:r>
            <a:endParaRPr lang="en-US" dirty="0"/>
          </a:p>
        </p:txBody>
      </p:sp>
      <p:sp>
        <p:nvSpPr>
          <p:cNvPr id="4" name="Content Placeholder 3"/>
          <p:cNvSpPr>
            <a:spLocks noGrp="1"/>
          </p:cNvSpPr>
          <p:nvPr>
            <p:ph idx="1"/>
          </p:nvPr>
        </p:nvSpPr>
        <p:spPr/>
        <p:txBody>
          <a:bodyPr>
            <a:normAutofit/>
          </a:bodyPr>
          <a:lstStyle/>
          <a:p>
            <a:r>
              <a:rPr lang="en-US" sz="1800" dirty="0" smtClean="0"/>
              <a:t>Sign up </a:t>
            </a:r>
            <a:r>
              <a:rPr lang="en-US" sz="1800" dirty="0"/>
              <a:t>Link: </a:t>
            </a:r>
            <a:r>
              <a:rPr lang="en-US" sz="1800" dirty="0">
                <a:hlinkClick r:id="rId2"/>
              </a:rPr>
              <a:t>https://mm.step-bugzilla.com/signup_user_complete/?</a:t>
            </a:r>
            <a:r>
              <a:rPr lang="en-US" sz="1800" dirty="0" smtClean="0">
                <a:hlinkClick r:id="rId2"/>
              </a:rPr>
              <a:t>id=f4z9xyyec3nd8ppc386t7jgo9c</a:t>
            </a:r>
            <a:endParaRPr lang="en-US" sz="1800" dirty="0" smtClean="0"/>
          </a:p>
          <a:p>
            <a:r>
              <a:rPr lang="en-US" sz="1800" dirty="0" smtClean="0"/>
              <a:t>Login Link: </a:t>
            </a:r>
            <a:r>
              <a:rPr lang="en-US" sz="1800" dirty="0" smtClean="0">
                <a:hlinkClick r:id="rId3"/>
              </a:rPr>
              <a:t>http://mm.step-bugzilla.com/</a:t>
            </a:r>
            <a:endParaRPr lang="en-US" sz="1800" dirty="0" smtClean="0"/>
          </a:p>
          <a:p>
            <a:r>
              <a:rPr lang="en-US" sz="1800" dirty="0" smtClean="0"/>
              <a:t>Client Download</a:t>
            </a:r>
            <a:r>
              <a:rPr lang="en-US" sz="1800" dirty="0"/>
              <a:t>: </a:t>
            </a:r>
            <a:r>
              <a:rPr lang="en-US" sz="1800" dirty="0">
                <a:hlinkClick r:id="rId4"/>
              </a:rPr>
              <a:t>https://mattermost.com/download/#mattermostApps</a:t>
            </a:r>
            <a:endParaRPr lang="en-US" sz="1800" dirty="0" smtClean="0"/>
          </a:p>
          <a:p>
            <a:endParaRPr lang="en-US" sz="1800" dirty="0"/>
          </a:p>
        </p:txBody>
      </p:sp>
      <p:pic>
        <p:nvPicPr>
          <p:cNvPr id="3" name="Picture 2"/>
          <p:cNvPicPr>
            <a:picLocks noChangeAspect="1"/>
          </p:cNvPicPr>
          <p:nvPr/>
        </p:nvPicPr>
        <p:blipFill>
          <a:blip r:embed="rId5"/>
          <a:stretch>
            <a:fillRect/>
          </a:stretch>
        </p:blipFill>
        <p:spPr>
          <a:xfrm>
            <a:off x="3946291" y="3912183"/>
            <a:ext cx="3666481" cy="2710168"/>
          </a:xfrm>
          <a:prstGeom prst="rect">
            <a:avLst/>
          </a:prstGeom>
          <a:ln>
            <a:noFill/>
          </a:ln>
          <a:effectLst>
            <a:outerShdw blurRad="292100" dist="139700" dir="2700000" algn="tl" rotWithShape="0">
              <a:srgbClr val="333333">
                <a:alpha val="65000"/>
              </a:srgbClr>
            </a:outerShdw>
          </a:effectLst>
        </p:spPr>
      </p:pic>
      <p:pic>
        <p:nvPicPr>
          <p:cNvPr id="5" name="Picture 4"/>
          <p:cNvPicPr>
            <a:picLocks noChangeAspect="1"/>
          </p:cNvPicPr>
          <p:nvPr/>
        </p:nvPicPr>
        <p:blipFill>
          <a:blip r:embed="rId6"/>
          <a:stretch>
            <a:fillRect/>
          </a:stretch>
        </p:blipFill>
        <p:spPr>
          <a:xfrm>
            <a:off x="970006" y="3017897"/>
            <a:ext cx="2647783" cy="3620271"/>
          </a:xfrm>
          <a:prstGeom prst="rect">
            <a:avLst/>
          </a:prstGeom>
          <a:ln>
            <a:noFill/>
          </a:ln>
          <a:effectLst>
            <a:outerShdw blurRad="292100" dist="139700" dir="2700000" algn="tl" rotWithShape="0">
              <a:srgbClr val="333333">
                <a:alpha val="65000"/>
              </a:srgbClr>
            </a:outerShdw>
          </a:effectLst>
        </p:spPr>
      </p:pic>
      <p:pic>
        <p:nvPicPr>
          <p:cNvPr id="6" name="Picture 5"/>
          <p:cNvPicPr>
            <a:picLocks noChangeAspect="1"/>
          </p:cNvPicPr>
          <p:nvPr/>
        </p:nvPicPr>
        <p:blipFill>
          <a:blip r:embed="rId7"/>
          <a:stretch>
            <a:fillRect/>
          </a:stretch>
        </p:blipFill>
        <p:spPr>
          <a:xfrm>
            <a:off x="7941274" y="4528670"/>
            <a:ext cx="3857368" cy="210949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2208330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smtClean="0"/>
              <a:t>Benefits</a:t>
            </a:r>
            <a:endParaRPr lang="en-US" dirty="0"/>
          </a:p>
        </p:txBody>
      </p:sp>
      <p:sp>
        <p:nvSpPr>
          <p:cNvPr id="3" name="Content Placeholder 2"/>
          <p:cNvSpPr>
            <a:spLocks noGrp="1"/>
          </p:cNvSpPr>
          <p:nvPr>
            <p:ph idx="1"/>
          </p:nvPr>
        </p:nvSpPr>
        <p:spPr/>
        <p:txBody>
          <a:bodyPr>
            <a:normAutofit/>
          </a:bodyPr>
          <a:lstStyle/>
          <a:p>
            <a:r>
              <a:rPr lang="en-US" sz="1800" b="1" dirty="0"/>
              <a:t>Social benefits</a:t>
            </a:r>
          </a:p>
          <a:p>
            <a:pPr lvl="1"/>
            <a:r>
              <a:rPr lang="en-US" sz="1600" dirty="0"/>
              <a:t>Increased collaboration</a:t>
            </a:r>
          </a:p>
          <a:p>
            <a:pPr lvl="1"/>
            <a:r>
              <a:rPr lang="en-US" sz="1600" dirty="0"/>
              <a:t>Increased sharing of domain knowledge</a:t>
            </a:r>
          </a:p>
          <a:p>
            <a:pPr lvl="1"/>
            <a:r>
              <a:rPr lang="en-US" sz="1600" dirty="0"/>
              <a:t>Increased visibility and awareness</a:t>
            </a:r>
          </a:p>
          <a:p>
            <a:pPr lvl="1"/>
            <a:r>
              <a:rPr lang="en-US" sz="1600" dirty="0"/>
              <a:t>Enhanced learning</a:t>
            </a:r>
          </a:p>
          <a:p>
            <a:pPr lvl="1"/>
            <a:r>
              <a:rPr lang="en-US" sz="1600" dirty="0"/>
              <a:t>Improved empathy</a:t>
            </a:r>
          </a:p>
          <a:p>
            <a:r>
              <a:rPr lang="en-US" sz="1800" b="1" dirty="0"/>
              <a:t>Process and technical benefits</a:t>
            </a:r>
          </a:p>
          <a:p>
            <a:pPr lvl="1"/>
            <a:r>
              <a:rPr lang="en-US" sz="1600" dirty="0"/>
              <a:t>Increased </a:t>
            </a:r>
            <a:r>
              <a:rPr lang="en-US" sz="1600" dirty="0" smtClean="0"/>
              <a:t>automation [integration with JIRA, GIT, etc.]</a:t>
            </a:r>
            <a:endParaRPr lang="en-US" sz="1600" dirty="0"/>
          </a:p>
          <a:p>
            <a:pPr lvl="1"/>
            <a:r>
              <a:rPr lang="en-US" sz="1600" dirty="0"/>
              <a:t>Increased speed of actions and executed commands</a:t>
            </a:r>
          </a:p>
          <a:p>
            <a:pPr lvl="1"/>
            <a:r>
              <a:rPr lang="en-US" sz="1600" dirty="0"/>
              <a:t>Improved security and safety</a:t>
            </a:r>
          </a:p>
          <a:p>
            <a:pPr lvl="1"/>
            <a:r>
              <a:rPr lang="en-US" sz="1600" dirty="0"/>
              <a:t>Automatic logging of conversations and actions</a:t>
            </a:r>
          </a:p>
          <a:p>
            <a:pPr lvl="1"/>
            <a:r>
              <a:rPr lang="en-US" sz="1600" dirty="0"/>
              <a:t>Synchronous communication</a:t>
            </a:r>
          </a:p>
          <a:p>
            <a:pPr lvl="1"/>
            <a:r>
              <a:rPr lang="en-US" sz="1600" dirty="0"/>
              <a:t>Reduction in email</a:t>
            </a:r>
          </a:p>
          <a:p>
            <a:endParaRPr lang="en-US" dirty="0"/>
          </a:p>
        </p:txBody>
      </p:sp>
      <p:grpSp>
        <p:nvGrpSpPr>
          <p:cNvPr id="2" name="Group 1"/>
          <p:cNvGrpSpPr/>
          <p:nvPr/>
        </p:nvGrpSpPr>
        <p:grpSpPr>
          <a:xfrm>
            <a:off x="6268995" y="1392196"/>
            <a:ext cx="5504464" cy="2776150"/>
            <a:chOff x="2049798" y="1841690"/>
            <a:chExt cx="9229274" cy="4613129"/>
          </a:xfrm>
        </p:grpSpPr>
        <p:pic>
          <p:nvPicPr>
            <p:cNvPr id="4" name="Picture 3"/>
            <p:cNvPicPr>
              <a:picLocks noChangeAspect="1"/>
            </p:cNvPicPr>
            <p:nvPr/>
          </p:nvPicPr>
          <p:blipFill>
            <a:blip r:embed="rId2"/>
            <a:stretch>
              <a:fillRect/>
            </a:stretch>
          </p:blipFill>
          <p:spPr>
            <a:xfrm>
              <a:off x="4832057" y="1841690"/>
              <a:ext cx="6447015" cy="4613129"/>
            </a:xfrm>
            <a:prstGeom prst="rect">
              <a:avLst/>
            </a:prstGeom>
            <a:ln>
              <a:noFill/>
            </a:ln>
            <a:effectLst>
              <a:outerShdw blurRad="292100" dist="139700" dir="2700000" algn="tl" rotWithShape="0">
                <a:srgbClr val="333333">
                  <a:alpha val="65000"/>
                </a:srgbClr>
              </a:outerShdw>
            </a:effectLst>
          </p:spPr>
        </p:pic>
        <p:pic>
          <p:nvPicPr>
            <p:cNvPr id="5" name="Picture 4"/>
            <p:cNvPicPr>
              <a:picLocks noChangeAspect="1"/>
            </p:cNvPicPr>
            <p:nvPr/>
          </p:nvPicPr>
          <p:blipFill>
            <a:blip r:embed="rId3"/>
            <a:stretch>
              <a:fillRect/>
            </a:stretch>
          </p:blipFill>
          <p:spPr>
            <a:xfrm>
              <a:off x="2049798" y="2172749"/>
              <a:ext cx="2343198" cy="3321676"/>
            </a:xfrm>
            <a:prstGeom prst="rect">
              <a:avLst/>
            </a:prstGeom>
            <a:ln>
              <a:noFill/>
            </a:ln>
            <a:effectLst>
              <a:outerShdw blurRad="292100" dist="139700" dir="2700000" algn="tl" rotWithShape="0">
                <a:srgbClr val="333333">
                  <a:alpha val="65000"/>
                </a:srgbClr>
              </a:outerShdw>
            </a:effectLst>
          </p:spPr>
        </p:pic>
        <p:cxnSp>
          <p:nvCxnSpPr>
            <p:cNvPr id="7" name="Straight Connector 6"/>
            <p:cNvCxnSpPr/>
            <p:nvPr/>
          </p:nvCxnSpPr>
          <p:spPr>
            <a:xfrm flipH="1" flipV="1">
              <a:off x="4392996" y="2172749"/>
              <a:ext cx="439061" cy="478172"/>
            </a:xfrm>
            <a:prstGeom prst="line">
              <a:avLst/>
            </a:prstGeom>
            <a:ln w="19050"/>
          </p:spPr>
          <p:style>
            <a:lnRef idx="1">
              <a:schemeClr val="dk1"/>
            </a:lnRef>
            <a:fillRef idx="0">
              <a:schemeClr val="dk1"/>
            </a:fillRef>
            <a:effectRef idx="0">
              <a:schemeClr val="dk1"/>
            </a:effectRef>
            <a:fontRef idx="minor">
              <a:schemeClr val="tx1"/>
            </a:fontRef>
          </p:style>
        </p:cxnSp>
        <p:cxnSp>
          <p:nvCxnSpPr>
            <p:cNvPr id="9" name="Straight Connector 8"/>
            <p:cNvCxnSpPr/>
            <p:nvPr/>
          </p:nvCxnSpPr>
          <p:spPr>
            <a:xfrm flipH="1">
              <a:off x="4392996" y="3833587"/>
              <a:ext cx="497786" cy="1660838"/>
            </a:xfrm>
            <a:prstGeom prst="line">
              <a:avLst/>
            </a:prstGeom>
            <a:ln w="19050"/>
          </p:spPr>
          <p:style>
            <a:lnRef idx="1">
              <a:schemeClr val="dk1"/>
            </a:lnRef>
            <a:fillRef idx="0">
              <a:schemeClr val="dk1"/>
            </a:fillRef>
            <a:effectRef idx="0">
              <a:schemeClr val="dk1"/>
            </a:effectRef>
            <a:fontRef idx="minor">
              <a:schemeClr val="tx1"/>
            </a:fontRef>
          </p:style>
        </p:cxnSp>
      </p:grpSp>
      <p:pic>
        <p:nvPicPr>
          <p:cNvPr id="6" name="Picture 5"/>
          <p:cNvPicPr>
            <a:picLocks noChangeAspect="1"/>
          </p:cNvPicPr>
          <p:nvPr/>
        </p:nvPicPr>
        <p:blipFill>
          <a:blip r:embed="rId4"/>
          <a:stretch>
            <a:fillRect/>
          </a:stretch>
        </p:blipFill>
        <p:spPr>
          <a:xfrm>
            <a:off x="6268994" y="4880066"/>
            <a:ext cx="5442359" cy="1431834"/>
          </a:xfrm>
          <a:prstGeom prst="rect">
            <a:avLst/>
          </a:prstGeom>
        </p:spPr>
      </p:pic>
      <p:sp>
        <p:nvSpPr>
          <p:cNvPr id="10" name="TextBox 9"/>
          <p:cNvSpPr txBox="1"/>
          <p:nvPr/>
        </p:nvSpPr>
        <p:spPr>
          <a:xfrm>
            <a:off x="7797441" y="4443266"/>
            <a:ext cx="2324100" cy="369332"/>
          </a:xfrm>
          <a:prstGeom prst="rect">
            <a:avLst/>
          </a:prstGeom>
          <a:noFill/>
        </p:spPr>
        <p:txBody>
          <a:bodyPr wrap="square" rtlCol="0">
            <a:spAutoFit/>
          </a:bodyPr>
          <a:lstStyle/>
          <a:p>
            <a:pPr algn="ctr"/>
            <a:r>
              <a:rPr lang="en-US" u="sng" dirty="0" smtClean="0"/>
              <a:t>3 days of usage</a:t>
            </a:r>
            <a:endParaRPr lang="en-US" u="sng" dirty="0"/>
          </a:p>
        </p:txBody>
      </p:sp>
    </p:spTree>
    <p:extLst>
      <p:ext uri="{BB962C8B-B14F-4D97-AF65-F5344CB8AC3E}">
        <p14:creationId xmlns:p14="http://schemas.microsoft.com/office/powerpoint/2010/main" val="16547106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Part 1 &amp; 2: Issues/Project Management</a:t>
            </a:r>
          </a:p>
        </p:txBody>
      </p:sp>
      <p:pic>
        <p:nvPicPr>
          <p:cNvPr id="4" name="Picture 3" descr="Screen Clippi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391025" y="2179582"/>
            <a:ext cx="3749965" cy="2390640"/>
          </a:xfrm>
          <a:prstGeom prst="rect">
            <a:avLst/>
          </a:prstGeom>
        </p:spPr>
      </p:pic>
      <p:pic>
        <p:nvPicPr>
          <p:cNvPr id="5" name="Picture 4" descr="Screen Clippi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2238" y="2229342"/>
            <a:ext cx="3416262" cy="2256933"/>
          </a:xfrm>
          <a:prstGeom prst="rect">
            <a:avLst/>
          </a:prstGeom>
        </p:spPr>
      </p:pic>
      <p:sp>
        <p:nvSpPr>
          <p:cNvPr id="6" name="TextBox 5"/>
          <p:cNvSpPr txBox="1"/>
          <p:nvPr/>
        </p:nvSpPr>
        <p:spPr>
          <a:xfrm>
            <a:off x="1076325" y="1860010"/>
            <a:ext cx="2205219" cy="369332"/>
          </a:xfrm>
          <a:prstGeom prst="rect">
            <a:avLst/>
          </a:prstGeom>
          <a:noFill/>
        </p:spPr>
        <p:txBody>
          <a:bodyPr wrap="none" rtlCol="0">
            <a:spAutoFit/>
          </a:bodyPr>
          <a:lstStyle/>
          <a:p>
            <a:r>
              <a:rPr lang="en-US" dirty="0" smtClean="0"/>
              <a:t>Backlog management</a:t>
            </a:r>
            <a:endParaRPr lang="en-US" dirty="0"/>
          </a:p>
        </p:txBody>
      </p:sp>
      <p:sp>
        <p:nvSpPr>
          <p:cNvPr id="7" name="TextBox 6"/>
          <p:cNvSpPr txBox="1"/>
          <p:nvPr/>
        </p:nvSpPr>
        <p:spPr>
          <a:xfrm>
            <a:off x="5095077" y="1825609"/>
            <a:ext cx="2341860" cy="369332"/>
          </a:xfrm>
          <a:prstGeom prst="rect">
            <a:avLst/>
          </a:prstGeom>
          <a:noFill/>
        </p:spPr>
        <p:txBody>
          <a:bodyPr wrap="none" rtlCol="0">
            <a:spAutoFit/>
          </a:bodyPr>
          <a:lstStyle/>
          <a:p>
            <a:r>
              <a:rPr lang="en-US" dirty="0" smtClean="0"/>
              <a:t>Detailed Issue example</a:t>
            </a:r>
            <a:endParaRPr lang="en-US" dirty="0"/>
          </a:p>
        </p:txBody>
      </p:sp>
      <p:pic>
        <p:nvPicPr>
          <p:cNvPr id="8" name="Picture 7" descr="Screen Clippi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230857" y="3151726"/>
            <a:ext cx="3605909" cy="1708243"/>
          </a:xfrm>
          <a:prstGeom prst="rect">
            <a:avLst/>
          </a:prstGeom>
        </p:spPr>
      </p:pic>
      <p:sp>
        <p:nvSpPr>
          <p:cNvPr id="9" name="TextBox 8"/>
          <p:cNvSpPr txBox="1"/>
          <p:nvPr/>
        </p:nvSpPr>
        <p:spPr>
          <a:xfrm>
            <a:off x="9054140" y="2911088"/>
            <a:ext cx="2473691" cy="369332"/>
          </a:xfrm>
          <a:prstGeom prst="rect">
            <a:avLst/>
          </a:prstGeom>
          <a:noFill/>
        </p:spPr>
        <p:txBody>
          <a:bodyPr wrap="none" rtlCol="0">
            <a:spAutoFit/>
          </a:bodyPr>
          <a:lstStyle/>
          <a:p>
            <a:r>
              <a:rPr lang="en-US" dirty="0" smtClean="0"/>
              <a:t>Workflow demonstrated</a:t>
            </a:r>
            <a:endParaRPr lang="en-US" dirty="0"/>
          </a:p>
        </p:txBody>
      </p:sp>
      <p:sp>
        <p:nvSpPr>
          <p:cNvPr id="10" name="TextBox 9"/>
          <p:cNvSpPr txBox="1"/>
          <p:nvPr/>
        </p:nvSpPr>
        <p:spPr>
          <a:xfrm>
            <a:off x="1826369" y="5024929"/>
            <a:ext cx="8539261" cy="923330"/>
          </a:xfrm>
          <a:prstGeom prst="rect">
            <a:avLst/>
          </a:prstGeom>
          <a:noFill/>
        </p:spPr>
        <p:txBody>
          <a:bodyPr wrap="none" rtlCol="0">
            <a:spAutoFit/>
          </a:bodyPr>
          <a:lstStyle/>
          <a:p>
            <a:r>
              <a:rPr lang="en-US" dirty="0" smtClean="0"/>
              <a:t>Basic structures of JIRA Issues and Project Management demonstrated.</a:t>
            </a:r>
          </a:p>
          <a:p>
            <a:r>
              <a:rPr lang="en-US" dirty="0" smtClean="0"/>
              <a:t>Data conversion process from </a:t>
            </a:r>
            <a:r>
              <a:rPr lang="en-US" dirty="0" err="1" smtClean="0"/>
              <a:t>Bugzilla</a:t>
            </a:r>
            <a:r>
              <a:rPr lang="en-US" dirty="0" smtClean="0"/>
              <a:t> to JIRA demonstrated.</a:t>
            </a:r>
          </a:p>
          <a:p>
            <a:r>
              <a:rPr lang="en-US" dirty="0" smtClean="0"/>
              <a:t>Out of the box capabilities using industry best practices for issue management were used.</a:t>
            </a:r>
            <a:endParaRPr lang="en-US" dirty="0"/>
          </a:p>
        </p:txBody>
      </p:sp>
      <p:pic>
        <p:nvPicPr>
          <p:cNvPr id="3" name="Picture 2"/>
          <p:cNvPicPr>
            <a:picLocks noChangeAspect="1"/>
          </p:cNvPicPr>
          <p:nvPr/>
        </p:nvPicPr>
        <p:blipFill>
          <a:blip r:embed="rId5"/>
          <a:stretch>
            <a:fillRect/>
          </a:stretch>
        </p:blipFill>
        <p:spPr>
          <a:xfrm>
            <a:off x="8448675" y="1810117"/>
            <a:ext cx="3459866" cy="923984"/>
          </a:xfrm>
          <a:prstGeom prst="rect">
            <a:avLst/>
          </a:prstGeom>
        </p:spPr>
      </p:pic>
      <p:sp>
        <p:nvSpPr>
          <p:cNvPr id="11" name="TextBox 10"/>
          <p:cNvSpPr txBox="1"/>
          <p:nvPr/>
        </p:nvSpPr>
        <p:spPr>
          <a:xfrm>
            <a:off x="8941762" y="1378115"/>
            <a:ext cx="2759986" cy="369332"/>
          </a:xfrm>
          <a:prstGeom prst="rect">
            <a:avLst/>
          </a:prstGeom>
          <a:noFill/>
        </p:spPr>
        <p:txBody>
          <a:bodyPr wrap="none" rtlCol="0">
            <a:spAutoFit/>
          </a:bodyPr>
          <a:lstStyle/>
          <a:p>
            <a:r>
              <a:rPr lang="en-US" dirty="0" smtClean="0"/>
              <a:t>Bugzilla Workflow migrated</a:t>
            </a:r>
            <a:endParaRPr lang="en-US" dirty="0"/>
          </a:p>
        </p:txBody>
      </p:sp>
    </p:spTree>
    <p:extLst>
      <p:ext uri="{BB962C8B-B14F-4D97-AF65-F5344CB8AC3E}">
        <p14:creationId xmlns:p14="http://schemas.microsoft.com/office/powerpoint/2010/main" val="34103305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Adopt Agile Workflow</a:t>
            </a:r>
            <a:endParaRPr lang="en-US" dirty="0"/>
          </a:p>
        </p:txBody>
      </p:sp>
      <p:pic>
        <p:nvPicPr>
          <p:cNvPr id="4" name="Picture 3"/>
          <p:cNvPicPr>
            <a:picLocks noChangeAspect="1"/>
          </p:cNvPicPr>
          <p:nvPr/>
        </p:nvPicPr>
        <p:blipFill>
          <a:blip r:embed="rId2"/>
          <a:stretch>
            <a:fillRect/>
          </a:stretch>
        </p:blipFill>
        <p:spPr>
          <a:xfrm>
            <a:off x="9517258" y="3591054"/>
            <a:ext cx="1543050" cy="1457325"/>
          </a:xfrm>
          <a:prstGeom prst="rect">
            <a:avLst/>
          </a:prstGeom>
        </p:spPr>
      </p:pic>
      <p:pic>
        <p:nvPicPr>
          <p:cNvPr id="5" name="Picture 4"/>
          <p:cNvPicPr>
            <a:picLocks noChangeAspect="1"/>
          </p:cNvPicPr>
          <p:nvPr/>
        </p:nvPicPr>
        <p:blipFill>
          <a:blip r:embed="rId3"/>
          <a:stretch>
            <a:fillRect/>
          </a:stretch>
        </p:blipFill>
        <p:spPr>
          <a:xfrm>
            <a:off x="1012157" y="3681041"/>
            <a:ext cx="3005555" cy="1731649"/>
          </a:xfrm>
          <a:prstGeom prst="rect">
            <a:avLst/>
          </a:prstGeom>
        </p:spPr>
      </p:pic>
      <p:sp>
        <p:nvSpPr>
          <p:cNvPr id="6" name="Content Placeholder 2"/>
          <p:cNvSpPr>
            <a:spLocks noGrp="1"/>
          </p:cNvSpPr>
          <p:nvPr>
            <p:ph idx="1"/>
          </p:nvPr>
        </p:nvSpPr>
        <p:spPr>
          <a:xfrm>
            <a:off x="838200" y="1825625"/>
            <a:ext cx="10229850" cy="4351338"/>
          </a:xfrm>
        </p:spPr>
        <p:txBody>
          <a:bodyPr>
            <a:normAutofit/>
          </a:bodyPr>
          <a:lstStyle/>
          <a:p>
            <a:r>
              <a:rPr lang="en-US" sz="2400" dirty="0" smtClean="0"/>
              <a:t>Project goal to use agile development methods to accelerate development and publication of standards</a:t>
            </a:r>
          </a:p>
        </p:txBody>
      </p:sp>
      <p:sp>
        <p:nvSpPr>
          <p:cNvPr id="7" name="TextBox 6"/>
          <p:cNvSpPr txBox="1"/>
          <p:nvPr/>
        </p:nvSpPr>
        <p:spPr>
          <a:xfrm>
            <a:off x="8953997" y="3154254"/>
            <a:ext cx="2324100" cy="369332"/>
          </a:xfrm>
          <a:prstGeom prst="rect">
            <a:avLst/>
          </a:prstGeom>
          <a:noFill/>
        </p:spPr>
        <p:txBody>
          <a:bodyPr wrap="square" rtlCol="0">
            <a:spAutoFit/>
          </a:bodyPr>
          <a:lstStyle/>
          <a:p>
            <a:pPr algn="ctr"/>
            <a:r>
              <a:rPr lang="en-US" u="sng" dirty="0" smtClean="0"/>
              <a:t>JIRA Objects for Agile</a:t>
            </a:r>
            <a:endParaRPr lang="en-US" u="sng" dirty="0"/>
          </a:p>
        </p:txBody>
      </p:sp>
      <p:pic>
        <p:nvPicPr>
          <p:cNvPr id="3" name="Picture 2"/>
          <p:cNvPicPr>
            <a:picLocks noChangeAspect="1"/>
          </p:cNvPicPr>
          <p:nvPr/>
        </p:nvPicPr>
        <p:blipFill>
          <a:blip r:embed="rId4"/>
          <a:stretch>
            <a:fillRect/>
          </a:stretch>
        </p:blipFill>
        <p:spPr>
          <a:xfrm>
            <a:off x="4384810" y="3777293"/>
            <a:ext cx="3759066" cy="2302428"/>
          </a:xfrm>
          <a:prstGeom prst="rect">
            <a:avLst/>
          </a:prstGeom>
        </p:spPr>
      </p:pic>
      <p:sp>
        <p:nvSpPr>
          <p:cNvPr id="60" name="TextBox 59"/>
          <p:cNvSpPr txBox="1"/>
          <p:nvPr/>
        </p:nvSpPr>
        <p:spPr>
          <a:xfrm>
            <a:off x="4382150" y="3154254"/>
            <a:ext cx="3735153" cy="646331"/>
          </a:xfrm>
          <a:prstGeom prst="rect">
            <a:avLst/>
          </a:prstGeom>
          <a:noFill/>
        </p:spPr>
        <p:txBody>
          <a:bodyPr wrap="square" rtlCol="0">
            <a:spAutoFit/>
          </a:bodyPr>
          <a:lstStyle/>
          <a:p>
            <a:pPr algn="ctr"/>
            <a:r>
              <a:rPr lang="en-US" u="sng" dirty="0" smtClean="0"/>
              <a:t>Existing ISO Development Terms and Team Structure</a:t>
            </a:r>
            <a:endParaRPr lang="en-US" u="sng" dirty="0"/>
          </a:p>
        </p:txBody>
      </p:sp>
      <p:sp>
        <p:nvSpPr>
          <p:cNvPr id="61" name="TextBox 60"/>
          <p:cNvSpPr txBox="1"/>
          <p:nvPr/>
        </p:nvSpPr>
        <p:spPr>
          <a:xfrm>
            <a:off x="992608" y="3176772"/>
            <a:ext cx="2324100" cy="369332"/>
          </a:xfrm>
          <a:prstGeom prst="rect">
            <a:avLst/>
          </a:prstGeom>
          <a:noFill/>
        </p:spPr>
        <p:txBody>
          <a:bodyPr wrap="square" rtlCol="0">
            <a:spAutoFit/>
          </a:bodyPr>
          <a:lstStyle/>
          <a:p>
            <a:pPr algn="ctr"/>
            <a:r>
              <a:rPr lang="en-US" u="sng" dirty="0" err="1" smtClean="0"/>
              <a:t>SAFe</a:t>
            </a:r>
            <a:r>
              <a:rPr lang="en-US" u="sng" dirty="0" smtClean="0"/>
              <a:t> Agile Framework</a:t>
            </a:r>
            <a:endParaRPr lang="en-US" u="sng" dirty="0"/>
          </a:p>
        </p:txBody>
      </p:sp>
    </p:spTree>
    <p:extLst>
      <p:ext uri="{BB962C8B-B14F-4D97-AF65-F5344CB8AC3E}">
        <p14:creationId xmlns:p14="http://schemas.microsoft.com/office/powerpoint/2010/main" val="11953194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Adopt Agile Workflow</a:t>
            </a:r>
            <a:endParaRPr lang="en-US" dirty="0"/>
          </a:p>
        </p:txBody>
      </p:sp>
      <p:pic>
        <p:nvPicPr>
          <p:cNvPr id="3" name="Picture 2"/>
          <p:cNvPicPr>
            <a:picLocks noChangeAspect="1"/>
          </p:cNvPicPr>
          <p:nvPr/>
        </p:nvPicPr>
        <p:blipFill>
          <a:blip r:embed="rId2"/>
          <a:stretch>
            <a:fillRect/>
          </a:stretch>
        </p:blipFill>
        <p:spPr>
          <a:xfrm>
            <a:off x="1627536" y="2936677"/>
            <a:ext cx="600075" cy="238125"/>
          </a:xfrm>
          <a:prstGeom prst="rect">
            <a:avLst/>
          </a:prstGeom>
        </p:spPr>
      </p:pic>
      <p:pic>
        <p:nvPicPr>
          <p:cNvPr id="6" name="Picture 5"/>
          <p:cNvPicPr>
            <a:picLocks noChangeAspect="1"/>
          </p:cNvPicPr>
          <p:nvPr/>
        </p:nvPicPr>
        <p:blipFill>
          <a:blip r:embed="rId3"/>
          <a:stretch>
            <a:fillRect/>
          </a:stretch>
        </p:blipFill>
        <p:spPr>
          <a:xfrm>
            <a:off x="5756734" y="2921726"/>
            <a:ext cx="581025" cy="266700"/>
          </a:xfrm>
          <a:prstGeom prst="rect">
            <a:avLst/>
          </a:prstGeom>
        </p:spPr>
      </p:pic>
      <p:pic>
        <p:nvPicPr>
          <p:cNvPr id="7" name="Picture 6"/>
          <p:cNvPicPr>
            <a:picLocks noChangeAspect="1"/>
          </p:cNvPicPr>
          <p:nvPr/>
        </p:nvPicPr>
        <p:blipFill>
          <a:blip r:embed="rId4"/>
          <a:stretch>
            <a:fillRect/>
          </a:stretch>
        </p:blipFill>
        <p:spPr>
          <a:xfrm>
            <a:off x="5743688" y="3639343"/>
            <a:ext cx="1114425" cy="257175"/>
          </a:xfrm>
          <a:prstGeom prst="rect">
            <a:avLst/>
          </a:prstGeom>
        </p:spPr>
      </p:pic>
      <p:pic>
        <p:nvPicPr>
          <p:cNvPr id="8" name="Picture 7"/>
          <p:cNvPicPr>
            <a:picLocks noChangeAspect="1"/>
          </p:cNvPicPr>
          <p:nvPr/>
        </p:nvPicPr>
        <p:blipFill>
          <a:blip r:embed="rId5"/>
          <a:stretch>
            <a:fillRect/>
          </a:stretch>
        </p:blipFill>
        <p:spPr>
          <a:xfrm>
            <a:off x="5756734" y="3913364"/>
            <a:ext cx="1076325" cy="285750"/>
          </a:xfrm>
          <a:prstGeom prst="rect">
            <a:avLst/>
          </a:prstGeom>
        </p:spPr>
      </p:pic>
      <p:pic>
        <p:nvPicPr>
          <p:cNvPr id="9" name="Picture 8"/>
          <p:cNvPicPr>
            <a:picLocks noChangeAspect="1"/>
          </p:cNvPicPr>
          <p:nvPr/>
        </p:nvPicPr>
        <p:blipFill>
          <a:blip r:embed="rId6"/>
          <a:stretch>
            <a:fillRect/>
          </a:stretch>
        </p:blipFill>
        <p:spPr>
          <a:xfrm>
            <a:off x="7098437" y="3653583"/>
            <a:ext cx="1495425" cy="266700"/>
          </a:xfrm>
          <a:prstGeom prst="rect">
            <a:avLst/>
          </a:prstGeom>
        </p:spPr>
      </p:pic>
      <p:pic>
        <p:nvPicPr>
          <p:cNvPr id="10" name="Picture 9"/>
          <p:cNvPicPr>
            <a:picLocks noChangeAspect="1"/>
          </p:cNvPicPr>
          <p:nvPr/>
        </p:nvPicPr>
        <p:blipFill>
          <a:blip r:embed="rId7"/>
          <a:stretch>
            <a:fillRect/>
          </a:stretch>
        </p:blipFill>
        <p:spPr>
          <a:xfrm>
            <a:off x="6916336" y="3409029"/>
            <a:ext cx="628650" cy="238125"/>
          </a:xfrm>
          <a:prstGeom prst="rect">
            <a:avLst/>
          </a:prstGeom>
        </p:spPr>
      </p:pic>
      <p:pic>
        <p:nvPicPr>
          <p:cNvPr id="11" name="Picture 10"/>
          <p:cNvPicPr>
            <a:picLocks noChangeAspect="1"/>
          </p:cNvPicPr>
          <p:nvPr/>
        </p:nvPicPr>
        <p:blipFill>
          <a:blip r:embed="rId2"/>
          <a:stretch>
            <a:fillRect/>
          </a:stretch>
        </p:blipFill>
        <p:spPr>
          <a:xfrm>
            <a:off x="1627535" y="3155237"/>
            <a:ext cx="600075" cy="238125"/>
          </a:xfrm>
          <a:prstGeom prst="rect">
            <a:avLst/>
          </a:prstGeom>
        </p:spPr>
      </p:pic>
      <p:pic>
        <p:nvPicPr>
          <p:cNvPr id="13" name="Picture 12"/>
          <p:cNvPicPr>
            <a:picLocks noChangeAspect="1"/>
          </p:cNvPicPr>
          <p:nvPr/>
        </p:nvPicPr>
        <p:blipFill>
          <a:blip r:embed="rId2"/>
          <a:stretch>
            <a:fillRect/>
          </a:stretch>
        </p:blipFill>
        <p:spPr>
          <a:xfrm>
            <a:off x="2115211" y="2923744"/>
            <a:ext cx="600075" cy="238125"/>
          </a:xfrm>
          <a:prstGeom prst="rect">
            <a:avLst/>
          </a:prstGeom>
        </p:spPr>
      </p:pic>
      <p:pic>
        <p:nvPicPr>
          <p:cNvPr id="14" name="Picture 13"/>
          <p:cNvPicPr>
            <a:picLocks noChangeAspect="1"/>
          </p:cNvPicPr>
          <p:nvPr/>
        </p:nvPicPr>
        <p:blipFill>
          <a:blip r:embed="rId2"/>
          <a:stretch>
            <a:fillRect/>
          </a:stretch>
        </p:blipFill>
        <p:spPr>
          <a:xfrm>
            <a:off x="1627534" y="3372592"/>
            <a:ext cx="600075" cy="238125"/>
          </a:xfrm>
          <a:prstGeom prst="rect">
            <a:avLst/>
          </a:prstGeom>
        </p:spPr>
      </p:pic>
      <p:pic>
        <p:nvPicPr>
          <p:cNvPr id="15" name="Picture 14"/>
          <p:cNvPicPr>
            <a:picLocks noChangeAspect="1"/>
          </p:cNvPicPr>
          <p:nvPr/>
        </p:nvPicPr>
        <p:blipFill>
          <a:blip r:embed="rId2"/>
          <a:stretch>
            <a:fillRect/>
          </a:stretch>
        </p:blipFill>
        <p:spPr>
          <a:xfrm>
            <a:off x="2115210" y="3134228"/>
            <a:ext cx="600075" cy="238125"/>
          </a:xfrm>
          <a:prstGeom prst="rect">
            <a:avLst/>
          </a:prstGeom>
        </p:spPr>
      </p:pic>
      <p:pic>
        <p:nvPicPr>
          <p:cNvPr id="16" name="Picture 15"/>
          <p:cNvPicPr>
            <a:picLocks noChangeAspect="1"/>
          </p:cNvPicPr>
          <p:nvPr/>
        </p:nvPicPr>
        <p:blipFill>
          <a:blip r:embed="rId2"/>
          <a:stretch>
            <a:fillRect/>
          </a:stretch>
        </p:blipFill>
        <p:spPr>
          <a:xfrm>
            <a:off x="1627537" y="2719322"/>
            <a:ext cx="600075" cy="238125"/>
          </a:xfrm>
          <a:prstGeom prst="rect">
            <a:avLst/>
          </a:prstGeom>
        </p:spPr>
      </p:pic>
      <p:pic>
        <p:nvPicPr>
          <p:cNvPr id="17" name="Picture 16"/>
          <p:cNvPicPr>
            <a:picLocks noChangeAspect="1"/>
          </p:cNvPicPr>
          <p:nvPr/>
        </p:nvPicPr>
        <p:blipFill>
          <a:blip r:embed="rId2"/>
          <a:stretch>
            <a:fillRect/>
          </a:stretch>
        </p:blipFill>
        <p:spPr>
          <a:xfrm>
            <a:off x="1627533" y="3590733"/>
            <a:ext cx="600075" cy="238125"/>
          </a:xfrm>
          <a:prstGeom prst="rect">
            <a:avLst/>
          </a:prstGeom>
        </p:spPr>
      </p:pic>
      <p:sp>
        <p:nvSpPr>
          <p:cNvPr id="18" name="TextBox 17"/>
          <p:cNvSpPr txBox="1"/>
          <p:nvPr/>
        </p:nvSpPr>
        <p:spPr>
          <a:xfrm>
            <a:off x="1070573" y="1870994"/>
            <a:ext cx="2383007" cy="461665"/>
          </a:xfrm>
          <a:prstGeom prst="rect">
            <a:avLst/>
          </a:prstGeom>
          <a:noFill/>
        </p:spPr>
        <p:txBody>
          <a:bodyPr wrap="square" rtlCol="0">
            <a:spAutoFit/>
          </a:bodyPr>
          <a:lstStyle/>
          <a:p>
            <a:pPr algn="ctr"/>
            <a:r>
              <a:rPr lang="en-US" sz="2400" b="1" dirty="0" smtClean="0"/>
              <a:t>Overall Backlog</a:t>
            </a:r>
            <a:endParaRPr lang="en-US" sz="2400" b="1" dirty="0"/>
          </a:p>
        </p:txBody>
      </p:sp>
      <p:pic>
        <p:nvPicPr>
          <p:cNvPr id="12" name="Picture 11"/>
          <p:cNvPicPr>
            <a:picLocks noChangeAspect="1"/>
          </p:cNvPicPr>
          <p:nvPr/>
        </p:nvPicPr>
        <p:blipFill>
          <a:blip r:embed="rId2"/>
          <a:stretch>
            <a:fillRect/>
          </a:stretch>
        </p:blipFill>
        <p:spPr>
          <a:xfrm>
            <a:off x="2115212" y="2719561"/>
            <a:ext cx="600075" cy="238125"/>
          </a:xfrm>
          <a:prstGeom prst="rect">
            <a:avLst/>
          </a:prstGeom>
        </p:spPr>
      </p:pic>
      <p:sp>
        <p:nvSpPr>
          <p:cNvPr id="20" name="TextBox 19"/>
          <p:cNvSpPr txBox="1"/>
          <p:nvPr/>
        </p:nvSpPr>
        <p:spPr>
          <a:xfrm>
            <a:off x="5644662" y="1852020"/>
            <a:ext cx="3317479" cy="369332"/>
          </a:xfrm>
          <a:prstGeom prst="rect">
            <a:avLst/>
          </a:prstGeom>
          <a:noFill/>
        </p:spPr>
        <p:txBody>
          <a:bodyPr wrap="square" rtlCol="0">
            <a:spAutoFit/>
          </a:bodyPr>
          <a:lstStyle/>
          <a:p>
            <a:pPr algn="ctr"/>
            <a:r>
              <a:rPr lang="en-US" u="sng" dirty="0" smtClean="0"/>
              <a:t>All ISO Work items will be an EPIC</a:t>
            </a:r>
            <a:endParaRPr lang="en-US" u="sng" dirty="0"/>
          </a:p>
        </p:txBody>
      </p:sp>
      <p:sp>
        <p:nvSpPr>
          <p:cNvPr id="21" name="TextBox 20"/>
          <p:cNvSpPr txBox="1"/>
          <p:nvPr/>
        </p:nvSpPr>
        <p:spPr>
          <a:xfrm>
            <a:off x="1162284" y="2369555"/>
            <a:ext cx="2130647" cy="369332"/>
          </a:xfrm>
          <a:prstGeom prst="rect">
            <a:avLst/>
          </a:prstGeom>
          <a:noFill/>
        </p:spPr>
        <p:txBody>
          <a:bodyPr wrap="square" rtlCol="0">
            <a:spAutoFit/>
          </a:bodyPr>
          <a:lstStyle/>
          <a:p>
            <a:pPr algn="ctr"/>
            <a:r>
              <a:rPr lang="en-US" u="sng" dirty="0" smtClean="0"/>
              <a:t>Bugs from Bugzilla</a:t>
            </a:r>
            <a:endParaRPr lang="en-US" u="sng" dirty="0"/>
          </a:p>
        </p:txBody>
      </p:sp>
      <p:pic>
        <p:nvPicPr>
          <p:cNvPr id="22" name="Picture 21"/>
          <p:cNvPicPr>
            <a:picLocks noChangeAspect="1"/>
          </p:cNvPicPr>
          <p:nvPr/>
        </p:nvPicPr>
        <p:blipFill>
          <a:blip r:embed="rId2"/>
          <a:stretch>
            <a:fillRect/>
          </a:stretch>
        </p:blipFill>
        <p:spPr>
          <a:xfrm>
            <a:off x="1327494" y="4441374"/>
            <a:ext cx="600075" cy="238125"/>
          </a:xfrm>
          <a:prstGeom prst="rect">
            <a:avLst/>
          </a:prstGeom>
        </p:spPr>
      </p:pic>
      <p:pic>
        <p:nvPicPr>
          <p:cNvPr id="24" name="Picture 23"/>
          <p:cNvPicPr>
            <a:picLocks noChangeAspect="1"/>
          </p:cNvPicPr>
          <p:nvPr/>
        </p:nvPicPr>
        <p:blipFill>
          <a:blip r:embed="rId2"/>
          <a:stretch>
            <a:fillRect/>
          </a:stretch>
        </p:blipFill>
        <p:spPr>
          <a:xfrm>
            <a:off x="1815169" y="4428441"/>
            <a:ext cx="600075" cy="238125"/>
          </a:xfrm>
          <a:prstGeom prst="rect">
            <a:avLst/>
          </a:prstGeom>
        </p:spPr>
      </p:pic>
      <p:pic>
        <p:nvPicPr>
          <p:cNvPr id="26" name="Picture 25"/>
          <p:cNvPicPr>
            <a:picLocks noChangeAspect="1"/>
          </p:cNvPicPr>
          <p:nvPr/>
        </p:nvPicPr>
        <p:blipFill>
          <a:blip r:embed="rId2"/>
          <a:stretch>
            <a:fillRect/>
          </a:stretch>
        </p:blipFill>
        <p:spPr>
          <a:xfrm>
            <a:off x="1815168" y="4638925"/>
            <a:ext cx="600075" cy="238125"/>
          </a:xfrm>
          <a:prstGeom prst="rect">
            <a:avLst/>
          </a:prstGeom>
        </p:spPr>
      </p:pic>
      <p:pic>
        <p:nvPicPr>
          <p:cNvPr id="27" name="Picture 26"/>
          <p:cNvPicPr>
            <a:picLocks noChangeAspect="1"/>
          </p:cNvPicPr>
          <p:nvPr/>
        </p:nvPicPr>
        <p:blipFill>
          <a:blip r:embed="rId2"/>
          <a:stretch>
            <a:fillRect/>
          </a:stretch>
        </p:blipFill>
        <p:spPr>
          <a:xfrm>
            <a:off x="1327495" y="4224019"/>
            <a:ext cx="600075" cy="238125"/>
          </a:xfrm>
          <a:prstGeom prst="rect">
            <a:avLst/>
          </a:prstGeom>
        </p:spPr>
      </p:pic>
      <p:pic>
        <p:nvPicPr>
          <p:cNvPr id="29" name="Picture 28"/>
          <p:cNvPicPr>
            <a:picLocks noChangeAspect="1"/>
          </p:cNvPicPr>
          <p:nvPr/>
        </p:nvPicPr>
        <p:blipFill>
          <a:blip r:embed="rId2"/>
          <a:stretch>
            <a:fillRect/>
          </a:stretch>
        </p:blipFill>
        <p:spPr>
          <a:xfrm>
            <a:off x="1815170" y="4224258"/>
            <a:ext cx="600075" cy="238125"/>
          </a:xfrm>
          <a:prstGeom prst="rect">
            <a:avLst/>
          </a:prstGeom>
        </p:spPr>
      </p:pic>
      <p:sp>
        <p:nvSpPr>
          <p:cNvPr id="30" name="TextBox 29"/>
          <p:cNvSpPr txBox="1"/>
          <p:nvPr/>
        </p:nvSpPr>
        <p:spPr>
          <a:xfrm>
            <a:off x="1127841" y="3854867"/>
            <a:ext cx="2130647" cy="369332"/>
          </a:xfrm>
          <a:prstGeom prst="rect">
            <a:avLst/>
          </a:prstGeom>
          <a:noFill/>
        </p:spPr>
        <p:txBody>
          <a:bodyPr wrap="square" rtlCol="0">
            <a:spAutoFit/>
          </a:bodyPr>
          <a:lstStyle/>
          <a:p>
            <a:pPr algn="ctr"/>
            <a:r>
              <a:rPr lang="en-US" u="sng" dirty="0" smtClean="0"/>
              <a:t>New Bugs/Features</a:t>
            </a:r>
            <a:endParaRPr lang="en-US" u="sng" dirty="0"/>
          </a:p>
        </p:txBody>
      </p:sp>
      <p:pic>
        <p:nvPicPr>
          <p:cNvPr id="31" name="Picture 30"/>
          <p:cNvPicPr>
            <a:picLocks noChangeAspect="1"/>
          </p:cNvPicPr>
          <p:nvPr/>
        </p:nvPicPr>
        <p:blipFill>
          <a:blip r:embed="rId4"/>
          <a:stretch>
            <a:fillRect/>
          </a:stretch>
        </p:blipFill>
        <p:spPr>
          <a:xfrm>
            <a:off x="2343717" y="4222110"/>
            <a:ext cx="1114425" cy="257175"/>
          </a:xfrm>
          <a:prstGeom prst="rect">
            <a:avLst/>
          </a:prstGeom>
        </p:spPr>
      </p:pic>
      <p:pic>
        <p:nvPicPr>
          <p:cNvPr id="32" name="Picture 31"/>
          <p:cNvPicPr>
            <a:picLocks noChangeAspect="1"/>
          </p:cNvPicPr>
          <p:nvPr/>
        </p:nvPicPr>
        <p:blipFill>
          <a:blip r:embed="rId4"/>
          <a:stretch>
            <a:fillRect/>
          </a:stretch>
        </p:blipFill>
        <p:spPr>
          <a:xfrm>
            <a:off x="2356773" y="4444178"/>
            <a:ext cx="1114425" cy="257175"/>
          </a:xfrm>
          <a:prstGeom prst="rect">
            <a:avLst/>
          </a:prstGeom>
        </p:spPr>
      </p:pic>
      <p:pic>
        <p:nvPicPr>
          <p:cNvPr id="33" name="Picture 32"/>
          <p:cNvPicPr>
            <a:picLocks noChangeAspect="1"/>
          </p:cNvPicPr>
          <p:nvPr/>
        </p:nvPicPr>
        <p:blipFill>
          <a:blip r:embed="rId5"/>
          <a:stretch>
            <a:fillRect/>
          </a:stretch>
        </p:blipFill>
        <p:spPr>
          <a:xfrm>
            <a:off x="2375822" y="4683331"/>
            <a:ext cx="1076325" cy="285750"/>
          </a:xfrm>
          <a:prstGeom prst="rect">
            <a:avLst/>
          </a:prstGeom>
        </p:spPr>
      </p:pic>
      <p:pic>
        <p:nvPicPr>
          <p:cNvPr id="34" name="Picture 33"/>
          <p:cNvPicPr>
            <a:picLocks noChangeAspect="1"/>
          </p:cNvPicPr>
          <p:nvPr/>
        </p:nvPicPr>
        <p:blipFill>
          <a:blip r:embed="rId7"/>
          <a:stretch>
            <a:fillRect/>
          </a:stretch>
        </p:blipFill>
        <p:spPr>
          <a:xfrm>
            <a:off x="2364239" y="4924136"/>
            <a:ext cx="628650" cy="238125"/>
          </a:xfrm>
          <a:prstGeom prst="rect">
            <a:avLst/>
          </a:prstGeom>
        </p:spPr>
      </p:pic>
      <p:pic>
        <p:nvPicPr>
          <p:cNvPr id="35" name="Picture 34"/>
          <p:cNvPicPr>
            <a:picLocks noChangeAspect="1"/>
          </p:cNvPicPr>
          <p:nvPr/>
        </p:nvPicPr>
        <p:blipFill>
          <a:blip r:embed="rId2"/>
          <a:stretch>
            <a:fillRect/>
          </a:stretch>
        </p:blipFill>
        <p:spPr>
          <a:xfrm>
            <a:off x="5756734" y="3403448"/>
            <a:ext cx="600075" cy="238125"/>
          </a:xfrm>
          <a:prstGeom prst="rect">
            <a:avLst/>
          </a:prstGeom>
        </p:spPr>
      </p:pic>
      <p:pic>
        <p:nvPicPr>
          <p:cNvPr id="36" name="Picture 35"/>
          <p:cNvPicPr>
            <a:picLocks noChangeAspect="1"/>
          </p:cNvPicPr>
          <p:nvPr/>
        </p:nvPicPr>
        <p:blipFill>
          <a:blip r:embed="rId8"/>
          <a:stretch>
            <a:fillRect/>
          </a:stretch>
        </p:blipFill>
        <p:spPr>
          <a:xfrm>
            <a:off x="9224566" y="4129987"/>
            <a:ext cx="1673180" cy="1702028"/>
          </a:xfrm>
          <a:prstGeom prst="rect">
            <a:avLst/>
          </a:prstGeom>
          <a:ln>
            <a:noFill/>
          </a:ln>
          <a:effectLst>
            <a:outerShdw blurRad="292100" dist="139700" dir="2700000" algn="tl" rotWithShape="0">
              <a:srgbClr val="333333">
                <a:alpha val="65000"/>
              </a:srgbClr>
            </a:outerShdw>
          </a:effectLst>
        </p:spPr>
      </p:pic>
      <p:sp>
        <p:nvSpPr>
          <p:cNvPr id="39" name="TextBox 38"/>
          <p:cNvSpPr txBox="1"/>
          <p:nvPr/>
        </p:nvSpPr>
        <p:spPr>
          <a:xfrm>
            <a:off x="8962141" y="3685549"/>
            <a:ext cx="2360843" cy="369332"/>
          </a:xfrm>
          <a:prstGeom prst="rect">
            <a:avLst/>
          </a:prstGeom>
          <a:noFill/>
        </p:spPr>
        <p:txBody>
          <a:bodyPr wrap="square" rtlCol="0">
            <a:spAutoFit/>
          </a:bodyPr>
          <a:lstStyle/>
          <a:p>
            <a:pPr algn="ctr"/>
            <a:r>
              <a:rPr lang="en-US" u="sng" dirty="0" smtClean="0"/>
              <a:t>Standard Workflow</a:t>
            </a:r>
            <a:endParaRPr lang="en-US" u="sng" dirty="0"/>
          </a:p>
        </p:txBody>
      </p:sp>
      <p:sp>
        <p:nvSpPr>
          <p:cNvPr id="41" name="Rounded Rectangle 40"/>
          <p:cNvSpPr/>
          <p:nvPr/>
        </p:nvSpPr>
        <p:spPr>
          <a:xfrm>
            <a:off x="5743688" y="3275700"/>
            <a:ext cx="1114425" cy="1087882"/>
          </a:xfrm>
          <a:prstGeom prst="roundRect">
            <a:avLst>
              <a:gd name="adj" fmla="val 7036"/>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cxnSp>
        <p:nvCxnSpPr>
          <p:cNvPr id="43" name="Curved Connector 42"/>
          <p:cNvCxnSpPr>
            <a:stCxn id="11" idx="1"/>
            <a:endCxn id="27" idx="1"/>
          </p:cNvCxnSpPr>
          <p:nvPr/>
        </p:nvCxnSpPr>
        <p:spPr>
          <a:xfrm rot="10800000" flipV="1">
            <a:off x="1327495" y="3274300"/>
            <a:ext cx="300040" cy="1068782"/>
          </a:xfrm>
          <a:prstGeom prst="curvedConnector3">
            <a:avLst>
              <a:gd name="adj1" fmla="val 226983"/>
            </a:avLst>
          </a:prstGeom>
          <a:ln>
            <a:tailEnd type="triangle"/>
          </a:ln>
        </p:spPr>
        <p:style>
          <a:lnRef idx="1">
            <a:schemeClr val="accent1"/>
          </a:lnRef>
          <a:fillRef idx="0">
            <a:schemeClr val="accent1"/>
          </a:fillRef>
          <a:effectRef idx="0">
            <a:schemeClr val="accent1"/>
          </a:effectRef>
          <a:fontRef idx="minor">
            <a:schemeClr val="tx1"/>
          </a:fontRef>
        </p:style>
      </p:cxnSp>
      <p:pic>
        <p:nvPicPr>
          <p:cNvPr id="56" name="Picture 55"/>
          <p:cNvPicPr>
            <a:picLocks noChangeAspect="1"/>
          </p:cNvPicPr>
          <p:nvPr/>
        </p:nvPicPr>
        <p:blipFill>
          <a:blip r:embed="rId9"/>
          <a:stretch>
            <a:fillRect/>
          </a:stretch>
        </p:blipFill>
        <p:spPr>
          <a:xfrm>
            <a:off x="4244514" y="2264583"/>
            <a:ext cx="6600278" cy="371444"/>
          </a:xfrm>
          <a:prstGeom prst="rect">
            <a:avLst/>
          </a:prstGeom>
        </p:spPr>
      </p:pic>
      <p:sp>
        <p:nvSpPr>
          <p:cNvPr id="40" name="Rounded Rectangle 39"/>
          <p:cNvSpPr/>
          <p:nvPr/>
        </p:nvSpPr>
        <p:spPr>
          <a:xfrm>
            <a:off x="6912789" y="3275700"/>
            <a:ext cx="1681073" cy="710403"/>
          </a:xfrm>
          <a:prstGeom prst="roundRect">
            <a:avLst>
              <a:gd name="adj" fmla="val 7036"/>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44" name="Rounded Rectangle 43"/>
          <p:cNvSpPr/>
          <p:nvPr/>
        </p:nvSpPr>
        <p:spPr>
          <a:xfrm>
            <a:off x="5689012" y="2808116"/>
            <a:ext cx="2992351" cy="1605201"/>
          </a:xfrm>
          <a:prstGeom prst="roundRect">
            <a:avLst>
              <a:gd name="adj" fmla="val 7036"/>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cxnSp>
        <p:nvCxnSpPr>
          <p:cNvPr id="46" name="Curved Connector 45"/>
          <p:cNvCxnSpPr>
            <a:stCxn id="32" idx="3"/>
            <a:endCxn id="44" idx="1"/>
          </p:cNvCxnSpPr>
          <p:nvPr/>
        </p:nvCxnSpPr>
        <p:spPr>
          <a:xfrm flipV="1">
            <a:off x="3471198" y="3610717"/>
            <a:ext cx="2217814" cy="962049"/>
          </a:xfrm>
          <a:prstGeom prst="curved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Curved Connector 48"/>
          <p:cNvCxnSpPr>
            <a:stCxn id="36" idx="1"/>
            <a:endCxn id="40" idx="2"/>
          </p:cNvCxnSpPr>
          <p:nvPr/>
        </p:nvCxnSpPr>
        <p:spPr>
          <a:xfrm rot="10800000">
            <a:off x="7753326" y="3986103"/>
            <a:ext cx="1471240" cy="994898"/>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Curved Connector 51"/>
          <p:cNvCxnSpPr>
            <a:stCxn id="36" idx="1"/>
            <a:endCxn id="41" idx="2"/>
          </p:cNvCxnSpPr>
          <p:nvPr/>
        </p:nvCxnSpPr>
        <p:spPr>
          <a:xfrm rot="10800000">
            <a:off x="6300902" y="4363583"/>
            <a:ext cx="2923665" cy="617419"/>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94387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Clean Up Bugzilla </a:t>
            </a:r>
            <a:endParaRPr lang="en-US" dirty="0"/>
          </a:p>
        </p:txBody>
      </p:sp>
      <p:sp>
        <p:nvSpPr>
          <p:cNvPr id="6" name="Content Placeholder 5"/>
          <p:cNvSpPr>
            <a:spLocks noGrp="1"/>
          </p:cNvSpPr>
          <p:nvPr>
            <p:ph idx="1"/>
          </p:nvPr>
        </p:nvSpPr>
        <p:spPr>
          <a:xfrm>
            <a:off x="838200" y="1825625"/>
            <a:ext cx="11057238" cy="4351338"/>
          </a:xfrm>
        </p:spPr>
        <p:txBody>
          <a:bodyPr>
            <a:normAutofit/>
          </a:bodyPr>
          <a:lstStyle/>
          <a:p>
            <a:pPr marL="0" indent="0">
              <a:buNone/>
            </a:pPr>
            <a:r>
              <a:rPr lang="en-US" sz="1800" b="1" u="sng" dirty="0" smtClean="0"/>
              <a:t>Bugzilla Projects</a:t>
            </a:r>
          </a:p>
          <a:p>
            <a:pPr marL="0" indent="0">
              <a:buNone/>
            </a:pPr>
            <a:r>
              <a:rPr lang="en-US" sz="1100" dirty="0" smtClean="0"/>
              <a:t>10303 </a:t>
            </a:r>
            <a:r>
              <a:rPr lang="en-US" sz="1100" dirty="0"/>
              <a:t>Recommended Practices	</a:t>
            </a:r>
            <a:r>
              <a:rPr lang="en-US" sz="1100" dirty="0" smtClean="0"/>
              <a:t>	: </a:t>
            </a:r>
            <a:r>
              <a:rPr lang="en-US" sz="1100" dirty="0"/>
              <a:t>114 Bugs 	</a:t>
            </a:r>
            <a:r>
              <a:rPr lang="en-US" sz="1100" dirty="0" smtClean="0"/>
              <a:t>: </a:t>
            </a:r>
            <a:r>
              <a:rPr lang="en-US" sz="1100" dirty="0"/>
              <a:t>Recommend ARCHIVAL</a:t>
            </a:r>
          </a:p>
          <a:p>
            <a:pPr marL="0" indent="0">
              <a:buNone/>
            </a:pPr>
            <a:r>
              <a:rPr lang="en-US" sz="1100" dirty="0"/>
              <a:t>P210 IS1		</a:t>
            </a:r>
            <a:r>
              <a:rPr lang="en-US" sz="1100" dirty="0" smtClean="0"/>
              <a:t>	: </a:t>
            </a:r>
            <a:r>
              <a:rPr lang="en-US" sz="1100" dirty="0"/>
              <a:t>1105 Bugs	</a:t>
            </a:r>
            <a:r>
              <a:rPr lang="en-US" sz="1100" dirty="0" smtClean="0"/>
              <a:t>: </a:t>
            </a:r>
            <a:r>
              <a:rPr lang="en-US" sz="1100" dirty="0"/>
              <a:t>Recommend ARCHIVAL</a:t>
            </a:r>
          </a:p>
          <a:p>
            <a:pPr marL="0" indent="0">
              <a:buNone/>
            </a:pPr>
            <a:r>
              <a:rPr lang="en-US" sz="1100" dirty="0"/>
              <a:t>Express Engine		</a:t>
            </a:r>
            <a:r>
              <a:rPr lang="en-US" sz="1100" dirty="0" smtClean="0"/>
              <a:t>	: </a:t>
            </a:r>
            <a:r>
              <a:rPr lang="en-US" sz="1100" dirty="0"/>
              <a:t>66 Bugs	</a:t>
            </a:r>
            <a:r>
              <a:rPr lang="en-US" sz="1100" dirty="0" smtClean="0"/>
              <a:t>: </a:t>
            </a:r>
            <a:r>
              <a:rPr lang="en-US" sz="1100" dirty="0"/>
              <a:t>Recommend MIGRATION to ISO Living Lab TC 184 SC 4 Utilities Project</a:t>
            </a:r>
          </a:p>
          <a:p>
            <a:pPr marL="0" indent="0">
              <a:buNone/>
            </a:pPr>
            <a:r>
              <a:rPr lang="en-US" sz="1100" dirty="0"/>
              <a:t>ISO 10303		</a:t>
            </a:r>
            <a:r>
              <a:rPr lang="en-US" sz="1100" dirty="0" smtClean="0"/>
              <a:t>	: </a:t>
            </a:r>
            <a:r>
              <a:rPr lang="en-US" sz="1100" dirty="0"/>
              <a:t>5208 Bugs	</a:t>
            </a:r>
            <a:r>
              <a:rPr lang="en-US" sz="1100" dirty="0" smtClean="0"/>
              <a:t>: </a:t>
            </a:r>
            <a:r>
              <a:rPr lang="en-US" sz="1100" dirty="0"/>
              <a:t>Recommend MIGRATION to ISO Living Lab Bugzilla Backlog</a:t>
            </a:r>
          </a:p>
          <a:p>
            <a:pPr marL="0" indent="0">
              <a:buNone/>
            </a:pPr>
            <a:r>
              <a:rPr lang="en-US" sz="1100" dirty="0"/>
              <a:t>ISO 14306			</a:t>
            </a:r>
            <a:r>
              <a:rPr lang="en-US" sz="1100" dirty="0" smtClean="0"/>
              <a:t>: </a:t>
            </a:r>
            <a:r>
              <a:rPr lang="en-US" sz="1100" dirty="0"/>
              <a:t>14 Bugs	</a:t>
            </a:r>
            <a:r>
              <a:rPr lang="en-US" sz="1100" dirty="0" smtClean="0"/>
              <a:t>: </a:t>
            </a:r>
            <a:r>
              <a:rPr lang="en-US" sz="1100" dirty="0"/>
              <a:t>Recommend ARCHIVAL</a:t>
            </a:r>
          </a:p>
          <a:p>
            <a:pPr marL="0" indent="0">
              <a:buNone/>
            </a:pPr>
            <a:r>
              <a:rPr lang="en-US" sz="1100" dirty="0"/>
              <a:t>ISO 29002			</a:t>
            </a:r>
            <a:r>
              <a:rPr lang="en-US" sz="1100" dirty="0" smtClean="0"/>
              <a:t>: </a:t>
            </a:r>
            <a:r>
              <a:rPr lang="en-US" sz="1100" dirty="0"/>
              <a:t>0 Bugs	</a:t>
            </a:r>
            <a:r>
              <a:rPr lang="en-US" sz="1100" dirty="0" smtClean="0"/>
              <a:t>: </a:t>
            </a:r>
            <a:r>
              <a:rPr lang="en-US" sz="1100" dirty="0"/>
              <a:t>Recommend DELETION</a:t>
            </a:r>
          </a:p>
          <a:p>
            <a:pPr marL="0" indent="0">
              <a:buNone/>
            </a:pPr>
            <a:r>
              <a:rPr lang="en-US" sz="1100" dirty="0"/>
              <a:t>SC4 Standing documents		</a:t>
            </a:r>
            <a:r>
              <a:rPr lang="en-US" sz="1100" dirty="0" smtClean="0"/>
              <a:t>: </a:t>
            </a:r>
            <a:r>
              <a:rPr lang="en-US" sz="1100" dirty="0"/>
              <a:t>27 Bugs	</a:t>
            </a:r>
            <a:r>
              <a:rPr lang="en-US" sz="1100" dirty="0" smtClean="0"/>
              <a:t>: </a:t>
            </a:r>
            <a:r>
              <a:rPr lang="en-US" sz="1100" dirty="0"/>
              <a:t>Recommend MIGRATION to ISO Living Lab TC 184 SC 4 Standing Documents Development and Management </a:t>
            </a:r>
            <a:r>
              <a:rPr lang="en-US" sz="1100" dirty="0" smtClean="0"/>
              <a:t>Project</a:t>
            </a:r>
          </a:p>
          <a:p>
            <a:pPr marL="0" indent="0">
              <a:buNone/>
            </a:pPr>
            <a:r>
              <a:rPr lang="en-US" sz="1100" dirty="0" err="1" smtClean="0"/>
              <a:t>stepmod</a:t>
            </a:r>
            <a:r>
              <a:rPr lang="en-US" sz="1100" dirty="0" smtClean="0"/>
              <a:t> environment and Utilities 	: 490 Bugs	: Recommend MIGRATION to ISO Living Lab TC 184 SC 4 Utilities Project</a:t>
            </a:r>
          </a:p>
          <a:p>
            <a:pPr marL="0" indent="0">
              <a:buNone/>
            </a:pPr>
            <a:r>
              <a:rPr lang="en-US" sz="1100" dirty="0" smtClean="0"/>
              <a:t>test</a:t>
            </a:r>
            <a:r>
              <a:rPr lang="en-US" sz="1100" dirty="0"/>
              <a:t>			</a:t>
            </a:r>
            <a:r>
              <a:rPr lang="en-US" sz="1100" dirty="0" smtClean="0"/>
              <a:t>: </a:t>
            </a:r>
            <a:r>
              <a:rPr lang="en-US" sz="1100" dirty="0"/>
              <a:t>1 Bugs 	</a:t>
            </a:r>
            <a:r>
              <a:rPr lang="en-US" sz="1100" dirty="0" smtClean="0"/>
              <a:t>: </a:t>
            </a:r>
            <a:r>
              <a:rPr lang="en-US" sz="1100" dirty="0"/>
              <a:t>Recommend DELETION</a:t>
            </a:r>
          </a:p>
          <a:p>
            <a:pPr marL="0" indent="0">
              <a:buNone/>
            </a:pPr>
            <a:r>
              <a:rPr lang="en-US" sz="1100" dirty="0"/>
              <a:t>WG12 Policy			</a:t>
            </a:r>
            <a:r>
              <a:rPr lang="en-US" sz="1100" dirty="0" smtClean="0"/>
              <a:t>: </a:t>
            </a:r>
            <a:r>
              <a:rPr lang="en-US" sz="1100" dirty="0"/>
              <a:t>2 Bugs 	</a:t>
            </a:r>
            <a:r>
              <a:rPr lang="en-US" sz="1100" dirty="0" smtClean="0"/>
              <a:t>: </a:t>
            </a:r>
            <a:r>
              <a:rPr lang="en-US" sz="1100" dirty="0"/>
              <a:t>Recommend MIGRATION to ISO Living Lab TC 184 SC 4 Standing Documents Development and Management Project</a:t>
            </a:r>
          </a:p>
        </p:txBody>
      </p:sp>
    </p:spTree>
    <p:extLst>
      <p:ext uri="{BB962C8B-B14F-4D97-AF65-F5344CB8AC3E}">
        <p14:creationId xmlns:p14="http://schemas.microsoft.com/office/powerpoint/2010/main" val="16318485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Attribute Analysis and Mapping</a:t>
            </a:r>
            <a:endParaRPr lang="en-US" dirty="0"/>
          </a:p>
        </p:txBody>
      </p:sp>
      <p:sp>
        <p:nvSpPr>
          <p:cNvPr id="3" name="Content Placeholder 2"/>
          <p:cNvSpPr>
            <a:spLocks noGrp="1"/>
          </p:cNvSpPr>
          <p:nvPr>
            <p:ph idx="1"/>
          </p:nvPr>
        </p:nvSpPr>
        <p:spPr/>
        <p:txBody>
          <a:bodyPr>
            <a:normAutofit/>
          </a:bodyPr>
          <a:lstStyle/>
          <a:p>
            <a:r>
              <a:rPr lang="en-US" sz="2400" dirty="0" smtClean="0"/>
              <a:t>10 Custom attributes that need to be reviewed</a:t>
            </a:r>
          </a:p>
          <a:p>
            <a:pPr lvl="1"/>
            <a:endParaRPr lang="en-US" sz="2000" dirty="0" smtClean="0"/>
          </a:p>
          <a:p>
            <a:pPr lvl="1"/>
            <a:endParaRPr lang="en-US" sz="2000" dirty="0" smtClean="0"/>
          </a:p>
          <a:p>
            <a:pPr lvl="1"/>
            <a:endParaRPr lang="en-US" sz="2000" dirty="0"/>
          </a:p>
          <a:p>
            <a:pPr lvl="1"/>
            <a:endParaRPr lang="en-US" sz="2000" dirty="0" smtClean="0"/>
          </a:p>
          <a:p>
            <a:r>
              <a:rPr lang="en-US" sz="2400" dirty="0" smtClean="0"/>
              <a:t>Bugzilla &gt; JIRA Bugzilla Backlog Project &gt; JIRA Agile Project</a:t>
            </a:r>
            <a:endParaRPr lang="en-US" sz="2400" dirty="0"/>
          </a:p>
        </p:txBody>
      </p:sp>
      <p:pic>
        <p:nvPicPr>
          <p:cNvPr id="5" name="Picture 4"/>
          <p:cNvPicPr>
            <a:picLocks noChangeAspect="1"/>
          </p:cNvPicPr>
          <p:nvPr/>
        </p:nvPicPr>
        <p:blipFill>
          <a:blip r:embed="rId2"/>
          <a:stretch>
            <a:fillRect/>
          </a:stretch>
        </p:blipFill>
        <p:spPr>
          <a:xfrm>
            <a:off x="1134979" y="4137652"/>
            <a:ext cx="7491664" cy="2395708"/>
          </a:xfrm>
          <a:prstGeom prst="rect">
            <a:avLst/>
          </a:prstGeom>
          <a:ln>
            <a:noFill/>
          </a:ln>
          <a:effectLst>
            <a:outerShdw blurRad="292100" dist="139700" dir="2700000" algn="tl" rotWithShape="0">
              <a:srgbClr val="333333">
                <a:alpha val="65000"/>
              </a:srgbClr>
            </a:outerShdw>
          </a:effectLst>
        </p:spPr>
      </p:pic>
      <p:pic>
        <p:nvPicPr>
          <p:cNvPr id="10" name="Picture 9"/>
          <p:cNvPicPr>
            <a:picLocks noChangeAspect="1"/>
          </p:cNvPicPr>
          <p:nvPr/>
        </p:nvPicPr>
        <p:blipFill>
          <a:blip r:embed="rId3"/>
          <a:stretch>
            <a:fillRect/>
          </a:stretch>
        </p:blipFill>
        <p:spPr>
          <a:xfrm>
            <a:off x="7114072" y="1370246"/>
            <a:ext cx="4716234" cy="2023744"/>
          </a:xfrm>
          <a:prstGeom prst="rect">
            <a:avLst/>
          </a:prstGeom>
        </p:spPr>
      </p:pic>
    </p:spTree>
    <p:extLst>
      <p:ext uri="{BB962C8B-B14F-4D97-AF65-F5344CB8AC3E}">
        <p14:creationId xmlns:p14="http://schemas.microsoft.com/office/powerpoint/2010/main" val="31858023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Adopt Agile Workflow</a:t>
            </a:r>
            <a:endParaRPr lang="en-US" dirty="0"/>
          </a:p>
        </p:txBody>
      </p:sp>
      <p:pic>
        <p:nvPicPr>
          <p:cNvPr id="37" name="Picture 36"/>
          <p:cNvPicPr>
            <a:picLocks noChangeAspect="1"/>
          </p:cNvPicPr>
          <p:nvPr/>
        </p:nvPicPr>
        <p:blipFill>
          <a:blip r:embed="rId2"/>
          <a:stretch>
            <a:fillRect/>
          </a:stretch>
        </p:blipFill>
        <p:spPr>
          <a:xfrm>
            <a:off x="6096000" y="2290762"/>
            <a:ext cx="5455689" cy="3309937"/>
          </a:xfrm>
          <a:prstGeom prst="rect">
            <a:avLst/>
          </a:prstGeom>
          <a:ln>
            <a:noFill/>
          </a:ln>
          <a:effectLst>
            <a:outerShdw blurRad="292100" dist="139700" dir="2700000" algn="tl" rotWithShape="0">
              <a:srgbClr val="333333">
                <a:alpha val="65000"/>
              </a:srgbClr>
            </a:outerShdw>
          </a:effectLst>
        </p:spPr>
      </p:pic>
      <p:sp>
        <p:nvSpPr>
          <p:cNvPr id="38" name="TextBox 37"/>
          <p:cNvSpPr txBox="1"/>
          <p:nvPr/>
        </p:nvSpPr>
        <p:spPr>
          <a:xfrm>
            <a:off x="7097807" y="1715992"/>
            <a:ext cx="3452074" cy="369332"/>
          </a:xfrm>
          <a:prstGeom prst="rect">
            <a:avLst/>
          </a:prstGeom>
          <a:noFill/>
        </p:spPr>
        <p:txBody>
          <a:bodyPr wrap="square" rtlCol="0">
            <a:spAutoFit/>
          </a:bodyPr>
          <a:lstStyle/>
          <a:p>
            <a:pPr algn="ctr"/>
            <a:r>
              <a:rPr lang="en-US" u="sng" dirty="0" smtClean="0"/>
              <a:t>KANBAN Board for AP242e3 EPIC</a:t>
            </a:r>
            <a:endParaRPr lang="en-US" u="sng" dirty="0"/>
          </a:p>
        </p:txBody>
      </p:sp>
      <p:pic>
        <p:nvPicPr>
          <p:cNvPr id="51" name="Picture 50"/>
          <p:cNvPicPr>
            <a:picLocks noChangeAspect="1"/>
          </p:cNvPicPr>
          <p:nvPr/>
        </p:nvPicPr>
        <p:blipFill>
          <a:blip r:embed="rId3"/>
          <a:stretch>
            <a:fillRect/>
          </a:stretch>
        </p:blipFill>
        <p:spPr>
          <a:xfrm>
            <a:off x="1054502" y="1709412"/>
            <a:ext cx="4308072" cy="4867366"/>
          </a:xfrm>
          <a:prstGeom prst="rect">
            <a:avLst/>
          </a:prstGeom>
          <a:ln>
            <a:noFill/>
          </a:ln>
          <a:effectLst>
            <a:outerShdw blurRad="292100" dist="139700" dir="2700000" algn="tl" rotWithShape="0">
              <a:srgbClr val="333333">
                <a:alpha val="65000"/>
              </a:srgbClr>
            </a:outerShdw>
          </a:effectLst>
        </p:spPr>
      </p:pic>
      <p:sp>
        <p:nvSpPr>
          <p:cNvPr id="40" name="TextBox 39"/>
          <p:cNvSpPr txBox="1"/>
          <p:nvPr/>
        </p:nvSpPr>
        <p:spPr>
          <a:xfrm>
            <a:off x="1398192" y="1340080"/>
            <a:ext cx="3452074" cy="369332"/>
          </a:xfrm>
          <a:prstGeom prst="rect">
            <a:avLst/>
          </a:prstGeom>
          <a:noFill/>
        </p:spPr>
        <p:txBody>
          <a:bodyPr wrap="square" rtlCol="0">
            <a:spAutoFit/>
          </a:bodyPr>
          <a:lstStyle/>
          <a:p>
            <a:pPr algn="ctr"/>
            <a:r>
              <a:rPr lang="en-US" u="sng" dirty="0" smtClean="0"/>
              <a:t>AP242e3 EPIC</a:t>
            </a:r>
            <a:endParaRPr lang="en-US" u="sng" dirty="0"/>
          </a:p>
        </p:txBody>
      </p:sp>
    </p:spTree>
    <p:extLst>
      <p:ext uri="{BB962C8B-B14F-4D97-AF65-F5344CB8AC3E}">
        <p14:creationId xmlns:p14="http://schemas.microsoft.com/office/powerpoint/2010/main" val="30629625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7411" y="561474"/>
            <a:ext cx="11409436" cy="896604"/>
          </a:xfrm>
        </p:spPr>
        <p:txBody>
          <a:bodyPr>
            <a:normAutofit/>
          </a:bodyPr>
          <a:lstStyle/>
          <a:p>
            <a:r>
              <a:rPr lang="en-US" sz="4000" dirty="0"/>
              <a:t>Part 3: Source Code Management of ISO 10303 models</a:t>
            </a:r>
          </a:p>
        </p:txBody>
      </p:sp>
      <p:pic>
        <p:nvPicPr>
          <p:cNvPr id="5" name="Picture 4"/>
          <p:cNvPicPr>
            <a:picLocks noChangeAspect="1"/>
          </p:cNvPicPr>
          <p:nvPr/>
        </p:nvPicPr>
        <p:blipFill>
          <a:blip r:embed="rId2"/>
          <a:stretch>
            <a:fillRect/>
          </a:stretch>
        </p:blipFill>
        <p:spPr>
          <a:xfrm>
            <a:off x="2087657" y="2183304"/>
            <a:ext cx="3601525" cy="2696828"/>
          </a:xfrm>
          <a:prstGeom prst="rect">
            <a:avLst/>
          </a:prstGeom>
        </p:spPr>
      </p:pic>
      <p:pic>
        <p:nvPicPr>
          <p:cNvPr id="6" name="Picture 5"/>
          <p:cNvPicPr>
            <a:picLocks noChangeAspect="1"/>
          </p:cNvPicPr>
          <p:nvPr/>
        </p:nvPicPr>
        <p:blipFill>
          <a:blip r:embed="rId3"/>
          <a:stretch>
            <a:fillRect/>
          </a:stretch>
        </p:blipFill>
        <p:spPr>
          <a:xfrm>
            <a:off x="6192254" y="2189365"/>
            <a:ext cx="3593431" cy="2690767"/>
          </a:xfrm>
          <a:prstGeom prst="rect">
            <a:avLst/>
          </a:prstGeom>
        </p:spPr>
      </p:pic>
      <p:sp>
        <p:nvSpPr>
          <p:cNvPr id="7" name="TextBox 6"/>
          <p:cNvSpPr txBox="1"/>
          <p:nvPr/>
        </p:nvSpPr>
        <p:spPr>
          <a:xfrm>
            <a:off x="764427" y="5264759"/>
            <a:ext cx="11182420" cy="923330"/>
          </a:xfrm>
          <a:prstGeom prst="rect">
            <a:avLst/>
          </a:prstGeom>
          <a:noFill/>
        </p:spPr>
        <p:txBody>
          <a:bodyPr wrap="none" rtlCol="0">
            <a:spAutoFit/>
          </a:bodyPr>
          <a:lstStyle/>
          <a:p>
            <a:r>
              <a:rPr lang="en-US" dirty="0" smtClean="0"/>
              <a:t>Populated </a:t>
            </a:r>
            <a:r>
              <a:rPr lang="en-US" dirty="0" err="1" smtClean="0"/>
              <a:t>STEPDev</a:t>
            </a:r>
            <a:r>
              <a:rPr lang="en-US" dirty="0" smtClean="0"/>
              <a:t> repository with scripts and utilities that perform the automated quality checks of ISO 10303.</a:t>
            </a:r>
          </a:p>
          <a:p>
            <a:r>
              <a:rPr lang="en-US" dirty="0" smtClean="0"/>
              <a:t>Used GIT as a source code repository and demonstrated configuration control.</a:t>
            </a:r>
          </a:p>
          <a:p>
            <a:r>
              <a:rPr lang="en-US" dirty="0" smtClean="0"/>
              <a:t>Data conversion (CVS to GIT) required to convert from CVS STEPMOD to GIT STEPMOD, required task for production.</a:t>
            </a:r>
            <a:endParaRPr lang="en-US" dirty="0"/>
          </a:p>
        </p:txBody>
      </p:sp>
      <p:sp>
        <p:nvSpPr>
          <p:cNvPr id="3" name="TextBox 2"/>
          <p:cNvSpPr txBox="1"/>
          <p:nvPr/>
        </p:nvSpPr>
        <p:spPr>
          <a:xfrm>
            <a:off x="2959769" y="1752330"/>
            <a:ext cx="2004203" cy="369332"/>
          </a:xfrm>
          <a:prstGeom prst="rect">
            <a:avLst/>
          </a:prstGeom>
          <a:noFill/>
        </p:spPr>
        <p:txBody>
          <a:bodyPr wrap="none" rtlCol="0">
            <a:spAutoFit/>
          </a:bodyPr>
          <a:lstStyle/>
          <a:p>
            <a:r>
              <a:rPr lang="en-US" dirty="0" smtClean="0"/>
              <a:t>Model Repositories</a:t>
            </a:r>
            <a:endParaRPr lang="en-US" dirty="0"/>
          </a:p>
        </p:txBody>
      </p:sp>
      <p:sp>
        <p:nvSpPr>
          <p:cNvPr id="8" name="TextBox 7"/>
          <p:cNvSpPr txBox="1"/>
          <p:nvPr/>
        </p:nvSpPr>
        <p:spPr>
          <a:xfrm>
            <a:off x="5943601" y="1752330"/>
            <a:ext cx="4433971" cy="369332"/>
          </a:xfrm>
          <a:prstGeom prst="rect">
            <a:avLst/>
          </a:prstGeom>
          <a:noFill/>
        </p:spPr>
        <p:txBody>
          <a:bodyPr wrap="none" rtlCol="0">
            <a:spAutoFit/>
          </a:bodyPr>
          <a:lstStyle/>
          <a:p>
            <a:r>
              <a:rPr lang="en-US" dirty="0" smtClean="0"/>
              <a:t>Code files in one Repository with traceability</a:t>
            </a:r>
            <a:endParaRPr lang="en-US" dirty="0"/>
          </a:p>
        </p:txBody>
      </p:sp>
    </p:spTree>
    <p:extLst>
      <p:ext uri="{BB962C8B-B14F-4D97-AF65-F5344CB8AC3E}">
        <p14:creationId xmlns:p14="http://schemas.microsoft.com/office/powerpoint/2010/main" val="19322488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Recommendations</a:t>
            </a:r>
            <a:endParaRPr lang="en-US" dirty="0"/>
          </a:p>
        </p:txBody>
      </p:sp>
      <p:sp>
        <p:nvSpPr>
          <p:cNvPr id="3" name="Content Placeholder 2"/>
          <p:cNvSpPr>
            <a:spLocks noGrp="1"/>
          </p:cNvSpPr>
          <p:nvPr>
            <p:ph idx="1"/>
          </p:nvPr>
        </p:nvSpPr>
        <p:spPr>
          <a:xfrm>
            <a:off x="501485" y="4851665"/>
            <a:ext cx="4322261" cy="1932542"/>
          </a:xfrm>
        </p:spPr>
        <p:txBody>
          <a:bodyPr>
            <a:noAutofit/>
          </a:bodyPr>
          <a:lstStyle/>
          <a:p>
            <a:r>
              <a:rPr lang="en-US" sz="1400" dirty="0" smtClean="0"/>
              <a:t>ISO/TC 184/SC 4 recommends the following actions from this work</a:t>
            </a:r>
          </a:p>
          <a:p>
            <a:pPr lvl="1"/>
            <a:r>
              <a:rPr lang="en-US" sz="1200" dirty="0" smtClean="0"/>
              <a:t>Move ISO JIRA and ISO GIT from pilot status to production</a:t>
            </a:r>
          </a:p>
          <a:p>
            <a:pPr lvl="1"/>
            <a:r>
              <a:rPr lang="en-US" sz="1200" dirty="0" smtClean="0"/>
              <a:t>Support ISO/TC 184/SC 4 with a production data conversion of JIRA and GIT supporting ISO 10303-242 ed3 (end of 2019 forecast)</a:t>
            </a:r>
          </a:p>
          <a:p>
            <a:pPr lvl="1"/>
            <a:endParaRPr lang="en-US" sz="1400" dirty="0" smtClean="0"/>
          </a:p>
          <a:p>
            <a:pPr lvl="1"/>
            <a:endParaRPr lang="en-US" sz="1400" dirty="0" smtClean="0"/>
          </a:p>
          <a:p>
            <a:pPr lvl="1"/>
            <a:endParaRPr lang="en-US" sz="1400" dirty="0"/>
          </a:p>
        </p:txBody>
      </p:sp>
      <p:pic>
        <p:nvPicPr>
          <p:cNvPr id="8" name="Picture 7"/>
          <p:cNvPicPr>
            <a:picLocks noChangeAspect="1"/>
          </p:cNvPicPr>
          <p:nvPr/>
        </p:nvPicPr>
        <p:blipFill>
          <a:blip r:embed="rId2"/>
          <a:stretch>
            <a:fillRect/>
          </a:stretch>
        </p:blipFill>
        <p:spPr>
          <a:xfrm>
            <a:off x="1717972" y="3065457"/>
            <a:ext cx="7251105" cy="1832656"/>
          </a:xfrm>
          <a:prstGeom prst="rect">
            <a:avLst/>
          </a:prstGeom>
        </p:spPr>
      </p:pic>
      <p:sp>
        <p:nvSpPr>
          <p:cNvPr id="10" name="TextBox 9"/>
          <p:cNvSpPr txBox="1"/>
          <p:nvPr/>
        </p:nvSpPr>
        <p:spPr>
          <a:xfrm>
            <a:off x="8969077" y="4040494"/>
            <a:ext cx="1216487" cy="369332"/>
          </a:xfrm>
          <a:prstGeom prst="rect">
            <a:avLst/>
          </a:prstGeom>
          <a:noFill/>
        </p:spPr>
        <p:txBody>
          <a:bodyPr wrap="none" rtlCol="0">
            <a:spAutoFit/>
          </a:bodyPr>
          <a:lstStyle/>
          <a:p>
            <a:r>
              <a:rPr lang="en-US" dirty="0" smtClean="0"/>
              <a:t>Production</a:t>
            </a:r>
            <a:endParaRPr lang="en-US" dirty="0"/>
          </a:p>
        </p:txBody>
      </p:sp>
      <p:sp>
        <p:nvSpPr>
          <p:cNvPr id="13" name="TextBox 12"/>
          <p:cNvSpPr txBox="1"/>
          <p:nvPr/>
        </p:nvSpPr>
        <p:spPr>
          <a:xfrm>
            <a:off x="7355306" y="3182876"/>
            <a:ext cx="2154116" cy="369332"/>
          </a:xfrm>
          <a:prstGeom prst="rect">
            <a:avLst/>
          </a:prstGeom>
          <a:noFill/>
        </p:spPr>
        <p:txBody>
          <a:bodyPr wrap="none" rtlCol="0">
            <a:spAutoFit/>
          </a:bodyPr>
          <a:lstStyle/>
          <a:p>
            <a:r>
              <a:rPr lang="en-US" dirty="0" smtClean="0"/>
              <a:t>Development branch</a:t>
            </a:r>
            <a:endParaRPr lang="en-US" dirty="0"/>
          </a:p>
        </p:txBody>
      </p:sp>
      <p:sp>
        <p:nvSpPr>
          <p:cNvPr id="14" name="TextBox 13"/>
          <p:cNvSpPr txBox="1"/>
          <p:nvPr/>
        </p:nvSpPr>
        <p:spPr>
          <a:xfrm>
            <a:off x="8091486" y="3544219"/>
            <a:ext cx="2743572" cy="369332"/>
          </a:xfrm>
          <a:prstGeom prst="rect">
            <a:avLst/>
          </a:prstGeom>
          <a:noFill/>
        </p:spPr>
        <p:txBody>
          <a:bodyPr wrap="none" rtlCol="0">
            <a:spAutoFit/>
          </a:bodyPr>
          <a:lstStyle/>
          <a:p>
            <a:r>
              <a:rPr lang="en-US" dirty="0" smtClean="0"/>
              <a:t>Testing &amp; Validation branch</a:t>
            </a:r>
            <a:endParaRPr lang="en-US" dirty="0"/>
          </a:p>
        </p:txBody>
      </p:sp>
      <p:pic>
        <p:nvPicPr>
          <p:cNvPr id="15" name="Picture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91666" y="3163641"/>
            <a:ext cx="308610" cy="254783"/>
          </a:xfrm>
          <a:prstGeom prst="rect">
            <a:avLst/>
          </a:prstGeom>
        </p:spPr>
      </p:pic>
      <p:pic>
        <p:nvPicPr>
          <p:cNvPr id="16" name="Picture 1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173877" y="3604089"/>
            <a:ext cx="319052" cy="263403"/>
          </a:xfrm>
          <a:prstGeom prst="rect">
            <a:avLst/>
          </a:prstGeom>
        </p:spPr>
      </p:pic>
      <p:pic>
        <p:nvPicPr>
          <p:cNvPr id="17" name="Picture 1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919064" y="3182876"/>
            <a:ext cx="336760" cy="278023"/>
          </a:xfrm>
          <a:prstGeom prst="rect">
            <a:avLst/>
          </a:prstGeom>
        </p:spPr>
      </p:pic>
      <p:sp>
        <p:nvSpPr>
          <p:cNvPr id="18" name="TextBox 17"/>
          <p:cNvSpPr txBox="1"/>
          <p:nvPr/>
        </p:nvSpPr>
        <p:spPr>
          <a:xfrm>
            <a:off x="3286486" y="2609414"/>
            <a:ext cx="2057038" cy="369332"/>
          </a:xfrm>
          <a:prstGeom prst="rect">
            <a:avLst/>
          </a:prstGeom>
          <a:noFill/>
        </p:spPr>
        <p:txBody>
          <a:bodyPr wrap="none" rtlCol="0">
            <a:spAutoFit/>
          </a:bodyPr>
          <a:lstStyle/>
          <a:p>
            <a:r>
              <a:rPr lang="en-US" u="sng" dirty="0" smtClean="0"/>
              <a:t>Capability Roadmap</a:t>
            </a:r>
            <a:endParaRPr lang="en-US" u="sng" dirty="0"/>
          </a:p>
        </p:txBody>
      </p:sp>
      <p:sp>
        <p:nvSpPr>
          <p:cNvPr id="7" name="TextBox 6"/>
          <p:cNvSpPr txBox="1"/>
          <p:nvPr/>
        </p:nvSpPr>
        <p:spPr>
          <a:xfrm>
            <a:off x="5427789" y="1413510"/>
            <a:ext cx="6076535" cy="1107996"/>
          </a:xfrm>
          <a:prstGeom prst="rect">
            <a:avLst/>
          </a:prstGeom>
          <a:noFill/>
        </p:spPr>
        <p:txBody>
          <a:bodyPr wrap="square" rtlCol="0">
            <a:spAutoFit/>
          </a:bodyPr>
          <a:lstStyle/>
          <a:p>
            <a:pPr marL="285750" indent="-285750">
              <a:buFont typeface="Arial" panose="020B0604020202020204" pitchFamily="34" charset="0"/>
              <a:buChar char="•"/>
            </a:pPr>
            <a:r>
              <a:rPr lang="en-US" sz="1600" dirty="0"/>
              <a:t>ISO/TC 184/SC 4 will take the action to propose a Living Lab project to the LL TF </a:t>
            </a:r>
            <a:r>
              <a:rPr lang="en-US" sz="1600" dirty="0" smtClean="0"/>
              <a:t>demonstrating Atlassian </a:t>
            </a:r>
            <a:r>
              <a:rPr lang="en-US" sz="1600" dirty="0"/>
              <a:t>Bamboo </a:t>
            </a:r>
            <a:r>
              <a:rPr lang="en-US" sz="1600" dirty="0" smtClean="0"/>
              <a:t>as a continuous </a:t>
            </a:r>
            <a:r>
              <a:rPr lang="en-US" sz="1600" dirty="0"/>
              <a:t>integration </a:t>
            </a:r>
            <a:r>
              <a:rPr lang="en-US" sz="1600" dirty="0" smtClean="0"/>
              <a:t>solution with </a:t>
            </a:r>
            <a:r>
              <a:rPr lang="en-US" sz="1600" dirty="0"/>
              <a:t>ISO 10303</a:t>
            </a:r>
          </a:p>
          <a:p>
            <a:endParaRPr lang="en-US" sz="1600" dirty="0"/>
          </a:p>
        </p:txBody>
      </p:sp>
      <p:cxnSp>
        <p:nvCxnSpPr>
          <p:cNvPr id="20" name="Straight Arrow Connector 19"/>
          <p:cNvCxnSpPr/>
          <p:nvPr/>
        </p:nvCxnSpPr>
        <p:spPr>
          <a:xfrm flipV="1">
            <a:off x="4667250" y="4327282"/>
            <a:ext cx="1364582" cy="11147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flipH="1">
            <a:off x="5615606" y="2297549"/>
            <a:ext cx="901500" cy="10923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050" name="Picture 2" descr="Image result for cycle flow"/>
          <p:cNvPicPr>
            <a:picLocks noChangeAspect="1" noChangeArrowheads="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594858" y="3604089"/>
            <a:ext cx="503659" cy="503659"/>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2" descr="Image result for cycle flow"/>
          <p:cNvPicPr>
            <a:picLocks noChangeAspect="1" noChangeArrowheads="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063175" y="3604090"/>
            <a:ext cx="503659" cy="5036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68670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STEP Short </a:t>
            </a:r>
            <a:r>
              <a:rPr lang="en-US" dirty="0" smtClean="0"/>
              <a:t>to Long Form Transition</a:t>
            </a:r>
            <a:endParaRPr lang="en-US" dirty="0"/>
          </a:p>
        </p:txBody>
      </p:sp>
      <p:sp>
        <p:nvSpPr>
          <p:cNvPr id="3" name="Content Placeholder 2"/>
          <p:cNvSpPr>
            <a:spLocks noGrp="1"/>
          </p:cNvSpPr>
          <p:nvPr>
            <p:ph idx="1"/>
          </p:nvPr>
        </p:nvSpPr>
        <p:spPr/>
        <p:txBody>
          <a:bodyPr>
            <a:normAutofit fontScale="92500" lnSpcReduction="10000"/>
          </a:bodyPr>
          <a:lstStyle/>
          <a:p>
            <a:r>
              <a:rPr lang="en-US" dirty="0"/>
              <a:t>Requirements:</a:t>
            </a:r>
          </a:p>
          <a:p>
            <a:pPr lvl="1"/>
            <a:r>
              <a:rPr lang="en-US" dirty="0"/>
              <a:t>Generate a LF per ISO 10303-11 Annex G</a:t>
            </a:r>
          </a:p>
          <a:p>
            <a:pPr lvl="1"/>
            <a:r>
              <a:rPr lang="en-US" dirty="0"/>
              <a:t>Open Source </a:t>
            </a:r>
            <a:endParaRPr lang="en-US" dirty="0" smtClean="0"/>
          </a:p>
          <a:p>
            <a:pPr lvl="2"/>
            <a:r>
              <a:rPr lang="en-US" dirty="0" smtClean="0"/>
              <a:t>Community can assist in the development </a:t>
            </a:r>
            <a:r>
              <a:rPr lang="en-US" smtClean="0"/>
              <a:t>of enhancements/improvements/bug fixes</a:t>
            </a:r>
            <a:endParaRPr lang="en-US" dirty="0"/>
          </a:p>
          <a:p>
            <a:pPr lvl="1"/>
            <a:r>
              <a:rPr lang="en-US" dirty="0"/>
              <a:t>Multi-Platform [x86, Amd64, Arm64, Windows, Linux. Etc.]</a:t>
            </a:r>
          </a:p>
          <a:p>
            <a:pPr lvl="1"/>
            <a:r>
              <a:rPr lang="en-US" dirty="0" smtClean="0"/>
              <a:t>Continuous Integration Ready</a:t>
            </a:r>
          </a:p>
          <a:p>
            <a:pPr lvl="2"/>
            <a:r>
              <a:rPr lang="en-US" dirty="0" smtClean="0"/>
              <a:t>Speeds integration analysis</a:t>
            </a:r>
          </a:p>
          <a:p>
            <a:pPr lvl="2"/>
            <a:r>
              <a:rPr lang="en-US" dirty="0" smtClean="0"/>
              <a:t>Reduces Patches</a:t>
            </a:r>
          </a:p>
          <a:p>
            <a:pPr lvl="0"/>
            <a:r>
              <a:rPr lang="en-US" dirty="0"/>
              <a:t>Express Engine is already part of the process </a:t>
            </a:r>
            <a:r>
              <a:rPr lang="en-US" dirty="0" smtClean="0"/>
              <a:t>pipeline</a:t>
            </a:r>
            <a:r>
              <a:rPr lang="en-US" dirty="0"/>
              <a:t> </a:t>
            </a:r>
            <a:r>
              <a:rPr lang="en-US" dirty="0" smtClean="0"/>
              <a:t>for checking, graphing for visualization, comparing, etc.</a:t>
            </a:r>
          </a:p>
          <a:p>
            <a:pPr lvl="0"/>
            <a:r>
              <a:rPr lang="en-US" dirty="0" smtClean="0"/>
              <a:t>Express Engine is part way through the development process </a:t>
            </a:r>
            <a:r>
              <a:rPr lang="en-US" dirty="0"/>
              <a:t>that creates a basic Long Form. </a:t>
            </a:r>
            <a:endParaRPr lang="en-US" dirty="0" smtClean="0"/>
          </a:p>
        </p:txBody>
      </p:sp>
    </p:spTree>
    <p:extLst>
      <p:ext uri="{BB962C8B-B14F-4D97-AF65-F5344CB8AC3E}">
        <p14:creationId xmlns:p14="http://schemas.microsoft.com/office/powerpoint/2010/main" val="33941492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Developer Analysis of Progress</a:t>
            </a:r>
            <a:endParaRPr lang="en-US" dirty="0"/>
          </a:p>
        </p:txBody>
      </p:sp>
      <p:sp>
        <p:nvSpPr>
          <p:cNvPr id="3" name="Content Placeholder 2"/>
          <p:cNvSpPr>
            <a:spLocks noGrp="1"/>
          </p:cNvSpPr>
          <p:nvPr>
            <p:ph idx="1"/>
          </p:nvPr>
        </p:nvSpPr>
        <p:spPr>
          <a:xfrm>
            <a:off x="838200" y="1825625"/>
            <a:ext cx="4812957" cy="4351338"/>
          </a:xfrm>
        </p:spPr>
        <p:txBody>
          <a:bodyPr>
            <a:normAutofit/>
          </a:bodyPr>
          <a:lstStyle/>
          <a:p>
            <a:pPr marL="0" indent="0">
              <a:buNone/>
            </a:pPr>
            <a:r>
              <a:rPr lang="en-US" sz="1800" b="1" u="sng" dirty="0" smtClean="0"/>
              <a:t>Ready for Test:</a:t>
            </a:r>
          </a:p>
          <a:p>
            <a:r>
              <a:rPr lang="en-US" sz="1800" dirty="0" smtClean="0"/>
              <a:t>Create </a:t>
            </a:r>
            <a:r>
              <a:rPr lang="en-US" sz="1800" dirty="0"/>
              <a:t>new Longform schema</a:t>
            </a:r>
          </a:p>
          <a:p>
            <a:r>
              <a:rPr lang="en-US" sz="1800" dirty="0" smtClean="0"/>
              <a:t>Add </a:t>
            </a:r>
            <a:r>
              <a:rPr lang="en-US" sz="1800" dirty="0"/>
              <a:t>contents of </a:t>
            </a:r>
            <a:r>
              <a:rPr lang="en-US" sz="1800" dirty="0" err="1"/>
              <a:t>Shortform</a:t>
            </a:r>
            <a:r>
              <a:rPr lang="en-US" sz="1800" dirty="0"/>
              <a:t> schema</a:t>
            </a:r>
          </a:p>
          <a:p>
            <a:r>
              <a:rPr lang="en-US" sz="1800" dirty="0" smtClean="0"/>
              <a:t>Add </a:t>
            </a:r>
            <a:r>
              <a:rPr lang="en-US" sz="1800" dirty="0"/>
              <a:t>USE resources</a:t>
            </a:r>
          </a:p>
          <a:p>
            <a:r>
              <a:rPr lang="en-US" sz="1800" dirty="0" smtClean="0"/>
              <a:t>Add </a:t>
            </a:r>
            <a:r>
              <a:rPr lang="en-US" sz="1800" dirty="0"/>
              <a:t>REFERENCE resources</a:t>
            </a:r>
          </a:p>
          <a:p>
            <a:r>
              <a:rPr lang="en-US" sz="1800" dirty="0" smtClean="0"/>
              <a:t>Add </a:t>
            </a:r>
            <a:r>
              <a:rPr lang="en-US" sz="1800" dirty="0"/>
              <a:t>Implicit resources</a:t>
            </a:r>
          </a:p>
          <a:p>
            <a:r>
              <a:rPr lang="en-US" sz="1800" dirty="0" smtClean="0"/>
              <a:t>Conversion </a:t>
            </a:r>
            <a:r>
              <a:rPr lang="en-US" sz="1800" dirty="0"/>
              <a:t>of Extensible ENUMERATION </a:t>
            </a:r>
            <a:endParaRPr lang="en-US" sz="1800" dirty="0" smtClean="0"/>
          </a:p>
          <a:p>
            <a:r>
              <a:rPr lang="en-US" sz="1800" dirty="0" smtClean="0"/>
              <a:t>Conversion </a:t>
            </a:r>
            <a:r>
              <a:rPr lang="en-US" sz="1800" dirty="0"/>
              <a:t>of Extensible </a:t>
            </a:r>
            <a:r>
              <a:rPr lang="en-US" sz="1800" dirty="0" smtClean="0"/>
              <a:t>SELECT</a:t>
            </a:r>
          </a:p>
          <a:p>
            <a:r>
              <a:rPr lang="en-US" sz="1800" dirty="0" smtClean="0"/>
              <a:t>Pretty </a:t>
            </a:r>
            <a:r>
              <a:rPr lang="en-US" sz="1800" dirty="0"/>
              <a:t>Print resulting Longform </a:t>
            </a:r>
            <a:r>
              <a:rPr lang="en-US" sz="1800" dirty="0" smtClean="0"/>
              <a:t>Schema</a:t>
            </a:r>
          </a:p>
        </p:txBody>
      </p:sp>
      <p:sp>
        <p:nvSpPr>
          <p:cNvPr id="5" name="Content Placeholder 2"/>
          <p:cNvSpPr txBox="1">
            <a:spLocks/>
          </p:cNvSpPr>
          <p:nvPr/>
        </p:nvSpPr>
        <p:spPr>
          <a:xfrm>
            <a:off x="6287530" y="1825625"/>
            <a:ext cx="4812957"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b="1" u="sng" dirty="0" smtClean="0"/>
              <a:t>In-Development:</a:t>
            </a:r>
          </a:p>
          <a:p>
            <a:r>
              <a:rPr lang="en-US" sz="1800" dirty="0" smtClean="0"/>
              <a:t>Conversion </a:t>
            </a:r>
            <a:r>
              <a:rPr lang="en-US" sz="1800" dirty="0"/>
              <a:t>of Attributes RENAMED in a </a:t>
            </a:r>
            <a:r>
              <a:rPr lang="en-US" sz="1800" dirty="0" smtClean="0"/>
              <a:t>Re-declaration </a:t>
            </a:r>
            <a:endParaRPr lang="en-US" sz="1800" dirty="0"/>
          </a:p>
          <a:p>
            <a:pPr marL="0" indent="0">
              <a:buFont typeface="Arial" panose="020B0604020202020204" pitchFamily="34" charset="0"/>
              <a:buNone/>
            </a:pPr>
            <a:endParaRPr lang="en-US" sz="1800" dirty="0" smtClean="0"/>
          </a:p>
          <a:p>
            <a:pPr marL="0" indent="0">
              <a:buFont typeface="Arial" panose="020B0604020202020204" pitchFamily="34" charset="0"/>
              <a:buNone/>
            </a:pPr>
            <a:r>
              <a:rPr lang="en-US" sz="1800" b="1" u="sng" dirty="0" smtClean="0"/>
              <a:t>To Do:</a:t>
            </a:r>
          </a:p>
          <a:p>
            <a:r>
              <a:rPr lang="en-US" sz="1800" dirty="0" smtClean="0"/>
              <a:t>Prune Unused items</a:t>
            </a:r>
          </a:p>
          <a:p>
            <a:r>
              <a:rPr lang="en-US" sz="1800" dirty="0" smtClean="0"/>
              <a:t>Conversion of SUBTYPE_CONSTRAINT</a:t>
            </a:r>
          </a:p>
          <a:p>
            <a:r>
              <a:rPr lang="en-US" sz="1800" dirty="0" smtClean="0"/>
              <a:t>Conversion of Abstract Entity and Generalized Types </a:t>
            </a:r>
          </a:p>
          <a:p>
            <a:endParaRPr lang="en-US" sz="1800" dirty="0"/>
          </a:p>
        </p:txBody>
      </p:sp>
    </p:spTree>
    <p:extLst>
      <p:ext uri="{BB962C8B-B14F-4D97-AF65-F5344CB8AC3E}">
        <p14:creationId xmlns:p14="http://schemas.microsoft.com/office/powerpoint/2010/main" val="25906631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a:t>
            </a:r>
            <a:endParaRPr lang="en-US" dirty="0"/>
          </a:p>
        </p:txBody>
      </p:sp>
      <p:sp>
        <p:nvSpPr>
          <p:cNvPr id="3" name="Content Placeholder 2"/>
          <p:cNvSpPr>
            <a:spLocks noGrp="1"/>
          </p:cNvSpPr>
          <p:nvPr>
            <p:ph idx="1"/>
          </p:nvPr>
        </p:nvSpPr>
        <p:spPr/>
        <p:txBody>
          <a:bodyPr>
            <a:normAutofit/>
          </a:bodyPr>
          <a:lstStyle/>
          <a:p>
            <a:r>
              <a:rPr lang="en-US" sz="2000" dirty="0" smtClean="0"/>
              <a:t>Proved migration of Bugzilla bugs to JIRA Issues [along with workflow]</a:t>
            </a:r>
          </a:p>
          <a:p>
            <a:r>
              <a:rPr lang="en-US" sz="2000" dirty="0" smtClean="0"/>
              <a:t>Proved use of </a:t>
            </a:r>
            <a:r>
              <a:rPr lang="en-US" sz="2000" dirty="0" err="1" smtClean="0"/>
              <a:t>STEPDev</a:t>
            </a:r>
            <a:r>
              <a:rPr lang="en-US" sz="2000" dirty="0" smtClean="0"/>
              <a:t> GIT repository for STEP development tools</a:t>
            </a:r>
          </a:p>
          <a:p>
            <a:r>
              <a:rPr lang="en-US" sz="2000" dirty="0" smtClean="0"/>
              <a:t>ISO IT piloting Living Lab until end of 2019</a:t>
            </a:r>
          </a:p>
          <a:p>
            <a:endParaRPr lang="en-US" sz="2000" dirty="0" smtClean="0"/>
          </a:p>
          <a:p>
            <a:pPr marL="0" indent="0">
              <a:buNone/>
            </a:pPr>
            <a:r>
              <a:rPr lang="en-US" sz="2000" dirty="0" smtClean="0"/>
              <a:t>To do in 2019:</a:t>
            </a:r>
          </a:p>
          <a:p>
            <a:r>
              <a:rPr lang="en-US" sz="2000" dirty="0" smtClean="0"/>
              <a:t>Establish Agile Workflow with new JIRA objects</a:t>
            </a:r>
          </a:p>
          <a:p>
            <a:r>
              <a:rPr lang="en-US" sz="2000" dirty="0" smtClean="0"/>
              <a:t>Finish 10303-11 Annex G Implementation of Long Form generation in Express Engine</a:t>
            </a:r>
          </a:p>
          <a:p>
            <a:r>
              <a:rPr lang="en-US" sz="2000" dirty="0" smtClean="0"/>
              <a:t>CVS to GIT Migration:</a:t>
            </a:r>
          </a:p>
          <a:p>
            <a:pPr lvl="1"/>
            <a:r>
              <a:rPr lang="en-US" sz="1800" dirty="0" smtClean="0"/>
              <a:t>Investigate the cvs2git migration tools to complete migration of STEPMOD source code.</a:t>
            </a:r>
          </a:p>
          <a:p>
            <a:pPr lvl="1"/>
            <a:r>
              <a:rPr lang="en-US" sz="1800" dirty="0" smtClean="0"/>
              <a:t>Design changes to development/publication workflow [e.g., branching]</a:t>
            </a:r>
          </a:p>
          <a:p>
            <a:r>
              <a:rPr lang="en-US" sz="2000" dirty="0" smtClean="0"/>
              <a:t>Move </a:t>
            </a:r>
            <a:r>
              <a:rPr lang="en-US" sz="2000" dirty="0" err="1" smtClean="0"/>
              <a:t>STEPLib</a:t>
            </a:r>
            <a:r>
              <a:rPr lang="en-US" sz="2000" dirty="0" smtClean="0"/>
              <a:t> [AP243, AP242/239 Domain/Core Model]</a:t>
            </a:r>
          </a:p>
          <a:p>
            <a:endParaRPr lang="en-US" sz="2000" dirty="0"/>
          </a:p>
        </p:txBody>
      </p:sp>
    </p:spTree>
    <p:extLst>
      <p:ext uri="{BB962C8B-B14F-4D97-AF65-F5344CB8AC3E}">
        <p14:creationId xmlns:p14="http://schemas.microsoft.com/office/powerpoint/2010/main" val="24362931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solidFill>
                  <a:srgbClr val="0070C0"/>
                </a:solidFill>
                <a:latin typeface="MetaPro-Light"/>
              </a:rPr>
              <a:t>ISO/TC 184/SC 4 - Industrial Data</a:t>
            </a:r>
            <a:endParaRPr lang="en-US" dirty="0"/>
          </a:p>
        </p:txBody>
      </p:sp>
      <p:sp>
        <p:nvSpPr>
          <p:cNvPr id="5" name="Content Placeholder 4"/>
          <p:cNvSpPr>
            <a:spLocks noGrp="1"/>
          </p:cNvSpPr>
          <p:nvPr>
            <p:ph idx="1"/>
          </p:nvPr>
        </p:nvSpPr>
        <p:spPr>
          <a:xfrm>
            <a:off x="838199" y="1825625"/>
            <a:ext cx="6048375" cy="4351338"/>
          </a:xfrm>
        </p:spPr>
        <p:txBody>
          <a:bodyPr>
            <a:normAutofit/>
          </a:bodyPr>
          <a:lstStyle/>
          <a:p>
            <a:pPr marL="0" indent="0">
              <a:spcBef>
                <a:spcPts val="0"/>
              </a:spcBef>
              <a:buNone/>
            </a:pPr>
            <a:r>
              <a:rPr lang="en-US" sz="1200" b="1" dirty="0">
                <a:latin typeface="MetaPro-Light"/>
              </a:rPr>
              <a:t>Brandon </a:t>
            </a:r>
            <a:r>
              <a:rPr lang="en-US" sz="1200" b="1" dirty="0" smtClean="0">
                <a:latin typeface="MetaPro-Light"/>
              </a:rPr>
              <a:t>Sapp</a:t>
            </a:r>
            <a:r>
              <a:rPr lang="en-US" sz="1200" b="1" dirty="0">
                <a:latin typeface="MetaPro-Light"/>
              </a:rPr>
              <a:t> </a:t>
            </a:r>
            <a:r>
              <a:rPr lang="en-US" sz="1200" dirty="0" smtClean="0">
                <a:latin typeface="MetaPro-Light"/>
              </a:rPr>
              <a:t>|</a:t>
            </a:r>
            <a:r>
              <a:rPr lang="en-US" sz="1200" b="1" dirty="0" smtClean="0">
                <a:latin typeface="MetaPro-Light"/>
              </a:rPr>
              <a:t> </a:t>
            </a:r>
            <a:r>
              <a:rPr lang="en-US" sz="1200" i="1" dirty="0" smtClean="0">
                <a:latin typeface="MetaPro-Light"/>
              </a:rPr>
              <a:t>The </a:t>
            </a:r>
            <a:r>
              <a:rPr lang="en-US" sz="1200" i="1" dirty="0">
                <a:latin typeface="MetaPro-Light"/>
              </a:rPr>
              <a:t>Boeing Company </a:t>
            </a:r>
            <a:endParaRPr lang="en-US" sz="1200" i="1" dirty="0" smtClean="0">
              <a:latin typeface="MetaPro-Light"/>
            </a:endParaRPr>
          </a:p>
          <a:p>
            <a:pPr marL="0" indent="0">
              <a:spcBef>
                <a:spcPts val="0"/>
              </a:spcBef>
              <a:buNone/>
            </a:pPr>
            <a:r>
              <a:rPr lang="en-US" sz="1200" b="1" dirty="0" smtClean="0">
                <a:latin typeface="MetaPro-Light"/>
              </a:rPr>
              <a:t>Address</a:t>
            </a:r>
            <a:r>
              <a:rPr lang="en-US" sz="1200" dirty="0" smtClean="0">
                <a:latin typeface="MetaPro-Light"/>
              </a:rPr>
              <a:t>: 9902 24</a:t>
            </a:r>
            <a:r>
              <a:rPr lang="en-US" sz="1200" baseline="30000" dirty="0" smtClean="0">
                <a:latin typeface="MetaPro-Light"/>
              </a:rPr>
              <a:t>th</a:t>
            </a:r>
            <a:r>
              <a:rPr lang="en-US" sz="1200" dirty="0" smtClean="0">
                <a:latin typeface="MetaPro-Light"/>
              </a:rPr>
              <a:t> Place W., Everett, WA 98204-1404</a:t>
            </a:r>
            <a:endParaRPr lang="en-US" sz="1200" b="1" dirty="0" smtClean="0">
              <a:latin typeface="MetaPro-Light"/>
            </a:endParaRPr>
          </a:p>
          <a:p>
            <a:pPr marL="0" indent="0">
              <a:spcBef>
                <a:spcPts val="0"/>
              </a:spcBef>
              <a:buNone/>
            </a:pPr>
            <a:r>
              <a:rPr lang="en-US" sz="1200" b="1" dirty="0" smtClean="0">
                <a:latin typeface="MetaPro-Light"/>
              </a:rPr>
              <a:t>Mobile</a:t>
            </a:r>
            <a:r>
              <a:rPr lang="en-US" sz="1200" dirty="0" smtClean="0">
                <a:latin typeface="MetaPro-Light"/>
              </a:rPr>
              <a:t>: </a:t>
            </a:r>
            <a:r>
              <a:rPr lang="en-US" sz="1200" dirty="0">
                <a:latin typeface="MetaPro-Light"/>
              </a:rPr>
              <a:t>425.471.9712 | </a:t>
            </a:r>
            <a:r>
              <a:rPr lang="en-US" sz="1200" b="1" dirty="0" smtClean="0">
                <a:latin typeface="MetaPro-Light"/>
              </a:rPr>
              <a:t>Desk</a:t>
            </a:r>
            <a:r>
              <a:rPr lang="en-US" sz="1200" dirty="0" smtClean="0">
                <a:latin typeface="MetaPro-Light"/>
              </a:rPr>
              <a:t>: </a:t>
            </a:r>
            <a:r>
              <a:rPr lang="en-US" sz="1200" dirty="0">
                <a:latin typeface="MetaPro-Light"/>
              </a:rPr>
              <a:t>425-865-3111</a:t>
            </a:r>
          </a:p>
          <a:p>
            <a:pPr marL="0" indent="0">
              <a:spcBef>
                <a:spcPts val="0"/>
              </a:spcBef>
              <a:buNone/>
            </a:pPr>
            <a:r>
              <a:rPr lang="en-US" sz="1200" b="1" dirty="0" smtClean="0">
                <a:latin typeface="MetaPro-Light"/>
              </a:rPr>
              <a:t>Email</a:t>
            </a:r>
            <a:r>
              <a:rPr lang="en-US" sz="1200" dirty="0" smtClean="0">
                <a:latin typeface="MetaPro-Light"/>
              </a:rPr>
              <a:t>: </a:t>
            </a:r>
            <a:r>
              <a:rPr lang="en-US" sz="1200" dirty="0">
                <a:latin typeface="MetaPro-Light"/>
              </a:rPr>
              <a:t>brandon.sapp@boeing.com </a:t>
            </a:r>
            <a:endParaRPr lang="en-US" sz="1200" dirty="0" smtClean="0">
              <a:latin typeface="MetaPro-Light"/>
            </a:endParaRPr>
          </a:p>
          <a:p>
            <a:pPr marL="0" indent="0">
              <a:spcBef>
                <a:spcPts val="0"/>
              </a:spcBef>
              <a:buNone/>
            </a:pPr>
            <a:endParaRPr lang="en-US" sz="1200" dirty="0">
              <a:latin typeface="MetaPro-Light"/>
            </a:endParaRPr>
          </a:p>
          <a:p>
            <a:pPr marL="0" indent="0">
              <a:spcBef>
                <a:spcPts val="0"/>
              </a:spcBef>
              <a:buNone/>
            </a:pPr>
            <a:r>
              <a:rPr lang="en-US" sz="1200" b="1" dirty="0" smtClean="0">
                <a:latin typeface="MetaPro-Light"/>
              </a:rPr>
              <a:t>Melissa Harvey </a:t>
            </a:r>
            <a:r>
              <a:rPr lang="en-US" sz="1200" b="1" dirty="0">
                <a:latin typeface="MetaPro-Light"/>
              </a:rPr>
              <a:t>Sapp </a:t>
            </a:r>
            <a:r>
              <a:rPr lang="en-US" sz="1200" dirty="0">
                <a:latin typeface="MetaPro-Light"/>
              </a:rPr>
              <a:t>|</a:t>
            </a:r>
            <a:r>
              <a:rPr lang="en-US" sz="1200" b="1" dirty="0">
                <a:latin typeface="MetaPro-Light"/>
              </a:rPr>
              <a:t> </a:t>
            </a:r>
            <a:r>
              <a:rPr lang="en-US" sz="1200" i="1" dirty="0">
                <a:latin typeface="MetaPro-Light"/>
              </a:rPr>
              <a:t>The Boeing Company </a:t>
            </a:r>
          </a:p>
          <a:p>
            <a:pPr marL="0" indent="0">
              <a:spcBef>
                <a:spcPts val="0"/>
              </a:spcBef>
              <a:buNone/>
            </a:pPr>
            <a:r>
              <a:rPr lang="en-US" sz="1200" b="1" dirty="0">
                <a:latin typeface="MetaPro-Light"/>
              </a:rPr>
              <a:t>Address</a:t>
            </a:r>
            <a:r>
              <a:rPr lang="en-US" sz="1200" dirty="0">
                <a:latin typeface="MetaPro-Light"/>
              </a:rPr>
              <a:t>: 9902 24</a:t>
            </a:r>
            <a:r>
              <a:rPr lang="en-US" sz="1200" baseline="30000" dirty="0">
                <a:latin typeface="MetaPro-Light"/>
              </a:rPr>
              <a:t>th</a:t>
            </a:r>
            <a:r>
              <a:rPr lang="en-US" sz="1200" dirty="0">
                <a:latin typeface="MetaPro-Light"/>
              </a:rPr>
              <a:t> Place W., Everett, WA 98204-1404</a:t>
            </a:r>
            <a:endParaRPr lang="en-US" sz="1200" b="1" dirty="0">
              <a:latin typeface="MetaPro-Light"/>
            </a:endParaRPr>
          </a:p>
          <a:p>
            <a:pPr marL="0" indent="0">
              <a:spcBef>
                <a:spcPts val="0"/>
              </a:spcBef>
              <a:buNone/>
            </a:pPr>
            <a:r>
              <a:rPr lang="en-US" sz="1200" b="1" dirty="0" smtClean="0">
                <a:latin typeface="MetaPro-Light"/>
              </a:rPr>
              <a:t>Phone</a:t>
            </a:r>
            <a:r>
              <a:rPr lang="en-US" sz="1200" dirty="0" smtClean="0">
                <a:latin typeface="MetaPro-Light"/>
              </a:rPr>
              <a:t>: 425-234-5422</a:t>
            </a:r>
          </a:p>
          <a:p>
            <a:pPr marL="0" indent="0">
              <a:spcBef>
                <a:spcPts val="0"/>
              </a:spcBef>
              <a:buNone/>
            </a:pPr>
            <a:r>
              <a:rPr lang="en-US" sz="1200" b="1" dirty="0" smtClean="0">
                <a:latin typeface="MetaPro-Light"/>
              </a:rPr>
              <a:t>Email</a:t>
            </a:r>
            <a:r>
              <a:rPr lang="en-US" sz="1200" dirty="0">
                <a:latin typeface="MetaPro-Light"/>
              </a:rPr>
              <a:t>: Melissa.K.Harvey@boeing.com </a:t>
            </a:r>
          </a:p>
          <a:p>
            <a:pPr marL="0" indent="0">
              <a:spcBef>
                <a:spcPts val="0"/>
              </a:spcBef>
              <a:buNone/>
            </a:pPr>
            <a:endParaRPr lang="en-US" sz="1200" b="1" dirty="0" smtClean="0">
              <a:latin typeface="MetaPro-Light"/>
            </a:endParaRPr>
          </a:p>
          <a:p>
            <a:pPr marL="0" indent="0">
              <a:spcBef>
                <a:spcPts val="0"/>
              </a:spcBef>
              <a:buNone/>
            </a:pPr>
            <a:r>
              <a:rPr lang="en-US" sz="1200" b="1" dirty="0" smtClean="0">
                <a:latin typeface="MetaPro-Light"/>
              </a:rPr>
              <a:t>Kevin </a:t>
            </a:r>
            <a:r>
              <a:rPr lang="en-US" sz="1200" b="1" dirty="0">
                <a:latin typeface="MetaPro-Light"/>
              </a:rPr>
              <a:t>Le Tutour</a:t>
            </a:r>
            <a:r>
              <a:rPr lang="en-US" sz="1200" dirty="0">
                <a:latin typeface="MetaPro-Light"/>
              </a:rPr>
              <a:t> | </a:t>
            </a:r>
            <a:r>
              <a:rPr lang="en-US" sz="1200" i="1" dirty="0">
                <a:latin typeface="MetaPro-Light"/>
              </a:rPr>
              <a:t>Boost Conseil</a:t>
            </a:r>
            <a:r>
              <a:rPr lang="en-US" sz="1200" dirty="0">
                <a:latin typeface="MetaPro-Light"/>
              </a:rPr>
              <a:t/>
            </a:r>
            <a:br>
              <a:rPr lang="en-US" sz="1200" dirty="0">
                <a:latin typeface="MetaPro-Light"/>
              </a:rPr>
            </a:br>
            <a:r>
              <a:rPr lang="en-US" sz="1200" b="1" dirty="0" smtClean="0">
                <a:latin typeface="MetaPro-Light"/>
              </a:rPr>
              <a:t>Address</a:t>
            </a:r>
            <a:r>
              <a:rPr lang="en-US" sz="1200" dirty="0" smtClean="0">
                <a:latin typeface="MetaPro-Light"/>
              </a:rPr>
              <a:t>: 30 </a:t>
            </a:r>
            <a:r>
              <a:rPr lang="en-US" sz="1200" dirty="0">
                <a:latin typeface="MetaPro-Light"/>
              </a:rPr>
              <a:t>rue de </a:t>
            </a:r>
            <a:r>
              <a:rPr lang="en-US" sz="1200" dirty="0" err="1">
                <a:latin typeface="MetaPro-Light"/>
              </a:rPr>
              <a:t>Miromesnil</a:t>
            </a:r>
            <a:r>
              <a:rPr lang="en-US" sz="1200" dirty="0">
                <a:latin typeface="MetaPro-Light"/>
              </a:rPr>
              <a:t> 75008 Paris</a:t>
            </a:r>
            <a:br>
              <a:rPr lang="en-US" sz="1200" dirty="0">
                <a:latin typeface="MetaPro-Light"/>
              </a:rPr>
            </a:br>
            <a:r>
              <a:rPr lang="en-US" sz="1200" dirty="0" err="1">
                <a:latin typeface="MetaPro-Light"/>
              </a:rPr>
              <a:t>tel</a:t>
            </a:r>
            <a:r>
              <a:rPr lang="en-US" sz="1200" dirty="0">
                <a:latin typeface="MetaPro-Light"/>
              </a:rPr>
              <a:t>: +33 144 568 750 | </a:t>
            </a:r>
            <a:r>
              <a:rPr lang="en-US" sz="1200" dirty="0" err="1">
                <a:latin typeface="MetaPro-Light"/>
              </a:rPr>
              <a:t>gsm</a:t>
            </a:r>
            <a:r>
              <a:rPr lang="en-US" sz="1200" dirty="0">
                <a:latin typeface="MetaPro-Light"/>
              </a:rPr>
              <a:t>: +33 663 591 281</a:t>
            </a:r>
            <a:br>
              <a:rPr lang="en-US" sz="1200" dirty="0">
                <a:latin typeface="MetaPro-Light"/>
              </a:rPr>
            </a:br>
            <a:r>
              <a:rPr lang="en-US" sz="1200" u="sng" dirty="0">
                <a:latin typeface="MetaPro-Light"/>
                <a:hlinkClick r:id="rId2"/>
              </a:rPr>
              <a:t>kevin.letutour@boost-conseil.com</a:t>
            </a:r>
            <a:r>
              <a:rPr lang="en-US" sz="1200" dirty="0">
                <a:latin typeface="MetaPro-Light"/>
              </a:rPr>
              <a:t> | </a:t>
            </a:r>
            <a:r>
              <a:rPr lang="en-US" sz="1200" u="sng" dirty="0" smtClean="0">
                <a:latin typeface="MetaPro-Light"/>
                <a:hlinkClick r:id="rId3"/>
              </a:rPr>
              <a:t>www.boost-conseil.com</a:t>
            </a:r>
            <a:endParaRPr lang="en-US" sz="1200" u="sng" dirty="0" smtClean="0">
              <a:latin typeface="MetaPro-Light"/>
            </a:endParaRPr>
          </a:p>
          <a:p>
            <a:pPr marL="0" indent="0">
              <a:spcBef>
                <a:spcPts val="0"/>
              </a:spcBef>
              <a:buNone/>
            </a:pPr>
            <a:endParaRPr lang="en-US" sz="1200" u="sng" dirty="0" smtClean="0">
              <a:latin typeface="MetaPro-Light"/>
            </a:endParaRPr>
          </a:p>
          <a:p>
            <a:pPr marL="0" indent="0">
              <a:spcBef>
                <a:spcPts val="0"/>
              </a:spcBef>
              <a:buNone/>
            </a:pPr>
            <a:endParaRPr lang="en-US" sz="1200" u="sng" dirty="0" smtClean="0">
              <a:latin typeface="MetaPro-Light"/>
            </a:endParaRPr>
          </a:p>
          <a:p>
            <a:pPr marL="0" indent="0">
              <a:spcBef>
                <a:spcPts val="0"/>
              </a:spcBef>
              <a:buNone/>
            </a:pPr>
            <a:r>
              <a:rPr lang="en-US" sz="1200" b="1" dirty="0" smtClean="0">
                <a:latin typeface="MetaPro-Light"/>
              </a:rPr>
              <a:t>Stéphane</a:t>
            </a:r>
            <a:r>
              <a:rPr lang="en-US" sz="1200" b="1" dirty="0">
                <a:latin typeface="MetaPro-Light"/>
              </a:rPr>
              <a:t> </a:t>
            </a:r>
            <a:r>
              <a:rPr lang="en-US" sz="1200" b="1" dirty="0" err="1" smtClean="0">
                <a:latin typeface="MetaPro-Light"/>
              </a:rPr>
              <a:t>Châtelet</a:t>
            </a:r>
            <a:r>
              <a:rPr lang="en-US" sz="1200" dirty="0">
                <a:latin typeface="MetaPro-Light"/>
              </a:rPr>
              <a:t> </a:t>
            </a:r>
            <a:r>
              <a:rPr lang="en-US" sz="1200" dirty="0" smtClean="0">
                <a:latin typeface="MetaPro-Light"/>
              </a:rPr>
              <a:t>| ISO director  </a:t>
            </a:r>
            <a:r>
              <a:rPr lang="en-US" sz="1200" dirty="0">
                <a:latin typeface="MetaPro-Light"/>
              </a:rPr>
              <a:t>information technology services | </a:t>
            </a:r>
            <a:r>
              <a:rPr lang="en-US" sz="1200" u="sng" dirty="0" err="1">
                <a:latin typeface="MetaPro-Light"/>
                <a:hlinkClick r:id="rId4"/>
              </a:rPr>
              <a:t>iso</a:t>
            </a:r>
            <a:r>
              <a:rPr lang="en-US" sz="1200" u="sng" dirty="0">
                <a:latin typeface="MetaPro-Light"/>
                <a:hlinkClick r:id="rId4"/>
              </a:rPr>
              <a:t> central secretariat</a:t>
            </a:r>
            <a:r>
              <a:rPr lang="en-US" sz="1200" dirty="0">
                <a:latin typeface="MetaPro-Light"/>
              </a:rPr>
              <a:t> | phone: +41 22 749 02 39 | mobile: +41 78 881 24 43</a:t>
            </a:r>
          </a:p>
          <a:p>
            <a:pPr marL="0" indent="0">
              <a:spcBef>
                <a:spcPts val="0"/>
              </a:spcBef>
              <a:buNone/>
            </a:pPr>
            <a:endParaRPr lang="en-US" sz="1200" u="sng" dirty="0">
              <a:latin typeface="MetaPro-Light"/>
            </a:endParaRPr>
          </a:p>
          <a:p>
            <a:pPr marL="0" indent="0">
              <a:spcBef>
                <a:spcPts val="0"/>
              </a:spcBef>
              <a:buNone/>
            </a:pPr>
            <a:r>
              <a:rPr lang="en-US" sz="1200" dirty="0" smtClean="0">
                <a:latin typeface="MetaPro-Light"/>
              </a:rPr>
              <a:t> </a:t>
            </a:r>
            <a:endParaRPr lang="en-US" sz="1200" dirty="0">
              <a:latin typeface="MetaPro-Light"/>
            </a:endParaRPr>
          </a:p>
        </p:txBody>
      </p:sp>
      <p:sp>
        <p:nvSpPr>
          <p:cNvPr id="6" name="object 2"/>
          <p:cNvSpPr txBox="1">
            <a:spLocks/>
          </p:cNvSpPr>
          <p:nvPr/>
        </p:nvSpPr>
        <p:spPr>
          <a:xfrm>
            <a:off x="7553324" y="4333875"/>
            <a:ext cx="4295775" cy="2362199"/>
          </a:xfrm>
          <a:prstGeom prst="rect">
            <a:avLst/>
          </a:prstGeom>
        </p:spPr>
        <p:txBody>
          <a:bodyPr vert="horz" wrap="square" lIns="0" tIns="0" rIns="0" bIns="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065" marR="13335" indent="0" algn="r">
              <a:lnSpc>
                <a:spcPct val="100000"/>
              </a:lnSpc>
              <a:buNone/>
            </a:pPr>
            <a:r>
              <a:rPr lang="en-US" sz="1100" spc="25" dirty="0" smtClean="0">
                <a:solidFill>
                  <a:srgbClr val="231F20"/>
                </a:solidFill>
                <a:latin typeface="MetaPro-Light"/>
              </a:rPr>
              <a:t>In</a:t>
            </a:r>
            <a:r>
              <a:rPr lang="en-US" sz="1100" dirty="0" smtClean="0">
                <a:solidFill>
                  <a:srgbClr val="231F20"/>
                </a:solidFill>
                <a:latin typeface="MetaPro-Light"/>
              </a:rPr>
              <a:t>t</a:t>
            </a:r>
            <a:r>
              <a:rPr lang="en-US" sz="1100" spc="-10" dirty="0" smtClean="0">
                <a:solidFill>
                  <a:srgbClr val="231F20"/>
                </a:solidFill>
                <a:latin typeface="MetaPro-Light"/>
              </a:rPr>
              <a:t>er</a:t>
            </a:r>
            <a:r>
              <a:rPr lang="en-US" sz="1100" spc="-25" dirty="0" smtClean="0">
                <a:solidFill>
                  <a:srgbClr val="231F20"/>
                </a:solidFill>
                <a:latin typeface="MetaPro-Light"/>
              </a:rPr>
              <a:t>n</a:t>
            </a:r>
            <a:r>
              <a:rPr lang="en-US" sz="1100" spc="10" dirty="0" smtClean="0">
                <a:solidFill>
                  <a:srgbClr val="231F20"/>
                </a:solidFill>
                <a:latin typeface="MetaPro-Light"/>
              </a:rPr>
              <a:t>atio</a:t>
            </a:r>
            <a:r>
              <a:rPr lang="en-US" sz="1100" spc="5" dirty="0" smtClean="0">
                <a:solidFill>
                  <a:srgbClr val="231F20"/>
                </a:solidFill>
                <a:latin typeface="MetaPro-Light"/>
              </a:rPr>
              <a:t>n</a:t>
            </a:r>
            <a:r>
              <a:rPr lang="en-US" sz="1100" spc="-45" dirty="0" smtClean="0">
                <a:solidFill>
                  <a:srgbClr val="231F20"/>
                </a:solidFill>
                <a:latin typeface="MetaPro-Light"/>
              </a:rPr>
              <a:t>a</a:t>
            </a:r>
            <a:r>
              <a:rPr lang="en-US" sz="1100" spc="55" dirty="0" smtClean="0">
                <a:solidFill>
                  <a:srgbClr val="231F20"/>
                </a:solidFill>
                <a:latin typeface="MetaPro-Light"/>
              </a:rPr>
              <a:t>l</a:t>
            </a:r>
            <a:r>
              <a:rPr lang="en-US" sz="1100" spc="-65" dirty="0" smtClean="0">
                <a:solidFill>
                  <a:srgbClr val="231F20"/>
                </a:solidFill>
                <a:latin typeface="MetaPro-Light"/>
              </a:rPr>
              <a:t> </a:t>
            </a:r>
            <a:r>
              <a:rPr lang="en-US" sz="1100" spc="-55" dirty="0" smtClean="0">
                <a:solidFill>
                  <a:srgbClr val="231F20"/>
                </a:solidFill>
                <a:latin typeface="MetaPro-Light"/>
              </a:rPr>
              <a:t>O</a:t>
            </a:r>
            <a:r>
              <a:rPr lang="en-US" sz="1100" spc="-40" dirty="0" smtClean="0">
                <a:solidFill>
                  <a:srgbClr val="231F20"/>
                </a:solidFill>
                <a:latin typeface="MetaPro-Light"/>
              </a:rPr>
              <a:t>r</a:t>
            </a:r>
            <a:r>
              <a:rPr lang="en-US" sz="1100" spc="-25" dirty="0" smtClean="0">
                <a:solidFill>
                  <a:srgbClr val="231F20"/>
                </a:solidFill>
                <a:latin typeface="MetaPro-Light"/>
              </a:rPr>
              <a:t>g</a:t>
            </a:r>
            <a:r>
              <a:rPr lang="en-US" sz="1100" spc="-5" dirty="0" smtClean="0">
                <a:solidFill>
                  <a:srgbClr val="231F20"/>
                </a:solidFill>
                <a:latin typeface="MetaPro-Light"/>
              </a:rPr>
              <a:t>ani</a:t>
            </a:r>
            <a:r>
              <a:rPr lang="en-US" sz="1100" spc="-20" dirty="0" smtClean="0">
                <a:solidFill>
                  <a:srgbClr val="231F20"/>
                </a:solidFill>
                <a:latin typeface="MetaPro-Light"/>
              </a:rPr>
              <a:t>z</a:t>
            </a:r>
            <a:r>
              <a:rPr lang="en-US" sz="1100" spc="10" dirty="0" smtClean="0">
                <a:solidFill>
                  <a:srgbClr val="231F20"/>
                </a:solidFill>
                <a:latin typeface="MetaPro-Light"/>
              </a:rPr>
              <a:t>ation</a:t>
            </a:r>
            <a:r>
              <a:rPr lang="en-US" sz="1100" spc="5" dirty="0" smtClean="0">
                <a:solidFill>
                  <a:srgbClr val="231F20"/>
                </a:solidFill>
                <a:latin typeface="MetaPro-Light"/>
              </a:rPr>
              <a:t> </a:t>
            </a:r>
            <a:r>
              <a:rPr lang="en-US" sz="1100" spc="25" dirty="0" smtClean="0">
                <a:solidFill>
                  <a:srgbClr val="231F20"/>
                </a:solidFill>
                <a:latin typeface="MetaPro-Light"/>
              </a:rPr>
              <a:t>f</a:t>
            </a:r>
            <a:r>
              <a:rPr lang="en-US" sz="1100" dirty="0" smtClean="0">
                <a:solidFill>
                  <a:srgbClr val="231F20"/>
                </a:solidFill>
                <a:latin typeface="MetaPro-Light"/>
              </a:rPr>
              <a:t>or</a:t>
            </a:r>
            <a:r>
              <a:rPr lang="en-US" sz="1100" spc="-75" dirty="0" smtClean="0">
                <a:solidFill>
                  <a:srgbClr val="231F20"/>
                </a:solidFill>
                <a:latin typeface="MetaPro-Light"/>
              </a:rPr>
              <a:t> </a:t>
            </a:r>
            <a:r>
              <a:rPr lang="en-US" sz="1100" spc="-10" dirty="0" smtClean="0">
                <a:solidFill>
                  <a:srgbClr val="231F20"/>
                </a:solidFill>
                <a:latin typeface="MetaPro-Light"/>
              </a:rPr>
              <a:t>S</a:t>
            </a:r>
            <a:r>
              <a:rPr lang="en-US" sz="1100" spc="-20" dirty="0" smtClean="0">
                <a:solidFill>
                  <a:srgbClr val="231F20"/>
                </a:solidFill>
                <a:latin typeface="MetaPro-Light"/>
              </a:rPr>
              <a:t>t</a:t>
            </a:r>
            <a:r>
              <a:rPr lang="en-US" sz="1100" spc="-15" dirty="0" smtClean="0">
                <a:solidFill>
                  <a:srgbClr val="231F20"/>
                </a:solidFill>
                <a:latin typeface="MetaPro-Light"/>
              </a:rPr>
              <a:t>an</a:t>
            </a:r>
            <a:r>
              <a:rPr lang="en-US" sz="1100" spc="-20" dirty="0" smtClean="0">
                <a:solidFill>
                  <a:srgbClr val="231F20"/>
                </a:solidFill>
                <a:latin typeface="MetaPro-Light"/>
              </a:rPr>
              <a:t>d</a:t>
            </a:r>
            <a:r>
              <a:rPr lang="en-US" sz="1100" spc="-15" dirty="0" smtClean="0">
                <a:solidFill>
                  <a:srgbClr val="231F20"/>
                </a:solidFill>
                <a:latin typeface="MetaPro-Light"/>
              </a:rPr>
              <a:t>a</a:t>
            </a:r>
            <a:r>
              <a:rPr lang="en-US" sz="1100" spc="-25" dirty="0" smtClean="0">
                <a:solidFill>
                  <a:srgbClr val="231F20"/>
                </a:solidFill>
                <a:latin typeface="MetaPro-Light"/>
              </a:rPr>
              <a:t>r</a:t>
            </a:r>
            <a:r>
              <a:rPr lang="en-US" sz="1100" spc="5" dirty="0" smtClean="0">
                <a:solidFill>
                  <a:srgbClr val="231F20"/>
                </a:solidFill>
                <a:latin typeface="MetaPro-Light"/>
              </a:rPr>
              <a:t>di</a:t>
            </a:r>
            <a:r>
              <a:rPr lang="en-US" sz="1100" spc="-5" dirty="0" smtClean="0">
                <a:solidFill>
                  <a:srgbClr val="231F20"/>
                </a:solidFill>
                <a:latin typeface="MetaPro-Light"/>
              </a:rPr>
              <a:t>z</a:t>
            </a:r>
            <a:r>
              <a:rPr lang="en-US" sz="1100" spc="10" dirty="0" smtClean="0">
                <a:solidFill>
                  <a:srgbClr val="231F20"/>
                </a:solidFill>
                <a:latin typeface="MetaPro-Light"/>
              </a:rPr>
              <a:t>ation</a:t>
            </a:r>
            <a:endParaRPr lang="en-US" sz="1100" dirty="0" smtClean="0">
              <a:latin typeface="MetaPro-Light"/>
            </a:endParaRPr>
          </a:p>
          <a:p>
            <a:pPr marL="457200" marR="12700" indent="0" algn="r">
              <a:lnSpc>
                <a:spcPct val="114599"/>
              </a:lnSpc>
              <a:spcBef>
                <a:spcPts val="240"/>
              </a:spcBef>
              <a:buNone/>
            </a:pPr>
            <a:r>
              <a:rPr lang="en-US" sz="1100" spc="-90" dirty="0" smtClean="0">
                <a:solidFill>
                  <a:srgbClr val="231F20"/>
                </a:solidFill>
                <a:latin typeface="MetaPro-Light"/>
              </a:rPr>
              <a:t>ISO</a:t>
            </a:r>
            <a:r>
              <a:rPr lang="en-US" sz="1100" spc="-40" dirty="0" smtClean="0">
                <a:solidFill>
                  <a:srgbClr val="231F20"/>
                </a:solidFill>
                <a:latin typeface="MetaPro-Light"/>
              </a:rPr>
              <a:t> </a:t>
            </a:r>
            <a:r>
              <a:rPr lang="en-US" sz="1100" spc="-70" dirty="0" smtClean="0">
                <a:solidFill>
                  <a:srgbClr val="231F20"/>
                </a:solidFill>
                <a:latin typeface="MetaPro-Light"/>
              </a:rPr>
              <a:t>Cen</a:t>
            </a:r>
            <a:r>
              <a:rPr lang="en-US" sz="1100" spc="-45" dirty="0" smtClean="0">
                <a:solidFill>
                  <a:srgbClr val="231F20"/>
                </a:solidFill>
                <a:latin typeface="MetaPro-Light"/>
              </a:rPr>
              <a:t>t</a:t>
            </a:r>
            <a:r>
              <a:rPr lang="en-US" sz="1100" spc="-40" dirty="0" smtClean="0">
                <a:solidFill>
                  <a:srgbClr val="231F20"/>
                </a:solidFill>
                <a:latin typeface="MetaPro-Light"/>
              </a:rPr>
              <a:t>r</a:t>
            </a:r>
            <a:r>
              <a:rPr lang="en-US" sz="1100" spc="-25" dirty="0" smtClean="0">
                <a:solidFill>
                  <a:srgbClr val="231F20"/>
                </a:solidFill>
                <a:latin typeface="MetaPro-Light"/>
              </a:rPr>
              <a:t>al</a:t>
            </a:r>
            <a:r>
              <a:rPr lang="en-US" sz="1100" spc="-65" dirty="0" smtClean="0">
                <a:solidFill>
                  <a:srgbClr val="231F20"/>
                </a:solidFill>
                <a:latin typeface="MetaPro-Light"/>
              </a:rPr>
              <a:t> </a:t>
            </a:r>
            <a:r>
              <a:rPr lang="en-US" sz="1100" spc="-85" dirty="0" smtClean="0">
                <a:solidFill>
                  <a:srgbClr val="231F20"/>
                </a:solidFill>
                <a:latin typeface="MetaPro-Light"/>
              </a:rPr>
              <a:t>Se</a:t>
            </a:r>
            <a:r>
              <a:rPr lang="en-US" sz="1100" spc="-80" dirty="0" smtClean="0">
                <a:solidFill>
                  <a:srgbClr val="231F20"/>
                </a:solidFill>
                <a:latin typeface="MetaPro-Light"/>
              </a:rPr>
              <a:t>c</a:t>
            </a:r>
            <a:r>
              <a:rPr lang="en-US" sz="1100" spc="-30" dirty="0" smtClean="0">
                <a:solidFill>
                  <a:srgbClr val="231F20"/>
                </a:solidFill>
                <a:latin typeface="MetaPro-Light"/>
              </a:rPr>
              <a:t>retar</a:t>
            </a:r>
            <a:r>
              <a:rPr lang="en-US" sz="1100" spc="-20" dirty="0" smtClean="0">
                <a:solidFill>
                  <a:srgbClr val="231F20"/>
                </a:solidFill>
                <a:latin typeface="MetaPro-Light"/>
              </a:rPr>
              <a:t>iat</a:t>
            </a:r>
            <a:r>
              <a:rPr lang="en-US" sz="1100" spc="-15" dirty="0" smtClean="0">
                <a:solidFill>
                  <a:srgbClr val="231F20"/>
                </a:solidFill>
                <a:latin typeface="MetaPro-Light"/>
              </a:rPr>
              <a:t> </a:t>
            </a:r>
            <a:r>
              <a:rPr lang="en-US" sz="1100" spc="-180" dirty="0" err="1" smtClean="0">
                <a:solidFill>
                  <a:srgbClr val="231F20"/>
                </a:solidFill>
                <a:latin typeface="MetaPro-Light"/>
              </a:rPr>
              <a:t>C</a:t>
            </a:r>
            <a:r>
              <a:rPr lang="en-US" sz="1100" spc="-35" dirty="0" err="1" smtClean="0">
                <a:solidFill>
                  <a:srgbClr val="231F20"/>
                </a:solidFill>
                <a:latin typeface="MetaPro-Light"/>
              </a:rPr>
              <a:t>hemin</a:t>
            </a:r>
            <a:r>
              <a:rPr lang="en-US" sz="1100" spc="-40" dirty="0" smtClean="0">
                <a:solidFill>
                  <a:srgbClr val="231F20"/>
                </a:solidFill>
                <a:latin typeface="MetaPro-Light"/>
              </a:rPr>
              <a:t> </a:t>
            </a:r>
            <a:r>
              <a:rPr lang="en-US" sz="1100" spc="-30" dirty="0" smtClean="0">
                <a:solidFill>
                  <a:srgbClr val="231F20"/>
                </a:solidFill>
                <a:latin typeface="MetaPro-Light"/>
              </a:rPr>
              <a:t>d</a:t>
            </a:r>
            <a:r>
              <a:rPr lang="en-US" sz="1100" spc="-60" dirty="0" smtClean="0">
                <a:solidFill>
                  <a:srgbClr val="231F20"/>
                </a:solidFill>
                <a:latin typeface="MetaPro-Light"/>
              </a:rPr>
              <a:t>e</a:t>
            </a:r>
            <a:r>
              <a:rPr lang="en-US" sz="1100" spc="-40" dirty="0" smtClean="0">
                <a:solidFill>
                  <a:srgbClr val="231F20"/>
                </a:solidFill>
                <a:latin typeface="MetaPro-Light"/>
              </a:rPr>
              <a:t> </a:t>
            </a:r>
            <a:r>
              <a:rPr lang="en-US" sz="1100" spc="-55" dirty="0" err="1" smtClean="0">
                <a:solidFill>
                  <a:srgbClr val="231F20"/>
                </a:solidFill>
                <a:latin typeface="MetaPro-Light"/>
              </a:rPr>
              <a:t>B</a:t>
            </a:r>
            <a:r>
              <a:rPr lang="en-US" sz="1100" spc="-30" dirty="0" err="1" smtClean="0">
                <a:solidFill>
                  <a:srgbClr val="231F20"/>
                </a:solidFill>
                <a:latin typeface="MetaPro-Light"/>
              </a:rPr>
              <a:t>l</a:t>
            </a:r>
            <a:r>
              <a:rPr lang="en-US" sz="1100" spc="-35" dirty="0" err="1" smtClean="0">
                <a:solidFill>
                  <a:srgbClr val="231F20"/>
                </a:solidFill>
                <a:latin typeface="MetaPro-Light"/>
              </a:rPr>
              <a:t>andonnet</a:t>
            </a:r>
            <a:r>
              <a:rPr lang="en-US" sz="1100" spc="-50" dirty="0" smtClean="0">
                <a:solidFill>
                  <a:srgbClr val="231F20"/>
                </a:solidFill>
                <a:latin typeface="MetaPro-Light"/>
              </a:rPr>
              <a:t> </a:t>
            </a:r>
            <a:r>
              <a:rPr lang="en-US" sz="1100" spc="5" dirty="0" smtClean="0">
                <a:solidFill>
                  <a:srgbClr val="231F20"/>
                </a:solidFill>
                <a:latin typeface="MetaPro-Light"/>
              </a:rPr>
              <a:t>8</a:t>
            </a:r>
            <a:r>
              <a:rPr lang="en-US" sz="1100" dirty="0" smtClean="0">
                <a:solidFill>
                  <a:srgbClr val="231F20"/>
                </a:solidFill>
                <a:latin typeface="MetaPro-Light"/>
              </a:rPr>
              <a:t> </a:t>
            </a:r>
            <a:r>
              <a:rPr lang="en-US" sz="1100" spc="-180" dirty="0" smtClean="0">
                <a:solidFill>
                  <a:srgbClr val="231F20"/>
                </a:solidFill>
                <a:latin typeface="MetaPro-Light"/>
              </a:rPr>
              <a:t>C</a:t>
            </a:r>
            <a:r>
              <a:rPr lang="en-US" sz="1100" spc="-65" dirty="0" smtClean="0">
                <a:solidFill>
                  <a:srgbClr val="231F20"/>
                </a:solidFill>
                <a:latin typeface="MetaPro-Light"/>
              </a:rPr>
              <a:t>a</a:t>
            </a:r>
            <a:r>
              <a:rPr lang="en-US" sz="1100" spc="-60" dirty="0" smtClean="0">
                <a:solidFill>
                  <a:srgbClr val="231F20"/>
                </a:solidFill>
                <a:latin typeface="MetaPro-Light"/>
              </a:rPr>
              <a:t>se</a:t>
            </a:r>
            <a:r>
              <a:rPr lang="en-US" sz="1100" spc="-40" dirty="0" smtClean="0">
                <a:solidFill>
                  <a:srgbClr val="231F20"/>
                </a:solidFill>
                <a:latin typeface="MetaPro-Light"/>
              </a:rPr>
              <a:t> </a:t>
            </a:r>
            <a:r>
              <a:rPr lang="en-US" sz="1100" spc="-135" dirty="0" err="1" smtClean="0">
                <a:solidFill>
                  <a:srgbClr val="231F20"/>
                </a:solidFill>
                <a:latin typeface="MetaPro-Light"/>
              </a:rPr>
              <a:t>P</a:t>
            </a:r>
            <a:r>
              <a:rPr lang="en-US" sz="1100" spc="-40" dirty="0" err="1" smtClean="0">
                <a:solidFill>
                  <a:srgbClr val="231F20"/>
                </a:solidFill>
                <a:latin typeface="MetaPro-Light"/>
              </a:rPr>
              <a:t>o</a:t>
            </a:r>
            <a:r>
              <a:rPr lang="en-US" sz="1100" spc="-65" dirty="0" err="1" smtClean="0">
                <a:solidFill>
                  <a:srgbClr val="231F20"/>
                </a:solidFill>
                <a:latin typeface="MetaPro-Light"/>
              </a:rPr>
              <a:t>s</a:t>
            </a:r>
            <a:r>
              <a:rPr lang="en-US" sz="1100" spc="-5" dirty="0" err="1" smtClean="0">
                <a:solidFill>
                  <a:srgbClr val="231F20"/>
                </a:solidFill>
                <a:latin typeface="MetaPro-Light"/>
              </a:rPr>
              <a:t>t</a:t>
            </a:r>
            <a:r>
              <a:rPr lang="en-US" sz="1100" spc="-35" dirty="0" err="1" smtClean="0">
                <a:solidFill>
                  <a:srgbClr val="231F20"/>
                </a:solidFill>
                <a:latin typeface="MetaPro-Light"/>
              </a:rPr>
              <a:t>a</a:t>
            </a:r>
            <a:r>
              <a:rPr lang="en-US" sz="1100" spc="-20" dirty="0" err="1" smtClean="0">
                <a:solidFill>
                  <a:srgbClr val="231F20"/>
                </a:solidFill>
                <a:latin typeface="MetaPro-Light"/>
              </a:rPr>
              <a:t>l</a:t>
            </a:r>
            <a:r>
              <a:rPr lang="en-US" sz="1100" spc="-60" dirty="0" err="1" smtClean="0">
                <a:solidFill>
                  <a:srgbClr val="231F20"/>
                </a:solidFill>
                <a:latin typeface="MetaPro-Light"/>
              </a:rPr>
              <a:t>e</a:t>
            </a:r>
            <a:r>
              <a:rPr lang="en-US" sz="1100" spc="-40" dirty="0" smtClean="0">
                <a:solidFill>
                  <a:srgbClr val="231F20"/>
                </a:solidFill>
                <a:latin typeface="MetaPro-Light"/>
              </a:rPr>
              <a:t> </a:t>
            </a:r>
            <a:r>
              <a:rPr lang="en-US" sz="1100" spc="5" dirty="0" smtClean="0">
                <a:solidFill>
                  <a:srgbClr val="231F20"/>
                </a:solidFill>
                <a:latin typeface="MetaPro-Light"/>
              </a:rPr>
              <a:t>401</a:t>
            </a:r>
            <a:endParaRPr lang="en-US" sz="1100" dirty="0" smtClean="0">
              <a:latin typeface="MetaPro-Light"/>
            </a:endParaRPr>
          </a:p>
          <a:p>
            <a:pPr marL="0" marR="13335" indent="0" algn="r">
              <a:lnSpc>
                <a:spcPct val="100000"/>
              </a:lnSpc>
              <a:spcBef>
                <a:spcPts val="140"/>
              </a:spcBef>
              <a:buNone/>
            </a:pPr>
            <a:r>
              <a:rPr lang="en-US" sz="1100" spc="-170" dirty="0" smtClean="0">
                <a:solidFill>
                  <a:srgbClr val="231F20"/>
                </a:solidFill>
                <a:latin typeface="MetaPro-Light"/>
              </a:rPr>
              <a:t>C</a:t>
            </a:r>
            <a:r>
              <a:rPr lang="en-US" sz="1100" spc="-95" dirty="0" smtClean="0">
                <a:solidFill>
                  <a:srgbClr val="231F20"/>
                </a:solidFill>
                <a:latin typeface="MetaPro-Light"/>
              </a:rPr>
              <a:t>H</a:t>
            </a:r>
            <a:r>
              <a:rPr lang="en-US" sz="1100" spc="-40" dirty="0" smtClean="0">
                <a:solidFill>
                  <a:srgbClr val="231F20"/>
                </a:solidFill>
                <a:latin typeface="MetaPro-Light"/>
              </a:rPr>
              <a:t> </a:t>
            </a:r>
            <a:r>
              <a:rPr lang="en-US" sz="1100" spc="20" dirty="0" smtClean="0">
                <a:solidFill>
                  <a:srgbClr val="231F20"/>
                </a:solidFill>
                <a:latin typeface="MetaPro-Light"/>
              </a:rPr>
              <a:t>–</a:t>
            </a:r>
            <a:r>
              <a:rPr lang="en-US" sz="1100" spc="-40" dirty="0" smtClean="0">
                <a:solidFill>
                  <a:srgbClr val="231F20"/>
                </a:solidFill>
                <a:latin typeface="MetaPro-Light"/>
              </a:rPr>
              <a:t> </a:t>
            </a:r>
            <a:r>
              <a:rPr lang="en-US" sz="1100" spc="-35" dirty="0" smtClean="0">
                <a:solidFill>
                  <a:srgbClr val="231F20"/>
                </a:solidFill>
                <a:latin typeface="MetaPro-Light"/>
              </a:rPr>
              <a:t>12</a:t>
            </a:r>
            <a:r>
              <a:rPr lang="en-US" sz="1100" spc="-75" dirty="0" smtClean="0">
                <a:solidFill>
                  <a:srgbClr val="231F20"/>
                </a:solidFill>
                <a:latin typeface="MetaPro-Light"/>
              </a:rPr>
              <a:t>1</a:t>
            </a:r>
            <a:r>
              <a:rPr lang="en-US" sz="1100" spc="5" dirty="0" smtClean="0">
                <a:solidFill>
                  <a:srgbClr val="231F20"/>
                </a:solidFill>
                <a:latin typeface="MetaPro-Light"/>
              </a:rPr>
              <a:t>4</a:t>
            </a:r>
            <a:r>
              <a:rPr lang="en-US" sz="1100" spc="-60" dirty="0" smtClean="0">
                <a:solidFill>
                  <a:srgbClr val="231F20"/>
                </a:solidFill>
                <a:latin typeface="MetaPro-Light"/>
              </a:rPr>
              <a:t> </a:t>
            </a:r>
            <a:r>
              <a:rPr lang="en-US" sz="1100" spc="-50" dirty="0" smtClean="0">
                <a:solidFill>
                  <a:srgbClr val="231F20"/>
                </a:solidFill>
                <a:latin typeface="MetaPro-Light"/>
              </a:rPr>
              <a:t>Vernie</a:t>
            </a:r>
            <a:r>
              <a:rPr lang="en-US" sz="1100" spc="-55" dirty="0" smtClean="0">
                <a:solidFill>
                  <a:srgbClr val="231F20"/>
                </a:solidFill>
                <a:latin typeface="MetaPro-Light"/>
              </a:rPr>
              <a:t>r</a:t>
            </a:r>
            <a:r>
              <a:rPr lang="en-US" sz="1100" spc="-45" dirty="0" smtClean="0">
                <a:solidFill>
                  <a:srgbClr val="231F20"/>
                </a:solidFill>
                <a:latin typeface="MetaPro-Light"/>
              </a:rPr>
              <a:t>,</a:t>
            </a:r>
            <a:r>
              <a:rPr lang="en-US" sz="1100" spc="-40" dirty="0" smtClean="0">
                <a:solidFill>
                  <a:srgbClr val="231F20"/>
                </a:solidFill>
                <a:latin typeface="MetaPro-Light"/>
              </a:rPr>
              <a:t> </a:t>
            </a:r>
            <a:r>
              <a:rPr lang="en-US" sz="1100" spc="-70" dirty="0" smtClean="0">
                <a:solidFill>
                  <a:srgbClr val="231F20"/>
                </a:solidFill>
                <a:latin typeface="MetaPro-Light"/>
              </a:rPr>
              <a:t>Genev</a:t>
            </a:r>
            <a:r>
              <a:rPr lang="en-US" sz="1100" spc="-55" dirty="0" smtClean="0">
                <a:solidFill>
                  <a:srgbClr val="231F20"/>
                </a:solidFill>
                <a:latin typeface="MetaPro-Light"/>
              </a:rPr>
              <a:t>a</a:t>
            </a:r>
            <a:endParaRPr lang="en-US" sz="1100" dirty="0" smtClean="0">
              <a:latin typeface="MetaPro-Light"/>
            </a:endParaRPr>
          </a:p>
          <a:p>
            <a:pPr marL="0" marR="12700" indent="0" algn="r">
              <a:lnSpc>
                <a:spcPct val="100000"/>
              </a:lnSpc>
              <a:spcBef>
                <a:spcPts val="140"/>
              </a:spcBef>
              <a:buNone/>
            </a:pPr>
            <a:r>
              <a:rPr lang="en-US" sz="1100" spc="-90" dirty="0" smtClean="0">
                <a:solidFill>
                  <a:srgbClr val="231F20"/>
                </a:solidFill>
                <a:latin typeface="MetaPro-Light"/>
              </a:rPr>
              <a:t>S</a:t>
            </a:r>
            <a:r>
              <a:rPr lang="en-US" sz="1100" spc="-105" dirty="0" smtClean="0">
                <a:solidFill>
                  <a:srgbClr val="231F20"/>
                </a:solidFill>
                <a:latin typeface="MetaPro-Light"/>
              </a:rPr>
              <a:t>w</a:t>
            </a:r>
            <a:r>
              <a:rPr lang="en-US" sz="1100" spc="-15" dirty="0" smtClean="0">
                <a:solidFill>
                  <a:srgbClr val="231F20"/>
                </a:solidFill>
                <a:latin typeface="MetaPro-Light"/>
              </a:rPr>
              <a:t>it</a:t>
            </a:r>
            <a:r>
              <a:rPr lang="en-US" sz="1100" spc="-40" dirty="0" smtClean="0">
                <a:solidFill>
                  <a:srgbClr val="231F20"/>
                </a:solidFill>
                <a:latin typeface="MetaPro-Light"/>
              </a:rPr>
              <a:t>z</a:t>
            </a:r>
            <a:r>
              <a:rPr lang="en-US" sz="1100" spc="-35" dirty="0" smtClean="0">
                <a:solidFill>
                  <a:srgbClr val="231F20"/>
                </a:solidFill>
                <a:latin typeface="MetaPro-Light"/>
              </a:rPr>
              <a:t>er</a:t>
            </a:r>
            <a:r>
              <a:rPr lang="en-US" sz="1100" spc="-30" dirty="0" smtClean="0">
                <a:solidFill>
                  <a:srgbClr val="231F20"/>
                </a:solidFill>
                <a:latin typeface="MetaPro-Light"/>
              </a:rPr>
              <a:t>l</a:t>
            </a:r>
            <a:r>
              <a:rPr lang="en-US" sz="1100" spc="-40" dirty="0" smtClean="0">
                <a:solidFill>
                  <a:srgbClr val="231F20"/>
                </a:solidFill>
                <a:latin typeface="MetaPro-Light"/>
              </a:rPr>
              <a:t>and</a:t>
            </a:r>
            <a:endParaRPr lang="en-US" sz="1100" dirty="0" smtClean="0">
              <a:latin typeface="MetaPro-Light"/>
            </a:endParaRPr>
          </a:p>
          <a:p>
            <a:pPr marL="0" indent="0">
              <a:lnSpc>
                <a:spcPts val="1000"/>
              </a:lnSpc>
              <a:spcBef>
                <a:spcPts val="83"/>
              </a:spcBef>
              <a:buNone/>
            </a:pPr>
            <a:endParaRPr lang="en-US" sz="1100" dirty="0" smtClean="0">
              <a:latin typeface="MetaPro-Light"/>
            </a:endParaRPr>
          </a:p>
          <a:p>
            <a:pPr marL="0" marR="13335" indent="0" algn="r">
              <a:lnSpc>
                <a:spcPct val="100000"/>
              </a:lnSpc>
              <a:buNone/>
            </a:pPr>
            <a:r>
              <a:rPr lang="en-US" sz="1800" b="1" spc="45" dirty="0" smtClean="0">
                <a:solidFill>
                  <a:srgbClr val="ED2227"/>
                </a:solidFill>
                <a:latin typeface="MetaPro-Light"/>
              </a:rPr>
              <a:t>i</a:t>
            </a:r>
            <a:r>
              <a:rPr lang="en-US" sz="1800" b="1" spc="-160" dirty="0" smtClean="0">
                <a:solidFill>
                  <a:srgbClr val="ED2227"/>
                </a:solidFill>
                <a:latin typeface="MetaPro-Light"/>
              </a:rPr>
              <a:t>s</a:t>
            </a:r>
            <a:r>
              <a:rPr lang="en-US" sz="1800" b="1" spc="-200" dirty="0" smtClean="0">
                <a:solidFill>
                  <a:srgbClr val="ED2227"/>
                </a:solidFill>
                <a:latin typeface="MetaPro-Light"/>
              </a:rPr>
              <a:t>o</a:t>
            </a:r>
            <a:r>
              <a:rPr lang="en-US" sz="1800" b="1" spc="-75" dirty="0" smtClean="0">
                <a:solidFill>
                  <a:srgbClr val="ED2227"/>
                </a:solidFill>
                <a:latin typeface="MetaPro-Light"/>
              </a:rPr>
              <a:t>.o</a:t>
            </a:r>
            <a:r>
              <a:rPr lang="en-US" sz="1800" b="1" spc="-130" dirty="0" smtClean="0">
                <a:solidFill>
                  <a:srgbClr val="ED2227"/>
                </a:solidFill>
                <a:latin typeface="MetaPro-Light"/>
              </a:rPr>
              <a:t>r</a:t>
            </a:r>
            <a:r>
              <a:rPr lang="en-US" sz="1800" b="1" spc="-140" dirty="0" smtClean="0">
                <a:solidFill>
                  <a:srgbClr val="ED2227"/>
                </a:solidFill>
                <a:latin typeface="MetaPro-Light"/>
              </a:rPr>
              <a:t>g</a:t>
            </a:r>
            <a:endParaRPr lang="en-US" sz="1800" dirty="0" smtClean="0">
              <a:latin typeface="MetaPro-Light"/>
            </a:endParaRPr>
          </a:p>
          <a:p>
            <a:pPr marL="0" indent="0">
              <a:lnSpc>
                <a:spcPts val="650"/>
              </a:lnSpc>
              <a:spcBef>
                <a:spcPts val="14"/>
              </a:spcBef>
              <a:buNone/>
            </a:pPr>
            <a:endParaRPr lang="en-US" sz="1100" dirty="0" smtClean="0">
              <a:latin typeface="MetaPro-Light"/>
            </a:endParaRPr>
          </a:p>
          <a:p>
            <a:pPr marL="0" marR="13335" indent="0" algn="r">
              <a:lnSpc>
                <a:spcPct val="100000"/>
              </a:lnSpc>
              <a:buNone/>
            </a:pPr>
            <a:r>
              <a:rPr lang="en-US" sz="1100" spc="75" dirty="0" smtClean="0">
                <a:solidFill>
                  <a:srgbClr val="231F20"/>
                </a:solidFill>
                <a:latin typeface="MetaPro-Light"/>
              </a:rPr>
              <a:t>©</a:t>
            </a:r>
            <a:r>
              <a:rPr lang="en-US" sz="1100" spc="-35" dirty="0" smtClean="0">
                <a:solidFill>
                  <a:srgbClr val="231F20"/>
                </a:solidFill>
                <a:latin typeface="MetaPro-Light"/>
              </a:rPr>
              <a:t> </a:t>
            </a:r>
            <a:r>
              <a:rPr lang="en-US" sz="1100" spc="-65" dirty="0" smtClean="0">
                <a:solidFill>
                  <a:srgbClr val="231F20"/>
                </a:solidFill>
                <a:latin typeface="MetaPro-Light"/>
              </a:rPr>
              <a:t>IS</a:t>
            </a:r>
            <a:r>
              <a:rPr lang="en-US" sz="1100" spc="-120" dirty="0" smtClean="0">
                <a:solidFill>
                  <a:srgbClr val="231F20"/>
                </a:solidFill>
                <a:latin typeface="MetaPro-Light"/>
              </a:rPr>
              <a:t>O</a:t>
            </a:r>
            <a:r>
              <a:rPr lang="en-US" sz="1100" spc="-40" dirty="0" smtClean="0">
                <a:solidFill>
                  <a:srgbClr val="231F20"/>
                </a:solidFill>
                <a:latin typeface="MetaPro-Light"/>
              </a:rPr>
              <a:t>,</a:t>
            </a:r>
            <a:r>
              <a:rPr lang="en-US" sz="1100" spc="-35" dirty="0" smtClean="0">
                <a:solidFill>
                  <a:srgbClr val="231F20"/>
                </a:solidFill>
                <a:latin typeface="MetaPro-Light"/>
              </a:rPr>
              <a:t> </a:t>
            </a:r>
            <a:r>
              <a:rPr lang="en-US" sz="1100" spc="5" dirty="0" smtClean="0">
                <a:solidFill>
                  <a:srgbClr val="231F20"/>
                </a:solidFill>
                <a:latin typeface="MetaPro-Light"/>
              </a:rPr>
              <a:t>2015</a:t>
            </a:r>
          </a:p>
          <a:p>
            <a:pPr marL="0" marR="13335" indent="0" algn="r">
              <a:lnSpc>
                <a:spcPct val="100000"/>
              </a:lnSpc>
              <a:buNone/>
            </a:pPr>
            <a:endParaRPr lang="en-US" sz="1100" dirty="0" smtClean="0">
              <a:latin typeface="MetaPro-Light"/>
            </a:endParaRPr>
          </a:p>
          <a:p>
            <a:pPr marL="513715" marR="12700" indent="0" algn="r">
              <a:lnSpc>
                <a:spcPts val="800"/>
              </a:lnSpc>
              <a:spcBef>
                <a:spcPts val="20"/>
              </a:spcBef>
              <a:buNone/>
            </a:pPr>
            <a:r>
              <a:rPr lang="en-US" sz="1100" spc="-90" dirty="0" smtClean="0">
                <a:solidFill>
                  <a:srgbClr val="231F20"/>
                </a:solidFill>
                <a:latin typeface="MetaPro-Light"/>
              </a:rPr>
              <a:t>A</a:t>
            </a:r>
            <a:r>
              <a:rPr lang="en-US" sz="1100" spc="-5" dirty="0" smtClean="0">
                <a:solidFill>
                  <a:srgbClr val="231F20"/>
                </a:solidFill>
                <a:latin typeface="MetaPro-Light"/>
              </a:rPr>
              <a:t>l</a:t>
            </a:r>
            <a:r>
              <a:rPr lang="en-US" sz="1100" spc="5" dirty="0" smtClean="0">
                <a:solidFill>
                  <a:srgbClr val="231F20"/>
                </a:solidFill>
                <a:latin typeface="MetaPro-Light"/>
              </a:rPr>
              <a:t>l</a:t>
            </a:r>
            <a:r>
              <a:rPr lang="en-US" sz="1100" spc="-45" dirty="0" smtClean="0">
                <a:solidFill>
                  <a:srgbClr val="231F20"/>
                </a:solidFill>
                <a:latin typeface="MetaPro-Light"/>
              </a:rPr>
              <a:t> </a:t>
            </a:r>
            <a:r>
              <a:rPr lang="en-US" sz="1100" spc="-20" dirty="0" smtClean="0">
                <a:solidFill>
                  <a:srgbClr val="231F20"/>
                </a:solidFill>
                <a:latin typeface="MetaPro-Light"/>
              </a:rPr>
              <a:t>rights</a:t>
            </a:r>
            <a:r>
              <a:rPr lang="en-US" sz="1100" spc="-45" dirty="0" smtClean="0">
                <a:solidFill>
                  <a:srgbClr val="231F20"/>
                </a:solidFill>
                <a:latin typeface="MetaPro-Light"/>
              </a:rPr>
              <a:t> </a:t>
            </a:r>
            <a:r>
              <a:rPr lang="en-US" sz="1100" spc="-30" dirty="0" smtClean="0">
                <a:solidFill>
                  <a:srgbClr val="231F20"/>
                </a:solidFill>
                <a:latin typeface="MetaPro-Light"/>
              </a:rPr>
              <a:t>r</a:t>
            </a:r>
            <a:r>
              <a:rPr lang="en-US" sz="1100" spc="-55" dirty="0" smtClean="0">
                <a:solidFill>
                  <a:srgbClr val="231F20"/>
                </a:solidFill>
                <a:latin typeface="MetaPro-Light"/>
              </a:rPr>
              <a:t>e</a:t>
            </a:r>
            <a:r>
              <a:rPr lang="en-US" sz="1100" spc="-50" dirty="0" smtClean="0">
                <a:solidFill>
                  <a:srgbClr val="231F20"/>
                </a:solidFill>
                <a:latin typeface="MetaPro-Light"/>
              </a:rPr>
              <a:t>se</a:t>
            </a:r>
            <a:r>
              <a:rPr lang="en-US" sz="1100" spc="-25" dirty="0" smtClean="0">
                <a:solidFill>
                  <a:srgbClr val="231F20"/>
                </a:solidFill>
                <a:latin typeface="MetaPro-Light"/>
              </a:rPr>
              <a:t>r</a:t>
            </a:r>
            <a:r>
              <a:rPr lang="en-US" sz="1100" spc="-40" dirty="0" smtClean="0">
                <a:solidFill>
                  <a:srgbClr val="231F20"/>
                </a:solidFill>
                <a:latin typeface="MetaPro-Light"/>
              </a:rPr>
              <a:t>ved</a:t>
            </a:r>
            <a:r>
              <a:rPr lang="en-US" sz="1100" spc="-20" dirty="0" smtClean="0">
                <a:solidFill>
                  <a:srgbClr val="231F20"/>
                </a:solidFill>
                <a:latin typeface="MetaPro-Light"/>
              </a:rPr>
              <a:t> </a:t>
            </a:r>
            <a:r>
              <a:rPr lang="en-US" sz="1100" spc="-45" dirty="0" smtClean="0">
                <a:solidFill>
                  <a:srgbClr val="231F20"/>
                </a:solidFill>
                <a:latin typeface="MetaPro-Light"/>
              </a:rPr>
              <a:t>I</a:t>
            </a:r>
            <a:r>
              <a:rPr lang="en-US" sz="1100" spc="-110" dirty="0" smtClean="0">
                <a:solidFill>
                  <a:srgbClr val="231F20"/>
                </a:solidFill>
                <a:latin typeface="MetaPro-Light"/>
              </a:rPr>
              <a:t>S</a:t>
            </a:r>
            <a:r>
              <a:rPr lang="en-US" sz="1100" spc="-75" dirty="0" smtClean="0">
                <a:solidFill>
                  <a:srgbClr val="231F20"/>
                </a:solidFill>
                <a:latin typeface="MetaPro-Light"/>
              </a:rPr>
              <a:t>BN</a:t>
            </a:r>
            <a:r>
              <a:rPr lang="en-US" sz="1100" spc="-35" dirty="0" smtClean="0">
                <a:solidFill>
                  <a:srgbClr val="231F20"/>
                </a:solidFill>
                <a:latin typeface="MetaPro-Light"/>
              </a:rPr>
              <a:t> </a:t>
            </a:r>
            <a:r>
              <a:rPr lang="en-US" sz="1100" dirty="0" smtClean="0">
                <a:solidFill>
                  <a:srgbClr val="231F20"/>
                </a:solidFill>
                <a:latin typeface="MetaPro-Light"/>
              </a:rPr>
              <a:t>978-92-67-10648-9</a:t>
            </a:r>
            <a:endParaRPr lang="en-US" sz="1100" dirty="0">
              <a:latin typeface="MetaPro-Light"/>
            </a:endParaRPr>
          </a:p>
        </p:txBody>
      </p:sp>
    </p:spTree>
    <p:extLst>
      <p:ext uri="{BB962C8B-B14F-4D97-AF65-F5344CB8AC3E}">
        <p14:creationId xmlns:p14="http://schemas.microsoft.com/office/powerpoint/2010/main" val="14463695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t>Atlassian Products</a:t>
            </a:r>
            <a:endParaRPr lang="en-US" sz="4000" dirty="0"/>
          </a:p>
        </p:txBody>
      </p:sp>
      <p:pic>
        <p:nvPicPr>
          <p:cNvPr id="4" name="Picture 3"/>
          <p:cNvPicPr>
            <a:picLocks noChangeAspect="1"/>
          </p:cNvPicPr>
          <p:nvPr/>
        </p:nvPicPr>
        <p:blipFill>
          <a:blip r:embed="rId2"/>
          <a:stretch>
            <a:fillRect/>
          </a:stretch>
        </p:blipFill>
        <p:spPr>
          <a:xfrm>
            <a:off x="2457450" y="1690688"/>
            <a:ext cx="7277100" cy="2780125"/>
          </a:xfrm>
          <a:prstGeom prst="rect">
            <a:avLst/>
          </a:prstGeom>
          <a:ln>
            <a:noFill/>
          </a:ln>
          <a:effectLst>
            <a:outerShdw blurRad="292100" dist="139700" dir="2700000" algn="tl" rotWithShape="0">
              <a:srgbClr val="333333">
                <a:alpha val="65000"/>
              </a:srgbClr>
            </a:outerShdw>
          </a:effectLst>
        </p:spPr>
      </p:pic>
      <p:sp>
        <p:nvSpPr>
          <p:cNvPr id="5" name="Oval 4"/>
          <p:cNvSpPr/>
          <p:nvPr/>
        </p:nvSpPr>
        <p:spPr>
          <a:xfrm>
            <a:off x="7296150" y="2076450"/>
            <a:ext cx="1752600" cy="638175"/>
          </a:xfrm>
          <a:prstGeom prst="ellipse">
            <a:avLst/>
          </a:prstGeom>
          <a:noFill/>
          <a:ln w="19050">
            <a:solidFill>
              <a:schemeClr val="tx1">
                <a:lumMod val="95000"/>
                <a:lumOff val="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 name="Oval 5"/>
          <p:cNvSpPr/>
          <p:nvPr/>
        </p:nvSpPr>
        <p:spPr>
          <a:xfrm>
            <a:off x="2457450" y="2076450"/>
            <a:ext cx="1866900" cy="685213"/>
          </a:xfrm>
          <a:prstGeom prst="ellipse">
            <a:avLst/>
          </a:prstGeom>
          <a:noFill/>
          <a:ln w="19050">
            <a:solidFill>
              <a:schemeClr val="tx1">
                <a:lumMod val="95000"/>
                <a:lumOff val="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 name="TextBox 2"/>
          <p:cNvSpPr txBox="1"/>
          <p:nvPr/>
        </p:nvSpPr>
        <p:spPr>
          <a:xfrm>
            <a:off x="1361520" y="4929004"/>
            <a:ext cx="9354105" cy="646331"/>
          </a:xfrm>
          <a:prstGeom prst="rect">
            <a:avLst/>
          </a:prstGeom>
          <a:noFill/>
        </p:spPr>
        <p:txBody>
          <a:bodyPr wrap="square" rtlCol="0">
            <a:spAutoFit/>
          </a:bodyPr>
          <a:lstStyle/>
          <a:p>
            <a:r>
              <a:rPr lang="en-US" dirty="0" smtClean="0"/>
              <a:t>For the configuration of the demonstration, ISO installed Jira and </a:t>
            </a:r>
            <a:r>
              <a:rPr lang="en-US" dirty="0" err="1" smtClean="0"/>
              <a:t>Bitbucket</a:t>
            </a:r>
            <a:r>
              <a:rPr lang="en-US" dirty="0" smtClean="0"/>
              <a:t> and integrated to the ISO Single Sign on Federation.  Basic structures and configuration were provided by ISO CS IT.</a:t>
            </a:r>
          </a:p>
        </p:txBody>
      </p:sp>
      <p:sp>
        <p:nvSpPr>
          <p:cNvPr id="7" name="TextBox 6"/>
          <p:cNvSpPr txBox="1"/>
          <p:nvPr/>
        </p:nvSpPr>
        <p:spPr>
          <a:xfrm>
            <a:off x="1089884" y="2148879"/>
            <a:ext cx="1115883" cy="369332"/>
          </a:xfrm>
          <a:prstGeom prst="rect">
            <a:avLst/>
          </a:prstGeom>
          <a:noFill/>
        </p:spPr>
        <p:txBody>
          <a:bodyPr wrap="none" rtlCol="0">
            <a:spAutoFit/>
          </a:bodyPr>
          <a:lstStyle/>
          <a:p>
            <a:r>
              <a:rPr lang="en-US" dirty="0" smtClean="0"/>
              <a:t>Part 1 &amp; 2</a:t>
            </a:r>
            <a:endParaRPr lang="en-US" dirty="0"/>
          </a:p>
        </p:txBody>
      </p:sp>
      <p:sp>
        <p:nvSpPr>
          <p:cNvPr id="8" name="TextBox 7"/>
          <p:cNvSpPr txBox="1"/>
          <p:nvPr/>
        </p:nvSpPr>
        <p:spPr>
          <a:xfrm>
            <a:off x="9986233" y="2104022"/>
            <a:ext cx="1348318" cy="369332"/>
          </a:xfrm>
          <a:prstGeom prst="rect">
            <a:avLst/>
          </a:prstGeom>
          <a:noFill/>
        </p:spPr>
        <p:txBody>
          <a:bodyPr wrap="none" rtlCol="0">
            <a:spAutoFit/>
          </a:bodyPr>
          <a:lstStyle/>
          <a:p>
            <a:r>
              <a:rPr lang="en-US" dirty="0" smtClean="0"/>
              <a:t>Part 3a &amp; 3b</a:t>
            </a:r>
            <a:endParaRPr lang="en-US" dirty="0"/>
          </a:p>
        </p:txBody>
      </p:sp>
    </p:spTree>
    <p:extLst>
      <p:ext uri="{BB962C8B-B14F-4D97-AF65-F5344CB8AC3E}">
        <p14:creationId xmlns:p14="http://schemas.microsoft.com/office/powerpoint/2010/main" val="143925221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t>Part 1 &amp; 2: Issues/Project Management</a:t>
            </a:r>
            <a:endParaRPr lang="en-US" sz="4000" dirty="0"/>
          </a:p>
        </p:txBody>
      </p:sp>
      <p:sp>
        <p:nvSpPr>
          <p:cNvPr id="3" name="Content Placeholder 2"/>
          <p:cNvSpPr>
            <a:spLocks noGrp="1"/>
          </p:cNvSpPr>
          <p:nvPr>
            <p:ph idx="1"/>
          </p:nvPr>
        </p:nvSpPr>
        <p:spPr>
          <a:xfrm>
            <a:off x="457199" y="1851025"/>
            <a:ext cx="5638800" cy="4351338"/>
          </a:xfrm>
        </p:spPr>
        <p:txBody>
          <a:bodyPr>
            <a:normAutofit/>
          </a:bodyPr>
          <a:lstStyle/>
          <a:p>
            <a:r>
              <a:rPr lang="en-US" sz="2400" dirty="0" smtClean="0"/>
              <a:t>Current State: </a:t>
            </a:r>
          </a:p>
          <a:p>
            <a:pPr lvl="1"/>
            <a:r>
              <a:rPr lang="en-US" sz="2000" dirty="0" smtClean="0"/>
              <a:t>Mozilla’s </a:t>
            </a:r>
            <a:r>
              <a:rPr lang="en-US" sz="2000" dirty="0" err="1" smtClean="0"/>
              <a:t>Bugzilla</a:t>
            </a:r>
            <a:r>
              <a:rPr lang="en-US" sz="2000" dirty="0" smtClean="0"/>
              <a:t> operating LKSOFT company servers</a:t>
            </a:r>
          </a:p>
          <a:p>
            <a:pPr lvl="1"/>
            <a:r>
              <a:rPr lang="en-US" sz="2000" dirty="0" smtClean="0"/>
              <a:t>Access Control not managed by ISO Global Directory</a:t>
            </a:r>
          </a:p>
          <a:p>
            <a:pPr lvl="1"/>
            <a:r>
              <a:rPr lang="en-US" sz="2000" dirty="0" smtClean="0"/>
              <a:t>Used for both Issue Management and Project Management with multiple process workarounds</a:t>
            </a:r>
            <a:endParaRPr lang="en-US" sz="2000" dirty="0"/>
          </a:p>
          <a:p>
            <a:pPr lvl="1"/>
            <a:r>
              <a:rPr lang="en-US" sz="2000" dirty="0" smtClean="0"/>
              <a:t>Dated technology from 1998 [20 years old]</a:t>
            </a:r>
          </a:p>
          <a:p>
            <a:pPr lvl="2"/>
            <a:r>
              <a:rPr lang="en-US" sz="1800" dirty="0" smtClean="0"/>
              <a:t>No dashboards</a:t>
            </a:r>
          </a:p>
          <a:p>
            <a:pPr lvl="2"/>
            <a:r>
              <a:rPr lang="en-US" sz="1800" dirty="0" smtClean="0"/>
              <a:t>No real time tracking</a:t>
            </a:r>
            <a:endParaRPr lang="en-US" sz="1800" dirty="0"/>
          </a:p>
          <a:p>
            <a:pPr lvl="2"/>
            <a:r>
              <a:rPr lang="en-US" sz="1800" dirty="0" smtClean="0"/>
              <a:t>No integration with source code repository</a:t>
            </a:r>
          </a:p>
        </p:txBody>
      </p:sp>
      <p:sp>
        <p:nvSpPr>
          <p:cNvPr id="5" name="Content Placeholder 2"/>
          <p:cNvSpPr txBox="1">
            <a:spLocks/>
          </p:cNvSpPr>
          <p:nvPr/>
        </p:nvSpPr>
        <p:spPr>
          <a:xfrm>
            <a:off x="5943599" y="1825625"/>
            <a:ext cx="6105525"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smtClean="0"/>
              <a:t>Future State: </a:t>
            </a:r>
          </a:p>
          <a:p>
            <a:pPr lvl="1"/>
            <a:r>
              <a:rPr lang="en-US" sz="2000" dirty="0" smtClean="0"/>
              <a:t>Atlassian JIRA on ISO Server</a:t>
            </a:r>
          </a:p>
          <a:p>
            <a:pPr lvl="1"/>
            <a:r>
              <a:rPr lang="en-US" sz="2000" dirty="0" smtClean="0"/>
              <a:t>Access control by ISO Global Directory</a:t>
            </a:r>
          </a:p>
          <a:p>
            <a:pPr lvl="1"/>
            <a:r>
              <a:rPr lang="en-US" sz="2000" dirty="0" smtClean="0"/>
              <a:t>Dedicated object types and flows for issues, requirements, tasks, sub-tasks, epics, scrums, etc.</a:t>
            </a:r>
          </a:p>
          <a:p>
            <a:pPr lvl="1"/>
            <a:r>
              <a:rPr lang="en-US" sz="2000" dirty="0" smtClean="0"/>
              <a:t>Linked to source code repository </a:t>
            </a:r>
          </a:p>
          <a:p>
            <a:pPr lvl="1"/>
            <a:r>
              <a:rPr lang="en-US" sz="2000" dirty="0" smtClean="0"/>
              <a:t>High support for AGILE development processes:</a:t>
            </a:r>
          </a:p>
          <a:p>
            <a:pPr lvl="2"/>
            <a:r>
              <a:rPr lang="en-US" sz="1800" dirty="0" smtClean="0"/>
              <a:t>Dashboards</a:t>
            </a:r>
          </a:p>
          <a:p>
            <a:pPr lvl="2"/>
            <a:r>
              <a:rPr lang="en-US" sz="1800" dirty="0" err="1" smtClean="0"/>
              <a:t>Kanbans</a:t>
            </a:r>
            <a:endParaRPr lang="en-US" sz="1800" dirty="0" smtClean="0"/>
          </a:p>
          <a:p>
            <a:pPr lvl="2"/>
            <a:r>
              <a:rPr lang="en-US" sz="1800" dirty="0" smtClean="0"/>
              <a:t>EPICs, SCRUMS</a:t>
            </a:r>
            <a:endParaRPr lang="en-US" sz="1800" dirty="0"/>
          </a:p>
        </p:txBody>
      </p:sp>
      <p:sp>
        <p:nvSpPr>
          <p:cNvPr id="6" name="TextBox 5"/>
          <p:cNvSpPr txBox="1"/>
          <p:nvPr/>
        </p:nvSpPr>
        <p:spPr>
          <a:xfrm>
            <a:off x="2224087" y="6337300"/>
            <a:ext cx="7743825" cy="646331"/>
          </a:xfrm>
          <a:prstGeom prst="rect">
            <a:avLst/>
          </a:prstGeom>
          <a:noFill/>
        </p:spPr>
        <p:txBody>
          <a:bodyPr wrap="square" rtlCol="0">
            <a:spAutoFit/>
          </a:bodyPr>
          <a:lstStyle/>
          <a:p>
            <a:r>
              <a:rPr lang="en-US" dirty="0" smtClean="0">
                <a:hlinkClick r:id="rId2"/>
              </a:rPr>
              <a:t>https://dzone.com/articles/which-one-to-choose-jira-or-bugzilla-training</a:t>
            </a:r>
            <a:endParaRPr lang="en-US" dirty="0" smtClean="0"/>
          </a:p>
          <a:p>
            <a:endParaRPr lang="en-US" dirty="0"/>
          </a:p>
        </p:txBody>
      </p:sp>
      <p:pic>
        <p:nvPicPr>
          <p:cNvPr id="4" name="Picture 3"/>
          <p:cNvPicPr>
            <a:picLocks noChangeAspect="1"/>
          </p:cNvPicPr>
          <p:nvPr/>
        </p:nvPicPr>
        <p:blipFill>
          <a:blip r:embed="rId3"/>
          <a:stretch>
            <a:fillRect/>
          </a:stretch>
        </p:blipFill>
        <p:spPr>
          <a:xfrm>
            <a:off x="10182225" y="4531587"/>
            <a:ext cx="1652587" cy="2128878"/>
          </a:xfrm>
          <a:prstGeom prst="rect">
            <a:avLst/>
          </a:prstGeom>
          <a:ln>
            <a:noFill/>
          </a:ln>
          <a:effectLst>
            <a:outerShdw blurRad="292100" dist="139700" dir="2700000" algn="tl" rotWithShape="0">
              <a:srgbClr val="333333">
                <a:alpha val="65000"/>
              </a:srgbClr>
            </a:outerShdw>
          </a:effectLst>
        </p:spPr>
      </p:pic>
      <p:sp>
        <p:nvSpPr>
          <p:cNvPr id="9" name="Oval 8"/>
          <p:cNvSpPr/>
          <p:nvPr/>
        </p:nvSpPr>
        <p:spPr>
          <a:xfrm>
            <a:off x="10158412" y="4762499"/>
            <a:ext cx="1676400" cy="638175"/>
          </a:xfrm>
          <a:prstGeom prst="ellipse">
            <a:avLst/>
          </a:prstGeom>
          <a:noFill/>
          <a:ln w="19050">
            <a:solidFill>
              <a:schemeClr val="tx1">
                <a:lumMod val="95000"/>
                <a:lumOff val="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410714656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177921" y="487362"/>
            <a:ext cx="11871203" cy="1325563"/>
          </a:xfrm>
        </p:spPr>
        <p:txBody>
          <a:bodyPr>
            <a:normAutofit/>
          </a:bodyPr>
          <a:lstStyle/>
          <a:p>
            <a:r>
              <a:rPr lang="en-US" sz="4000" dirty="0" smtClean="0"/>
              <a:t>Part 3: Source Code Management of ISO 10303 models*</a:t>
            </a:r>
            <a:endParaRPr lang="en-US" sz="4000" dirty="0"/>
          </a:p>
        </p:txBody>
      </p:sp>
      <p:sp>
        <p:nvSpPr>
          <p:cNvPr id="3" name="Content Placeholder 2"/>
          <p:cNvSpPr>
            <a:spLocks noGrp="1"/>
          </p:cNvSpPr>
          <p:nvPr>
            <p:ph idx="1"/>
          </p:nvPr>
        </p:nvSpPr>
        <p:spPr>
          <a:xfrm>
            <a:off x="457199" y="1838325"/>
            <a:ext cx="5638800" cy="4351338"/>
          </a:xfrm>
        </p:spPr>
        <p:txBody>
          <a:bodyPr>
            <a:normAutofit/>
          </a:bodyPr>
          <a:lstStyle/>
          <a:p>
            <a:r>
              <a:rPr lang="en-US" sz="2400" dirty="0" smtClean="0"/>
              <a:t>Current State [</a:t>
            </a:r>
            <a:r>
              <a:rPr lang="en-US" sz="2000" dirty="0" smtClean="0"/>
              <a:t>2</a:t>
            </a:r>
            <a:r>
              <a:rPr lang="en-US" sz="2000" baseline="30000" dirty="0" smtClean="0"/>
              <a:t>nd</a:t>
            </a:r>
            <a:r>
              <a:rPr lang="en-US" sz="2000" dirty="0" smtClean="0"/>
              <a:t> Generation Technology</a:t>
            </a:r>
            <a:r>
              <a:rPr lang="en-US" sz="2400" dirty="0" smtClean="0"/>
              <a:t>]: </a:t>
            </a:r>
          </a:p>
          <a:p>
            <a:pPr lvl="1"/>
            <a:r>
              <a:rPr lang="en-US" sz="2000" dirty="0" err="1" smtClean="0"/>
              <a:t>Sourceforge</a:t>
            </a:r>
            <a:r>
              <a:rPr lang="en-US" sz="2000" dirty="0" smtClean="0"/>
              <a:t> CVS for “</a:t>
            </a:r>
            <a:r>
              <a:rPr lang="en-US" sz="2000" dirty="0" err="1" smtClean="0"/>
              <a:t>stepmod</a:t>
            </a:r>
            <a:r>
              <a:rPr lang="en-US" sz="2000" dirty="0" smtClean="0"/>
              <a:t>” source code</a:t>
            </a:r>
          </a:p>
          <a:p>
            <a:pPr lvl="1"/>
            <a:r>
              <a:rPr lang="en-US" sz="2000" dirty="0" smtClean="0"/>
              <a:t>Access Control not managed by ISO Global Directory</a:t>
            </a:r>
          </a:p>
          <a:p>
            <a:pPr lvl="1"/>
            <a:r>
              <a:rPr lang="en-US" sz="2000" dirty="0" smtClean="0"/>
              <a:t>Older Technology first developed in 1990 [28 years old]. Last updated in 2011 [7 years]</a:t>
            </a:r>
          </a:p>
          <a:p>
            <a:pPr lvl="2"/>
            <a:r>
              <a:rPr lang="en-US" sz="1800" dirty="0" smtClean="0"/>
              <a:t>Merge before commit</a:t>
            </a:r>
          </a:p>
          <a:p>
            <a:pPr lvl="2"/>
            <a:r>
              <a:rPr lang="en-US" sz="1800" dirty="0" smtClean="0"/>
              <a:t>No collaboration or development areas</a:t>
            </a:r>
          </a:p>
          <a:p>
            <a:pPr lvl="2"/>
            <a:r>
              <a:rPr lang="en-US" sz="1800" dirty="0" smtClean="0"/>
              <a:t>No integration with Issues/Project management tools</a:t>
            </a:r>
          </a:p>
        </p:txBody>
      </p:sp>
      <p:sp>
        <p:nvSpPr>
          <p:cNvPr id="5" name="Content Placeholder 2"/>
          <p:cNvSpPr txBox="1">
            <a:spLocks/>
          </p:cNvSpPr>
          <p:nvPr/>
        </p:nvSpPr>
        <p:spPr>
          <a:xfrm>
            <a:off x="5943599" y="1825625"/>
            <a:ext cx="6105525"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smtClean="0"/>
              <a:t>Future State [</a:t>
            </a:r>
            <a:r>
              <a:rPr lang="en-US" sz="2000" dirty="0" smtClean="0"/>
              <a:t>3</a:t>
            </a:r>
            <a:r>
              <a:rPr lang="en-US" sz="2000" baseline="30000" dirty="0" smtClean="0"/>
              <a:t>rd</a:t>
            </a:r>
            <a:r>
              <a:rPr lang="en-US" sz="2000" dirty="0" smtClean="0"/>
              <a:t> Generation Technology</a:t>
            </a:r>
            <a:r>
              <a:rPr lang="en-US" sz="2400" dirty="0" smtClean="0"/>
              <a:t>]: </a:t>
            </a:r>
          </a:p>
          <a:p>
            <a:pPr lvl="1"/>
            <a:r>
              <a:rPr lang="en-US" sz="2000" dirty="0" smtClean="0"/>
              <a:t>Atlassian </a:t>
            </a:r>
            <a:r>
              <a:rPr lang="en-US" sz="2000" dirty="0" err="1" smtClean="0"/>
              <a:t>BitBucket</a:t>
            </a:r>
            <a:r>
              <a:rPr lang="en-US" sz="2000" dirty="0" smtClean="0"/>
              <a:t> [GIT] on ISO Server</a:t>
            </a:r>
          </a:p>
          <a:p>
            <a:pPr lvl="1"/>
            <a:r>
              <a:rPr lang="en-US" sz="2000" dirty="0" smtClean="0"/>
              <a:t>Access control by ISO Global Directory</a:t>
            </a:r>
          </a:p>
          <a:p>
            <a:pPr lvl="1"/>
            <a:r>
              <a:rPr lang="en-US" sz="2000" dirty="0" smtClean="0"/>
              <a:t>Version Control System of choice for today’s developers</a:t>
            </a:r>
          </a:p>
          <a:p>
            <a:pPr lvl="2"/>
            <a:r>
              <a:rPr lang="en-US" sz="1600" dirty="0" smtClean="0"/>
              <a:t>Integrated with JIRA</a:t>
            </a:r>
          </a:p>
          <a:p>
            <a:pPr lvl="2"/>
            <a:r>
              <a:rPr lang="en-US" sz="1600" dirty="0" smtClean="0"/>
              <a:t>Decentralized and distributed architecture</a:t>
            </a:r>
          </a:p>
          <a:p>
            <a:pPr lvl="2"/>
            <a:r>
              <a:rPr lang="en-US" sz="1600" dirty="0" smtClean="0"/>
              <a:t>Commit before merge capabilities</a:t>
            </a:r>
          </a:p>
          <a:p>
            <a:pPr lvl="2"/>
            <a:r>
              <a:rPr lang="en-US" sz="1600" dirty="0" smtClean="0"/>
              <a:t>Integrated quality controls</a:t>
            </a:r>
          </a:p>
        </p:txBody>
      </p:sp>
      <p:pic>
        <p:nvPicPr>
          <p:cNvPr id="4" name="Picture 3"/>
          <p:cNvPicPr>
            <a:picLocks noChangeAspect="1"/>
          </p:cNvPicPr>
          <p:nvPr/>
        </p:nvPicPr>
        <p:blipFill>
          <a:blip r:embed="rId2"/>
          <a:stretch>
            <a:fillRect/>
          </a:stretch>
        </p:blipFill>
        <p:spPr>
          <a:xfrm>
            <a:off x="9801225" y="4501005"/>
            <a:ext cx="1866900" cy="1836295"/>
          </a:xfrm>
          <a:prstGeom prst="rect">
            <a:avLst/>
          </a:prstGeom>
          <a:ln>
            <a:noFill/>
          </a:ln>
          <a:effectLst>
            <a:outerShdw blurRad="292100" dist="139700" dir="2700000" algn="tl" rotWithShape="0">
              <a:srgbClr val="333333">
                <a:alpha val="65000"/>
              </a:srgbClr>
            </a:outerShdw>
          </a:effectLst>
        </p:spPr>
      </p:pic>
      <p:sp>
        <p:nvSpPr>
          <p:cNvPr id="7" name="Oval 6"/>
          <p:cNvSpPr/>
          <p:nvPr/>
        </p:nvSpPr>
        <p:spPr>
          <a:xfrm>
            <a:off x="9725024" y="4780977"/>
            <a:ext cx="1676400" cy="638175"/>
          </a:xfrm>
          <a:prstGeom prst="ellipse">
            <a:avLst/>
          </a:prstGeom>
          <a:noFill/>
          <a:ln w="19050">
            <a:solidFill>
              <a:schemeClr val="tx1">
                <a:lumMod val="95000"/>
                <a:lumOff val="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 name="TextBox 7"/>
          <p:cNvSpPr txBox="1"/>
          <p:nvPr/>
        </p:nvSpPr>
        <p:spPr>
          <a:xfrm>
            <a:off x="177921" y="5852211"/>
            <a:ext cx="9552936" cy="923330"/>
          </a:xfrm>
          <a:prstGeom prst="rect">
            <a:avLst/>
          </a:prstGeom>
          <a:noFill/>
        </p:spPr>
        <p:txBody>
          <a:bodyPr wrap="none" rtlCol="0">
            <a:spAutoFit/>
          </a:bodyPr>
          <a:lstStyle/>
          <a:p>
            <a:r>
              <a:rPr lang="en-US" dirty="0" smtClean="0"/>
              <a:t>*EXPRESS (ISO 10303-11) is a data modeling language used to develop ISO 10303 documentation.</a:t>
            </a:r>
          </a:p>
          <a:p>
            <a:r>
              <a:rPr lang="en-US" dirty="0" smtClean="0"/>
              <a:t>ISO 10303 is created by modeling data structures and “compiling” documentation from the models. </a:t>
            </a:r>
          </a:p>
          <a:p>
            <a:r>
              <a:rPr lang="en-US" dirty="0" err="1" smtClean="0"/>
              <a:t>Stepmod</a:t>
            </a:r>
            <a:r>
              <a:rPr lang="en-US" dirty="0" smtClean="0"/>
              <a:t> is the internally developed code base that integrates the ISO 10303 parts for publication.</a:t>
            </a:r>
            <a:endParaRPr lang="en-US" dirty="0"/>
          </a:p>
        </p:txBody>
      </p:sp>
    </p:spTree>
    <p:extLst>
      <p:ext uri="{BB962C8B-B14F-4D97-AF65-F5344CB8AC3E}">
        <p14:creationId xmlns:p14="http://schemas.microsoft.com/office/powerpoint/2010/main" val="20600211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t>Part 4: Continuous Integration/Pipelines</a:t>
            </a:r>
            <a:endParaRPr lang="en-US" sz="4000" dirty="0"/>
          </a:p>
        </p:txBody>
      </p:sp>
      <p:pic>
        <p:nvPicPr>
          <p:cNvPr id="4" name="Picture 3"/>
          <p:cNvPicPr>
            <a:picLocks noChangeAspect="1"/>
          </p:cNvPicPr>
          <p:nvPr/>
        </p:nvPicPr>
        <p:blipFill>
          <a:blip r:embed="rId2"/>
          <a:stretch>
            <a:fillRect/>
          </a:stretch>
        </p:blipFill>
        <p:spPr>
          <a:xfrm>
            <a:off x="1914525" y="1690688"/>
            <a:ext cx="6858000" cy="3829050"/>
          </a:xfrm>
          <a:prstGeom prst="rect">
            <a:avLst/>
          </a:prstGeom>
        </p:spPr>
      </p:pic>
      <p:pic>
        <p:nvPicPr>
          <p:cNvPr id="5" name="Picture 4"/>
          <p:cNvPicPr>
            <a:picLocks noChangeAspect="1"/>
          </p:cNvPicPr>
          <p:nvPr/>
        </p:nvPicPr>
        <p:blipFill>
          <a:blip r:embed="rId3"/>
          <a:stretch>
            <a:fillRect/>
          </a:stretch>
        </p:blipFill>
        <p:spPr>
          <a:xfrm>
            <a:off x="9801225" y="4501005"/>
            <a:ext cx="1866900" cy="1836295"/>
          </a:xfrm>
          <a:prstGeom prst="rect">
            <a:avLst/>
          </a:prstGeom>
          <a:ln>
            <a:noFill/>
          </a:ln>
          <a:effectLst>
            <a:outerShdw blurRad="292100" dist="139700" dir="2700000" algn="tl" rotWithShape="0">
              <a:srgbClr val="333333">
                <a:alpha val="65000"/>
              </a:srgbClr>
            </a:outerShdw>
          </a:effectLst>
        </p:spPr>
      </p:pic>
      <p:sp>
        <p:nvSpPr>
          <p:cNvPr id="3" name="TextBox 2"/>
          <p:cNvSpPr txBox="1"/>
          <p:nvPr/>
        </p:nvSpPr>
        <p:spPr>
          <a:xfrm>
            <a:off x="357192" y="6014134"/>
            <a:ext cx="9972666" cy="646331"/>
          </a:xfrm>
          <a:prstGeom prst="rect">
            <a:avLst/>
          </a:prstGeom>
          <a:noFill/>
        </p:spPr>
        <p:txBody>
          <a:bodyPr wrap="none" rtlCol="0">
            <a:spAutoFit/>
          </a:bodyPr>
          <a:lstStyle/>
          <a:p>
            <a:r>
              <a:rPr lang="en-US" dirty="0" smtClean="0"/>
              <a:t>Continuous Integration enables publication and deployment beyond source code control.</a:t>
            </a:r>
          </a:p>
          <a:p>
            <a:r>
              <a:rPr lang="en-US" dirty="0" smtClean="0"/>
              <a:t>This functionality was not evaluated for this pilot and a necessary component to reduce publication time.</a:t>
            </a:r>
            <a:endParaRPr lang="en-US" dirty="0"/>
          </a:p>
        </p:txBody>
      </p:sp>
      <p:sp>
        <p:nvSpPr>
          <p:cNvPr id="6" name="Oval 5"/>
          <p:cNvSpPr/>
          <p:nvPr/>
        </p:nvSpPr>
        <p:spPr>
          <a:xfrm>
            <a:off x="9677399" y="5771577"/>
            <a:ext cx="1990725" cy="638175"/>
          </a:xfrm>
          <a:prstGeom prst="ellipse">
            <a:avLst/>
          </a:prstGeom>
          <a:noFill/>
          <a:ln w="19050">
            <a:solidFill>
              <a:schemeClr val="tx1">
                <a:lumMod val="95000"/>
                <a:lumOff val="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39285081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Atlassian Products</a:t>
            </a:r>
            <a:endParaRPr lang="en-US" dirty="0"/>
          </a:p>
        </p:txBody>
      </p:sp>
      <p:pic>
        <p:nvPicPr>
          <p:cNvPr id="4" name="Picture 3"/>
          <p:cNvPicPr>
            <a:picLocks noChangeAspect="1"/>
          </p:cNvPicPr>
          <p:nvPr/>
        </p:nvPicPr>
        <p:blipFill>
          <a:blip r:embed="rId2"/>
          <a:stretch>
            <a:fillRect/>
          </a:stretch>
        </p:blipFill>
        <p:spPr>
          <a:xfrm>
            <a:off x="2324100" y="2138362"/>
            <a:ext cx="7105650" cy="2714625"/>
          </a:xfrm>
          <a:prstGeom prst="rect">
            <a:avLst/>
          </a:prstGeom>
          <a:ln>
            <a:noFill/>
          </a:ln>
          <a:effectLst>
            <a:outerShdw blurRad="292100" dist="139700" dir="2700000" algn="tl" rotWithShape="0">
              <a:srgbClr val="333333">
                <a:alpha val="65000"/>
              </a:srgbClr>
            </a:outerShdw>
          </a:effectLst>
        </p:spPr>
      </p:pic>
      <p:sp>
        <p:nvSpPr>
          <p:cNvPr id="5" name="Oval 4"/>
          <p:cNvSpPr/>
          <p:nvPr/>
        </p:nvSpPr>
        <p:spPr>
          <a:xfrm>
            <a:off x="7067550" y="2495550"/>
            <a:ext cx="1676400" cy="638175"/>
          </a:xfrm>
          <a:prstGeom prst="ellipse">
            <a:avLst/>
          </a:prstGeom>
          <a:noFill/>
          <a:ln w="19050">
            <a:solidFill>
              <a:schemeClr val="tx1">
                <a:lumMod val="95000"/>
                <a:lumOff val="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 name="Oval 5"/>
          <p:cNvSpPr/>
          <p:nvPr/>
        </p:nvSpPr>
        <p:spPr>
          <a:xfrm>
            <a:off x="2400300" y="2495549"/>
            <a:ext cx="1676400" cy="638175"/>
          </a:xfrm>
          <a:prstGeom prst="ellipse">
            <a:avLst/>
          </a:prstGeom>
          <a:noFill/>
          <a:ln w="19050">
            <a:solidFill>
              <a:schemeClr val="tx1">
                <a:lumMod val="95000"/>
                <a:lumOff val="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 name="Oval 6"/>
          <p:cNvSpPr/>
          <p:nvPr/>
        </p:nvSpPr>
        <p:spPr>
          <a:xfrm>
            <a:off x="4733925" y="3674267"/>
            <a:ext cx="1676400" cy="638175"/>
          </a:xfrm>
          <a:prstGeom prst="ellipse">
            <a:avLst/>
          </a:prstGeom>
          <a:noFill/>
          <a:ln w="28575">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 name="Oval 7"/>
          <p:cNvSpPr/>
          <p:nvPr/>
        </p:nvSpPr>
        <p:spPr>
          <a:xfrm>
            <a:off x="4733925" y="2495547"/>
            <a:ext cx="1676400" cy="638175"/>
          </a:xfrm>
          <a:prstGeom prst="ellipse">
            <a:avLst/>
          </a:prstGeom>
          <a:noFill/>
          <a:ln w="28575">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 name="Oval 8"/>
          <p:cNvSpPr/>
          <p:nvPr/>
        </p:nvSpPr>
        <p:spPr>
          <a:xfrm>
            <a:off x="7067550" y="3674267"/>
            <a:ext cx="1676400" cy="638175"/>
          </a:xfrm>
          <a:prstGeom prst="ellipse">
            <a:avLst/>
          </a:prstGeom>
          <a:noFill/>
          <a:ln w="28575">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 name="TextBox 2"/>
          <p:cNvSpPr txBox="1"/>
          <p:nvPr/>
        </p:nvSpPr>
        <p:spPr>
          <a:xfrm>
            <a:off x="1567379" y="5025506"/>
            <a:ext cx="8619091" cy="369332"/>
          </a:xfrm>
          <a:prstGeom prst="rect">
            <a:avLst/>
          </a:prstGeom>
          <a:noFill/>
        </p:spPr>
        <p:txBody>
          <a:bodyPr wrap="none" rtlCol="0">
            <a:spAutoFit/>
          </a:bodyPr>
          <a:lstStyle/>
          <a:p>
            <a:r>
              <a:rPr lang="en-US" dirty="0" smtClean="0"/>
              <a:t>To accomplish all 5 parts of the capability roadmap, the highlighted products are required.</a:t>
            </a:r>
          </a:p>
        </p:txBody>
      </p:sp>
    </p:spTree>
    <p:extLst>
      <p:ext uri="{BB962C8B-B14F-4D97-AF65-F5344CB8AC3E}">
        <p14:creationId xmlns:p14="http://schemas.microsoft.com/office/powerpoint/2010/main" val="277315894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1017</TotalTime>
  <Words>1679</Words>
  <Application>Microsoft Office PowerPoint</Application>
  <PresentationFormat>Widescreen</PresentationFormat>
  <Paragraphs>257</Paragraphs>
  <Slides>25</Slides>
  <Notes>0</Notes>
  <HiddenSlides>5</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Calibri Light</vt:lpstr>
      <vt:lpstr>MetaPro-Light</vt:lpstr>
      <vt:lpstr>Office Theme</vt:lpstr>
      <vt:lpstr>Source code management with Jira and GIT  ISO/TC 184/SC 4: Industrial Data Living Lab </vt:lpstr>
      <vt:lpstr>TC 184/SC 4: Industrial Data Source code management with Jira and GIT</vt:lpstr>
      <vt:lpstr>PowerPoint Presentation</vt:lpstr>
      <vt:lpstr>Project Parts Explained</vt:lpstr>
      <vt:lpstr>Existing Bugzilla Re-hosted</vt:lpstr>
      <vt:lpstr>Other Advantages to Managed Hosting</vt:lpstr>
      <vt:lpstr>Other Advantages to Managed Hosting</vt:lpstr>
      <vt:lpstr>Benefits</vt:lpstr>
      <vt:lpstr>Part 1 &amp; 2: Issues/Project Management</vt:lpstr>
      <vt:lpstr>Adopt Agile Workflow</vt:lpstr>
      <vt:lpstr>Adopt Agile Workflow</vt:lpstr>
      <vt:lpstr>Clean Up Bugzilla </vt:lpstr>
      <vt:lpstr>Attribute Analysis and Mapping</vt:lpstr>
      <vt:lpstr>Adopt Agile Workflow</vt:lpstr>
      <vt:lpstr>Part 3: Source Code Management of ISO 10303 models</vt:lpstr>
      <vt:lpstr>Recommendations</vt:lpstr>
      <vt:lpstr>STEP Short to Long Form Transition</vt:lpstr>
      <vt:lpstr>Developer Analysis of Progress</vt:lpstr>
      <vt:lpstr>Summary</vt:lpstr>
      <vt:lpstr>ISO/TC 184/SC 4 - Industrial Data</vt:lpstr>
      <vt:lpstr>Atlassian Products</vt:lpstr>
      <vt:lpstr>Part 1 &amp; 2: Issues/Project Management</vt:lpstr>
      <vt:lpstr>Part 3: Source Code Management of ISO 10303 models*</vt:lpstr>
      <vt:lpstr>Part 4: Continuous Integration/Pipelines</vt:lpstr>
      <vt:lpstr>Atlassian Products</vt:lpstr>
    </vt:vector>
  </TitlesOfParts>
  <Company>The Boeing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ISO Living Lab Transition</dc:title>
  <dc:creator>Sapp, Brandon</dc:creator>
  <cp:keywords>ISO; Living Lab; Bugzilla</cp:keywords>
  <cp:lastModifiedBy>Sapp (US), Brandon</cp:lastModifiedBy>
  <cp:revision>73</cp:revision>
  <dcterms:created xsi:type="dcterms:W3CDTF">2018-07-09T20:28:51Z</dcterms:created>
  <dcterms:modified xsi:type="dcterms:W3CDTF">2019-04-08T20:00:24Z</dcterms:modified>
</cp:coreProperties>
</file>