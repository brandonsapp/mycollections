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emf" ContentType="image/x-emf"/>
  <Default Extension="rels" ContentType="application/vnd.openxmlformats-package.relationships+xml"/>
  <Default Extension="xml" ContentType="application/xml"/>
  <Default Extension="wdp" ContentType="image/vnd.ms-photo"/>
  <Default Extension="vml" ContentType="application/vnd.openxmlformats-officedocument.vmlDrawing"/>
  <Default Extension="jpg" ContentType="image/jpe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4"/>
  </p:sldMasterIdLst>
  <p:notesMasterIdLst>
    <p:notesMasterId r:id="rId24"/>
  </p:notesMasterIdLst>
  <p:handoutMasterIdLst>
    <p:handoutMasterId r:id="rId25"/>
  </p:handoutMasterIdLst>
  <p:sldIdLst>
    <p:sldId id="256" r:id="rId5"/>
    <p:sldId id="257" r:id="rId6"/>
    <p:sldId id="258" r:id="rId7"/>
    <p:sldId id="267" r:id="rId8"/>
    <p:sldId id="268" r:id="rId9"/>
    <p:sldId id="275" r:id="rId10"/>
    <p:sldId id="269" r:id="rId11"/>
    <p:sldId id="261" r:id="rId12"/>
    <p:sldId id="264" r:id="rId13"/>
    <p:sldId id="265" r:id="rId14"/>
    <p:sldId id="271" r:id="rId15"/>
    <p:sldId id="272" r:id="rId16"/>
    <p:sldId id="273" r:id="rId17"/>
    <p:sldId id="276" r:id="rId18"/>
    <p:sldId id="277" r:id="rId19"/>
    <p:sldId id="278" r:id="rId20"/>
    <p:sldId id="279" r:id="rId21"/>
    <p:sldId id="274" r:id="rId22"/>
    <p:sldId id="270" r:id="rId23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9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9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9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9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9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900"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sz="900"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sz="900"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sz="900"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37A4F05F-645F-6948-AEF5-B9686C8CC547}">
          <p14:sldIdLst>
            <p14:sldId id="256"/>
            <p14:sldId id="257"/>
            <p14:sldId id="258"/>
          </p14:sldIdLst>
        </p14:section>
        <p14:section name="Problem Statement" id="{C39D5609-ED43-1746-A04D-1650DB693D1E}">
          <p14:sldIdLst>
            <p14:sldId id="267"/>
            <p14:sldId id="268"/>
          </p14:sldIdLst>
        </p14:section>
        <p14:section name="ISO Framework" id="{7357D3F3-139D-2E41-B8F5-8289F5B0A486}">
          <p14:sldIdLst>
            <p14:sldId id="275"/>
            <p14:sldId id="269"/>
            <p14:sldId id="261"/>
            <p14:sldId id="264"/>
            <p14:sldId id="265"/>
            <p14:sldId id="271"/>
          </p14:sldIdLst>
        </p14:section>
        <p14:section name="Implementation" id="{D87F7719-5DF6-B640-A281-BA2C311A54DD}">
          <p14:sldIdLst>
            <p14:sldId id="272"/>
            <p14:sldId id="273"/>
            <p14:sldId id="276"/>
            <p14:sldId id="277"/>
            <p14:sldId id="278"/>
            <p14:sldId id="279"/>
          </p14:sldIdLst>
        </p14:section>
        <p14:section name="Summary" id="{808901F5-E053-4D4B-93FA-2D545BD42871}">
          <p14:sldIdLst>
            <p14:sldId id="274"/>
          </p14:sldIdLst>
        </p14:section>
        <p14:section name="References" id="{C30C323D-39AA-5A48-BD52-6EE861DEE05E}">
          <p14:sldIdLst>
            <p14:sldId id="270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4481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31" autoAdjust="0"/>
    <p:restoredTop sz="96437" autoAdjust="0"/>
  </p:normalViewPr>
  <p:slideViewPr>
    <p:cSldViewPr snapToGrid="0">
      <p:cViewPr varScale="1">
        <p:scale>
          <a:sx n="88" d="100"/>
          <a:sy n="88" d="100"/>
        </p:scale>
        <p:origin x="324" y="90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 varScale="1">
        <p:scale>
          <a:sx n="141" d="100"/>
          <a:sy n="141" d="100"/>
        </p:scale>
        <p:origin x="5544" y="108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Book1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Product Design</a:t>
            </a:r>
          </a:p>
        </c:rich>
      </c:tx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bg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radarChart>
        <c:radarStyle val="filled"/>
        <c:varyColors val="0"/>
        <c:ser>
          <c:idx val="0"/>
          <c:order val="0"/>
          <c:spPr>
            <a:solidFill>
              <a:schemeClr val="accent1"/>
            </a:solidFill>
            <a:ln>
              <a:noFill/>
            </a:ln>
            <a:effectLst/>
          </c:spPr>
          <c:cat>
            <c:strRef>
              <c:f>Sheet1!$A$1:$A$8</c:f>
              <c:strCache>
                <c:ptCount val="8"/>
                <c:pt idx="0">
                  <c:v>Product Design</c:v>
                </c:pt>
                <c:pt idx="1">
                  <c:v>Environment Analysis</c:v>
                </c:pt>
                <c:pt idx="2">
                  <c:v>Commodity Planning</c:v>
                </c:pt>
                <c:pt idx="3">
                  <c:v>Design Automation</c:v>
                </c:pt>
                <c:pt idx="4">
                  <c:v>BOM/Parts Management</c:v>
                </c:pt>
                <c:pt idx="5">
                  <c:v>Engineering Change Management</c:v>
                </c:pt>
                <c:pt idx="6">
                  <c:v>Prototyping</c:v>
                </c:pt>
                <c:pt idx="7">
                  <c:v>Advance Quality Management</c:v>
                </c:pt>
              </c:strCache>
            </c:strRef>
          </c:cat>
          <c:val>
            <c:numRef>
              <c:f>Sheet1!$B$1:$B$8</c:f>
              <c:numCache>
                <c:formatCode>General</c:formatCode>
                <c:ptCount val="8"/>
                <c:pt idx="1">
                  <c:v>3</c:v>
                </c:pt>
                <c:pt idx="2">
                  <c:v>3</c:v>
                </c:pt>
                <c:pt idx="3">
                  <c:v>4</c:v>
                </c:pt>
                <c:pt idx="4">
                  <c:v>3</c:v>
                </c:pt>
                <c:pt idx="5">
                  <c:v>4</c:v>
                </c:pt>
                <c:pt idx="6">
                  <c:v>3</c:v>
                </c:pt>
                <c:pt idx="7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994-45A2-8E91-99E58D6AF98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14673200"/>
        <c:axId val="114863344"/>
      </c:radarChart>
      <c:catAx>
        <c:axId val="11467320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4863344"/>
        <c:crosses val="autoZero"/>
        <c:auto val="1"/>
        <c:lblAlgn val="ctr"/>
        <c:lblOffset val="100"/>
        <c:noMultiLvlLbl val="0"/>
      </c:catAx>
      <c:valAx>
        <c:axId val="114863344"/>
        <c:scaling>
          <c:orientation val="minMax"/>
          <c:max val="5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467320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 w="9525" cap="flat" cmpd="sng" algn="ctr">
      <a:noFill/>
      <a:round/>
    </a:ln>
    <a:effectLst/>
  </c:spPr>
  <c:txPr>
    <a:bodyPr/>
    <a:lstStyle/>
    <a:p>
      <a:pPr>
        <a:defRPr>
          <a:solidFill>
            <a:schemeClr val="bg1"/>
          </a:solidFill>
        </a:defRPr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31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0" hangingPunct="0">
              <a:defRPr sz="1200">
                <a:latin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0" hangingPunct="0">
              <a:defRPr sz="1200">
                <a:latin typeface="Arial" pitchFamily="34" charset="0"/>
              </a:defRPr>
            </a:lvl1pPr>
          </a:lstStyle>
          <a:p>
            <a:pPr>
              <a:defRPr/>
            </a:pPr>
            <a:fld id="{0AC8278F-E0F5-465C-9FE0-7A2C6BF635B1}" type="datetimeFigureOut">
              <a:rPr lang="en-US"/>
              <a:pPr>
                <a:defRPr/>
              </a:pPr>
              <a:t>9/15/2019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0" hangingPunct="0">
              <a:defRPr sz="1200">
                <a:latin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eaLnBrk="0" hangingPunct="0">
              <a:defRPr sz="1200">
                <a:latin typeface="Arial" pitchFamily="34" charset="0"/>
              </a:defRPr>
            </a:lvl1pPr>
          </a:lstStyle>
          <a:p>
            <a:pPr>
              <a:defRPr/>
            </a:pPr>
            <a:fld id="{90C8B092-9789-463B-B611-E9473CC7EDA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624986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19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24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024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4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fld id="{F180046C-CA53-4229-907E-97AF4669782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4767841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Arial" charset="0"/>
                <a:ea typeface="+mn-ea"/>
                <a:cs typeface="+mn-cs"/>
              </a:rPr>
              <a:t>These standards serve as a framework and normalization guide for enterprises to promote the convergence of information technology into the processes of  production and operations management. </a:t>
            </a:r>
          </a:p>
          <a:p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Arial" charset="0"/>
                <a:ea typeface="+mn-ea"/>
                <a:cs typeface="+mn-cs"/>
              </a:rPr>
              <a:t> </a:t>
            </a:r>
          </a:p>
          <a:p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Arial" charset="0"/>
                <a:ea typeface="+mn-ea"/>
                <a:cs typeface="+mn-cs"/>
              </a:rPr>
              <a:t>The purposes of this document include, but not limited to, providing industrial enterprises guidance for: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Arial" charset="0"/>
                <a:ea typeface="+mn-ea"/>
                <a:cs typeface="+mn-cs"/>
              </a:rPr>
              <a:t>assessing the current situation of CII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Arial" charset="0"/>
                <a:ea typeface="+mn-ea"/>
                <a:cs typeface="+mn-cs"/>
              </a:rPr>
              <a:t>finding weakness within the CII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Arial" charset="0"/>
                <a:ea typeface="+mn-ea"/>
                <a:cs typeface="+mn-cs"/>
              </a:rPr>
              <a:t>identifying ways to improve CII  </a:t>
            </a:r>
          </a:p>
          <a:p>
            <a:endParaRPr lang="en-GB" sz="1200" b="0" i="0" u="none" strike="noStrike" kern="1200" baseline="0" dirty="0" smtClean="0">
              <a:solidFill>
                <a:schemeClr val="tx1"/>
              </a:solidFill>
              <a:latin typeface="Arial" charset="0"/>
              <a:ea typeface="+mn-ea"/>
              <a:cs typeface="+mn-cs"/>
            </a:endParaRP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180046C-CA53-4229-907E-97AF4669782B}" type="slidenum">
              <a:rPr lang="en-US" smtClean="0"/>
              <a:pPr>
                <a:defRPr/>
              </a:pPr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02206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180046C-CA53-4229-907E-97AF4669782B}" type="slidenum">
              <a:rPr lang="en-US" smtClean="0"/>
              <a:pPr>
                <a:defRPr/>
              </a:pPr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04562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180046C-CA53-4229-907E-97AF4669782B}" type="slidenum">
              <a:rPr lang="en-US" smtClean="0"/>
              <a:pPr>
                <a:defRPr/>
              </a:pPr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49968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-22371" y="10963"/>
            <a:ext cx="12214370" cy="6847037"/>
          </a:xfrm>
          <a:prstGeom prst="rect">
            <a:avLst/>
          </a:prstGeom>
          <a:gradFill flip="none" rotWithShape="1">
            <a:gsLst>
              <a:gs pos="0">
                <a:schemeClr val="accent2">
                  <a:lumMod val="40000"/>
                  <a:lumOff val="60000"/>
                </a:schemeClr>
              </a:gs>
              <a:gs pos="39000">
                <a:schemeClr val="accent2">
                  <a:lumMod val="95000"/>
                  <a:lumOff val="5000"/>
                </a:schemeClr>
              </a:gs>
              <a:gs pos="90000">
                <a:schemeClr val="accent2">
                  <a:lumMod val="60000"/>
                </a:schemeClr>
              </a:gs>
            </a:gsLst>
            <a:path path="circle">
              <a:fillToRect l="50000" t="130000" r="50000" b="-30000"/>
            </a:path>
            <a:tileRect/>
          </a:gradFill>
          <a:ln w="9525">
            <a:noFill/>
            <a:miter lim="800000"/>
            <a:headEnd type="none" w="sm" len="sm"/>
            <a:tailEnd type="none" w="sm" len="sm"/>
          </a:ln>
          <a:effectLst>
            <a:softEdge rad="0"/>
          </a:effectLst>
        </p:spPr>
        <p:txBody>
          <a:bodyPr wrap="none" anchor="ctr"/>
          <a:lstStyle/>
          <a:p>
            <a:pPr eaLnBrk="0" hangingPunct="0">
              <a:defRPr/>
            </a:pPr>
            <a:endParaRPr lang="en-US" sz="900"/>
          </a:p>
        </p:txBody>
      </p:sp>
      <p:sp>
        <p:nvSpPr>
          <p:cNvPr id="6" name="Round Single Corner Rectangle 5"/>
          <p:cNvSpPr/>
          <p:nvPr userDrawn="1"/>
        </p:nvSpPr>
        <p:spPr bwMode="auto">
          <a:xfrm flipH="1" flipV="1">
            <a:off x="7247466" y="0"/>
            <a:ext cx="4944533" cy="6394450"/>
          </a:xfrm>
          <a:prstGeom prst="round1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pPr eaLnBrk="0" hangingPunct="0">
              <a:defRPr/>
            </a:pPr>
            <a:endParaRPr lang="en-US" sz="900"/>
          </a:p>
        </p:txBody>
      </p:sp>
      <p:sp>
        <p:nvSpPr>
          <p:cNvPr id="6151" name="Rectangle 7"/>
          <p:cNvSpPr>
            <a:spLocks noGrp="1" noChangeArrowheads="1"/>
          </p:cNvSpPr>
          <p:nvPr>
            <p:ph type="ctrTitle" sz="quarter"/>
          </p:nvPr>
        </p:nvSpPr>
        <p:spPr>
          <a:xfrm>
            <a:off x="114587" y="234634"/>
            <a:ext cx="5729323" cy="2816156"/>
          </a:xfrm>
        </p:spPr>
        <p:txBody>
          <a:bodyPr tIns="457200" bIns="45720" anchor="t"/>
          <a:lstStyle>
            <a:lvl1pPr>
              <a:lnSpc>
                <a:spcPts val="6000"/>
              </a:lnSpc>
              <a:defRPr sz="60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150" name="Rectangle 6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0" y="5027614"/>
            <a:ext cx="5958496" cy="425758"/>
          </a:xfrm>
        </p:spPr>
        <p:txBody>
          <a:bodyPr tIns="45720" bIns="45720"/>
          <a:lstStyle>
            <a:lvl1pPr marL="0" indent="0">
              <a:lnSpc>
                <a:spcPts val="2600"/>
              </a:lnSpc>
              <a:buFontTx/>
              <a:buNone/>
              <a:defRPr b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subtitle style</a:t>
            </a:r>
          </a:p>
        </p:txBody>
      </p:sp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69838" y="0"/>
            <a:ext cx="4922162" cy="3989362"/>
          </a:xfrm>
          <a:prstGeom prst="rect">
            <a:avLst/>
          </a:prstGeom>
          <a:effectLst>
            <a:reflection stA="47000" endPos="44000" dir="5400000" sy="-100000" algn="bl" rotWithShape="0"/>
          </a:effectLst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349" y="1225594"/>
            <a:ext cx="12192000" cy="229165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0" y="2829"/>
            <a:ext cx="12192000" cy="564257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564257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3592575"/>
            <a:ext cx="10363200" cy="814325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0" y="1169988"/>
            <a:ext cx="5994400" cy="2710229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169988"/>
            <a:ext cx="5994400" cy="2710229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65000"/>
            <a:lumOff val="3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2"/>
          <p:cNvSpPr>
            <a:spLocks noChangeArrowheads="1"/>
          </p:cNvSpPr>
          <p:nvPr/>
        </p:nvSpPr>
        <p:spPr bwMode="auto">
          <a:xfrm>
            <a:off x="0" y="1"/>
            <a:ext cx="12192000" cy="727709"/>
          </a:xfrm>
          <a:prstGeom prst="rect">
            <a:avLst/>
          </a:prstGeom>
          <a:gradFill flip="none" rotWithShape="1">
            <a:gsLst>
              <a:gs pos="0">
                <a:schemeClr val="accent2">
                  <a:lumMod val="40000"/>
                  <a:lumOff val="60000"/>
                </a:schemeClr>
              </a:gs>
              <a:gs pos="46000">
                <a:schemeClr val="accent2">
                  <a:lumMod val="95000"/>
                  <a:lumOff val="5000"/>
                </a:schemeClr>
              </a:gs>
              <a:gs pos="100000">
                <a:schemeClr val="accent2">
                  <a:lumMod val="60000"/>
                </a:schemeClr>
              </a:gs>
            </a:gsLst>
            <a:lin ang="13500000" scaled="1"/>
            <a:tileRect/>
          </a:gradFill>
          <a:ln w="9525">
            <a:noFill/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eaLnBrk="0" hangingPunct="0">
              <a:defRPr/>
            </a:pPr>
            <a:endParaRPr lang="en-US" sz="900"/>
          </a:p>
        </p:txBody>
      </p:sp>
      <p:sp>
        <p:nvSpPr>
          <p:cNvPr id="1027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26349" y="1225594"/>
            <a:ext cx="12192000" cy="1552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432000" tIns="457200" rIns="457200" bIns="44450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 dirty="0"/>
              <a:t>Body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030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0" y="2829"/>
            <a:ext cx="12192000" cy="5642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432000" tIns="228600" rIns="457200" bIns="0" numCol="1" anchor="ctr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 dirty="0"/>
              <a:t>Slide Title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  <p:sldLayoutId id="2147483666" r:id="rId2"/>
    <p:sldLayoutId id="2147483662" r:id="rId3"/>
    <p:sldLayoutId id="2147483667" r:id="rId4"/>
    <p:sldLayoutId id="2147483663" r:id="rId5"/>
    <p:sldLayoutId id="2147483664" r:id="rId6"/>
  </p:sldLayoutIdLst>
  <p:hf hdr="0" dt="0"/>
  <p:txStyles>
    <p:titleStyle>
      <a:lvl1pPr algn="l" defTabSz="885825" rtl="0" eaLnBrk="0" fontAlgn="base" hangingPunct="0">
        <a:lnSpc>
          <a:spcPts val="2600"/>
        </a:lnSpc>
        <a:spcBef>
          <a:spcPct val="0"/>
        </a:spcBef>
        <a:spcAft>
          <a:spcPct val="0"/>
        </a:spcAft>
        <a:defRPr sz="2400" b="1">
          <a:solidFill>
            <a:schemeClr val="bg1"/>
          </a:solidFill>
          <a:latin typeface="+mj-lt"/>
          <a:ea typeface="+mj-ea"/>
          <a:cs typeface="+mj-cs"/>
        </a:defRPr>
      </a:lvl1pPr>
      <a:lvl2pPr algn="l" defTabSz="885825" rtl="0" eaLnBrk="0" fontAlgn="base" hangingPunct="0">
        <a:lnSpc>
          <a:spcPts val="2600"/>
        </a:lnSpc>
        <a:spcBef>
          <a:spcPct val="0"/>
        </a:spcBef>
        <a:spcAft>
          <a:spcPct val="0"/>
        </a:spcAft>
        <a:defRPr sz="2400" b="1">
          <a:solidFill>
            <a:schemeClr val="bg1"/>
          </a:solidFill>
          <a:latin typeface="Arial" charset="0"/>
        </a:defRPr>
      </a:lvl2pPr>
      <a:lvl3pPr algn="l" defTabSz="885825" rtl="0" eaLnBrk="0" fontAlgn="base" hangingPunct="0">
        <a:lnSpc>
          <a:spcPts val="2600"/>
        </a:lnSpc>
        <a:spcBef>
          <a:spcPct val="0"/>
        </a:spcBef>
        <a:spcAft>
          <a:spcPct val="0"/>
        </a:spcAft>
        <a:defRPr sz="2400" b="1">
          <a:solidFill>
            <a:schemeClr val="bg1"/>
          </a:solidFill>
          <a:latin typeface="Arial" charset="0"/>
        </a:defRPr>
      </a:lvl3pPr>
      <a:lvl4pPr algn="l" defTabSz="885825" rtl="0" eaLnBrk="0" fontAlgn="base" hangingPunct="0">
        <a:lnSpc>
          <a:spcPts val="2600"/>
        </a:lnSpc>
        <a:spcBef>
          <a:spcPct val="0"/>
        </a:spcBef>
        <a:spcAft>
          <a:spcPct val="0"/>
        </a:spcAft>
        <a:defRPr sz="2400" b="1">
          <a:solidFill>
            <a:schemeClr val="bg1"/>
          </a:solidFill>
          <a:latin typeface="Arial" charset="0"/>
        </a:defRPr>
      </a:lvl4pPr>
      <a:lvl5pPr algn="l" defTabSz="885825" rtl="0" eaLnBrk="0" fontAlgn="base" hangingPunct="0">
        <a:lnSpc>
          <a:spcPts val="2600"/>
        </a:lnSpc>
        <a:spcBef>
          <a:spcPct val="0"/>
        </a:spcBef>
        <a:spcAft>
          <a:spcPct val="0"/>
        </a:spcAft>
        <a:defRPr sz="2400" b="1">
          <a:solidFill>
            <a:schemeClr val="bg1"/>
          </a:solidFill>
          <a:latin typeface="Arial" charset="0"/>
        </a:defRPr>
      </a:lvl5pPr>
      <a:lvl6pPr marL="457200" algn="l" defTabSz="885825" rtl="0" eaLnBrk="0" fontAlgn="base" hangingPunct="0">
        <a:lnSpc>
          <a:spcPts val="2600"/>
        </a:lnSpc>
        <a:spcBef>
          <a:spcPct val="0"/>
        </a:spcBef>
        <a:spcAft>
          <a:spcPct val="0"/>
        </a:spcAft>
        <a:defRPr sz="2400" b="1">
          <a:solidFill>
            <a:schemeClr val="bg1"/>
          </a:solidFill>
          <a:latin typeface="Arial" charset="0"/>
        </a:defRPr>
      </a:lvl6pPr>
      <a:lvl7pPr marL="914400" algn="l" defTabSz="885825" rtl="0" eaLnBrk="0" fontAlgn="base" hangingPunct="0">
        <a:lnSpc>
          <a:spcPts val="2600"/>
        </a:lnSpc>
        <a:spcBef>
          <a:spcPct val="0"/>
        </a:spcBef>
        <a:spcAft>
          <a:spcPct val="0"/>
        </a:spcAft>
        <a:defRPr sz="2400" b="1">
          <a:solidFill>
            <a:schemeClr val="bg1"/>
          </a:solidFill>
          <a:latin typeface="Arial" charset="0"/>
        </a:defRPr>
      </a:lvl7pPr>
      <a:lvl8pPr marL="1371600" algn="l" defTabSz="885825" rtl="0" eaLnBrk="0" fontAlgn="base" hangingPunct="0">
        <a:lnSpc>
          <a:spcPts val="2600"/>
        </a:lnSpc>
        <a:spcBef>
          <a:spcPct val="0"/>
        </a:spcBef>
        <a:spcAft>
          <a:spcPct val="0"/>
        </a:spcAft>
        <a:defRPr sz="2400" b="1">
          <a:solidFill>
            <a:schemeClr val="bg1"/>
          </a:solidFill>
          <a:latin typeface="Arial" charset="0"/>
        </a:defRPr>
      </a:lvl8pPr>
      <a:lvl9pPr marL="1828800" algn="l" defTabSz="885825" rtl="0" eaLnBrk="0" fontAlgn="base" hangingPunct="0">
        <a:lnSpc>
          <a:spcPts val="2600"/>
        </a:lnSpc>
        <a:spcBef>
          <a:spcPct val="0"/>
        </a:spcBef>
        <a:spcAft>
          <a:spcPct val="0"/>
        </a:spcAft>
        <a:defRPr sz="2400" b="1">
          <a:solidFill>
            <a:schemeClr val="bg1"/>
          </a:solidFill>
          <a:latin typeface="Arial" charset="0"/>
        </a:defRPr>
      </a:lvl9pPr>
    </p:titleStyle>
    <p:bodyStyle>
      <a:lvl1pPr marL="0" indent="0" algn="l" defTabSz="885825" rtl="0" eaLnBrk="0" fontAlgn="base" hangingPunct="0">
        <a:spcBef>
          <a:spcPct val="0"/>
        </a:spcBef>
        <a:spcAft>
          <a:spcPct val="0"/>
        </a:spcAft>
        <a:buClr>
          <a:schemeClr val="accent2"/>
        </a:buClr>
        <a:buFontTx/>
        <a:buNone/>
        <a:defRPr sz="2400" b="1">
          <a:solidFill>
            <a:schemeClr val="bg1"/>
          </a:solidFill>
          <a:latin typeface="+mn-lt"/>
          <a:ea typeface="+mn-ea"/>
          <a:cs typeface="+mn-cs"/>
        </a:defRPr>
      </a:lvl1pPr>
      <a:lvl2pPr marL="454025" indent="0" algn="l" defTabSz="885825" rtl="0" eaLnBrk="0" fontAlgn="base" hangingPunct="0">
        <a:spcBef>
          <a:spcPct val="0"/>
        </a:spcBef>
        <a:spcAft>
          <a:spcPct val="0"/>
        </a:spcAft>
        <a:buClr>
          <a:schemeClr val="accent2"/>
        </a:buClr>
        <a:buFontTx/>
        <a:buNone/>
        <a:defRPr sz="2000" b="1">
          <a:solidFill>
            <a:schemeClr val="bg1"/>
          </a:solidFill>
          <a:latin typeface="+mn-lt"/>
        </a:defRPr>
      </a:lvl2pPr>
      <a:lvl3pPr marL="922338" indent="0" algn="l" defTabSz="885825" rtl="0" eaLnBrk="0" fontAlgn="base" hangingPunct="0">
        <a:spcBef>
          <a:spcPct val="0"/>
        </a:spcBef>
        <a:spcAft>
          <a:spcPct val="0"/>
        </a:spcAft>
        <a:buClr>
          <a:schemeClr val="accent2"/>
        </a:buClr>
        <a:buFontTx/>
        <a:buNone/>
        <a:defRPr sz="2400" b="1">
          <a:solidFill>
            <a:schemeClr val="bg1"/>
          </a:solidFill>
          <a:latin typeface="+mn-lt"/>
        </a:defRPr>
      </a:lvl3pPr>
      <a:lvl4pPr marL="1712913" indent="-228600" algn="l" defTabSz="885825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Times New Roman" pitchFamily="18" charset="0"/>
        </a:defRPr>
      </a:lvl4pPr>
      <a:lvl5pPr marL="2057400" indent="-228600" algn="l" defTabSz="885825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Times New Roman" pitchFamily="18" charset="0"/>
        </a:defRPr>
      </a:lvl5pPr>
      <a:lvl6pPr marL="2514600" indent="-228600" algn="l" defTabSz="885825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Times New Roman" pitchFamily="18" charset="0"/>
        </a:defRPr>
      </a:lvl6pPr>
      <a:lvl7pPr marL="2971800" indent="-228600" algn="l" defTabSz="885825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Times New Roman" pitchFamily="18" charset="0"/>
        </a:defRPr>
      </a:lvl7pPr>
      <a:lvl8pPr marL="3429000" indent="-228600" algn="l" defTabSz="885825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Times New Roman" pitchFamily="18" charset="0"/>
        </a:defRPr>
      </a:lvl8pPr>
      <a:lvl9pPr marL="3886200" indent="-228600" algn="l" defTabSz="885825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Times New Roman" pitchFamily="18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3.png"/><Relationship Id="rId7" Type="http://schemas.openxmlformats.org/officeDocument/2006/relationships/image" Target="../media/image6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microsoft.com/office/2007/relationships/hdphoto" Target="../media/hdphoto2.wdp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microsoft.com/office/2007/relationships/hdphoto" Target="../media/hdphoto1.wdp"/><Relationship Id="rId9" Type="http://schemas.openxmlformats.org/officeDocument/2006/relationships/image" Target="../media/image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11.emf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sz="quarter"/>
          </p:nvPr>
        </p:nvSpPr>
        <p:spPr>
          <a:xfrm>
            <a:off x="114587" y="234634"/>
            <a:ext cx="6692613" cy="3486660"/>
          </a:xfrm>
        </p:spPr>
        <p:txBody>
          <a:bodyPr/>
          <a:lstStyle/>
          <a:p>
            <a:r>
              <a:rPr lang="en-US" dirty="0"/>
              <a:t>A Framework for Data Standard Readiness </a:t>
            </a:r>
            <a:br>
              <a:rPr lang="en-US" dirty="0"/>
            </a:br>
            <a:endParaRPr lang="en-US" sz="3200" i="1" dirty="0"/>
          </a:p>
        </p:txBody>
      </p:sp>
      <p:sp>
        <p:nvSpPr>
          <p:cNvPr id="3" name="Subtitle 2"/>
          <p:cNvSpPr>
            <a:spLocks noGrp="1"/>
          </p:cNvSpPr>
          <p:nvPr>
            <p:ph type="subTitle" sz="quarter" idx="1"/>
          </p:nvPr>
        </p:nvSpPr>
        <p:spPr/>
        <p:txBody>
          <a:bodyPr/>
          <a:lstStyle/>
          <a:p>
            <a:r>
              <a:rPr lang="en-US" dirty="0"/>
              <a:t>Brandon Sapp - Boeing</a:t>
            </a:r>
          </a:p>
        </p:txBody>
      </p:sp>
    </p:spTree>
    <p:extLst>
      <p:ext uri="{BB962C8B-B14F-4D97-AF65-F5344CB8AC3E}">
        <p14:creationId xmlns:p14="http://schemas.microsoft.com/office/powerpoint/2010/main" val="35197360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64257"/>
          </a:xfrm>
        </p:spPr>
        <p:txBody>
          <a:bodyPr/>
          <a:lstStyle/>
          <a:p>
            <a:r>
              <a:rPr lang="en-US" dirty="0" smtClean="0"/>
              <a:t>Bio?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349" y="1225594"/>
            <a:ext cx="12192000" cy="3091872"/>
          </a:xfrm>
        </p:spPr>
        <p:txBody>
          <a:bodyPr/>
          <a:lstStyle/>
          <a:p>
            <a:pPr marL="342900" indent="-34290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dirty="0" smtClean="0"/>
              <a:t>Brandon Sapp, MIS, BSIT</a:t>
            </a:r>
          </a:p>
          <a:p>
            <a:pPr marL="342900" indent="-34290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dirty="0" smtClean="0"/>
              <a:t>18 years @ Boeing Commercial Airplanes</a:t>
            </a:r>
          </a:p>
          <a:p>
            <a:pPr marL="342900" indent="-34290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dirty="0" smtClean="0"/>
              <a:t>3 years </a:t>
            </a:r>
            <a:r>
              <a:rPr lang="en-US" dirty="0"/>
              <a:t>@ </a:t>
            </a:r>
            <a:r>
              <a:rPr lang="en-US" dirty="0" smtClean="0"/>
              <a:t>PLM </a:t>
            </a:r>
            <a:r>
              <a:rPr lang="en-US" dirty="0"/>
              <a:t>Consultant</a:t>
            </a:r>
          </a:p>
          <a:p>
            <a:pPr marL="342900" indent="-34290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dirty="0"/>
              <a:t>US TAG Designated Expert to ISO TC184/SC4 and SC5</a:t>
            </a:r>
          </a:p>
          <a:p>
            <a:pPr marL="342900" indent="-34290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dirty="0" smtClean="0"/>
              <a:t>A&amp;D </a:t>
            </a:r>
            <a:r>
              <a:rPr lang="en-US" dirty="0"/>
              <a:t>PAG MBD Leader</a:t>
            </a:r>
          </a:p>
          <a:p>
            <a:pPr marL="342900" indent="-34290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dirty="0"/>
              <a:t>PDES </a:t>
            </a:r>
            <a:r>
              <a:rPr lang="en-US" dirty="0" err="1"/>
              <a:t>MBx</a:t>
            </a:r>
            <a:r>
              <a:rPr lang="en-US" dirty="0"/>
              <a:t> User Group Co-Leader</a:t>
            </a:r>
          </a:p>
          <a:p>
            <a:pPr marL="342900" indent="-34290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dirty="0" smtClean="0"/>
              <a:t>ASME MBE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85914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26349" y="1225594"/>
            <a:ext cx="12192000" cy="1983876"/>
          </a:xfrm>
        </p:spPr>
        <p:txBody>
          <a:bodyPr/>
          <a:lstStyle/>
          <a:p>
            <a:r>
              <a:rPr lang="en-US" dirty="0"/>
              <a:t>Problem Statement</a:t>
            </a:r>
          </a:p>
          <a:p>
            <a:r>
              <a:rPr lang="en-US" dirty="0"/>
              <a:t>Causes/Effects</a:t>
            </a:r>
          </a:p>
          <a:p>
            <a:r>
              <a:rPr lang="en-US" dirty="0"/>
              <a:t>Solution – Framework for Assessing </a:t>
            </a:r>
            <a:r>
              <a:rPr lang="en-US" dirty="0" smtClean="0"/>
              <a:t>Readiness</a:t>
            </a:r>
          </a:p>
          <a:p>
            <a:endParaRPr lang="en-US" dirty="0"/>
          </a:p>
        </p:txBody>
      </p:sp>
      <p:sp>
        <p:nvSpPr>
          <p:cNvPr id="5" name="Title 1"/>
          <p:cNvSpPr txBox="1">
            <a:spLocks/>
          </p:cNvSpPr>
          <p:nvPr/>
        </p:nvSpPr>
        <p:spPr bwMode="auto">
          <a:xfrm>
            <a:off x="0" y="0"/>
            <a:ext cx="9144000" cy="5642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432000" tIns="228600" rIns="457200" bIns="0" numCol="1" anchor="ctr" anchorCtr="0" compatLnSpc="1">
            <a:prstTxWarp prst="textNoShape">
              <a:avLst/>
            </a:prstTxWarp>
            <a:spAutoFit/>
          </a:bodyPr>
          <a:lstStyle>
            <a:lvl1pPr algn="l" defTabSz="885825" rtl="0" eaLnBrk="0" fontAlgn="base" hangingPunct="0">
              <a:lnSpc>
                <a:spcPts val="26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l" defTabSz="885825" rtl="0" eaLnBrk="0" fontAlgn="base" hangingPunct="0">
              <a:lnSpc>
                <a:spcPts val="26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charset="0"/>
              </a:defRPr>
            </a:lvl2pPr>
            <a:lvl3pPr algn="l" defTabSz="885825" rtl="0" eaLnBrk="0" fontAlgn="base" hangingPunct="0">
              <a:lnSpc>
                <a:spcPts val="26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charset="0"/>
              </a:defRPr>
            </a:lvl3pPr>
            <a:lvl4pPr algn="l" defTabSz="885825" rtl="0" eaLnBrk="0" fontAlgn="base" hangingPunct="0">
              <a:lnSpc>
                <a:spcPts val="26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charset="0"/>
              </a:defRPr>
            </a:lvl4pPr>
            <a:lvl5pPr algn="l" defTabSz="885825" rtl="0" eaLnBrk="0" fontAlgn="base" hangingPunct="0">
              <a:lnSpc>
                <a:spcPts val="26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charset="0"/>
              </a:defRPr>
            </a:lvl5pPr>
            <a:lvl6pPr marL="457200" algn="l" defTabSz="885825" rtl="0" eaLnBrk="0" fontAlgn="base" hangingPunct="0">
              <a:lnSpc>
                <a:spcPts val="26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charset="0"/>
              </a:defRPr>
            </a:lvl6pPr>
            <a:lvl7pPr marL="914400" algn="l" defTabSz="885825" rtl="0" eaLnBrk="0" fontAlgn="base" hangingPunct="0">
              <a:lnSpc>
                <a:spcPts val="26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charset="0"/>
              </a:defRPr>
            </a:lvl7pPr>
            <a:lvl8pPr marL="1371600" algn="l" defTabSz="885825" rtl="0" eaLnBrk="0" fontAlgn="base" hangingPunct="0">
              <a:lnSpc>
                <a:spcPts val="26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charset="0"/>
              </a:defRPr>
            </a:lvl8pPr>
            <a:lvl9pPr marL="1828800" algn="l" defTabSz="885825" rtl="0" eaLnBrk="0" fontAlgn="base" hangingPunct="0">
              <a:lnSpc>
                <a:spcPts val="26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charset="0"/>
              </a:defRPr>
            </a:lvl9pPr>
          </a:lstStyle>
          <a:p>
            <a:r>
              <a:rPr lang="en-US" kern="0" dirty="0"/>
              <a:t>Presentation Overview</a:t>
            </a:r>
          </a:p>
        </p:txBody>
      </p:sp>
    </p:spTree>
    <p:extLst>
      <p:ext uri="{BB962C8B-B14F-4D97-AF65-F5344CB8AC3E}">
        <p14:creationId xmlns:p14="http://schemas.microsoft.com/office/powerpoint/2010/main" val="41237095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26349" y="1225594"/>
            <a:ext cx="12192000" cy="1983876"/>
          </a:xfrm>
        </p:spPr>
        <p:txBody>
          <a:bodyPr/>
          <a:lstStyle/>
          <a:p>
            <a:r>
              <a:rPr lang="en-US" dirty="0"/>
              <a:t>Many organizations fail to realize the full and complete benefits of using industry data standards because they have not or inappropriately implemented them.</a:t>
            </a:r>
          </a:p>
          <a:p>
            <a:endParaRPr lang="en-US" dirty="0"/>
          </a:p>
        </p:txBody>
      </p:sp>
      <p:sp>
        <p:nvSpPr>
          <p:cNvPr id="5" name="Title 1"/>
          <p:cNvSpPr txBox="1">
            <a:spLocks/>
          </p:cNvSpPr>
          <p:nvPr/>
        </p:nvSpPr>
        <p:spPr bwMode="auto">
          <a:xfrm>
            <a:off x="0" y="0"/>
            <a:ext cx="9144000" cy="5642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432000" tIns="228600" rIns="457200" bIns="0" numCol="1" anchor="ctr" anchorCtr="0" compatLnSpc="1">
            <a:prstTxWarp prst="textNoShape">
              <a:avLst/>
            </a:prstTxWarp>
            <a:spAutoFit/>
          </a:bodyPr>
          <a:lstStyle>
            <a:lvl1pPr algn="l" defTabSz="885825" rtl="0" eaLnBrk="0" fontAlgn="base" hangingPunct="0">
              <a:lnSpc>
                <a:spcPts val="26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l" defTabSz="885825" rtl="0" eaLnBrk="0" fontAlgn="base" hangingPunct="0">
              <a:lnSpc>
                <a:spcPts val="26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charset="0"/>
              </a:defRPr>
            </a:lvl2pPr>
            <a:lvl3pPr algn="l" defTabSz="885825" rtl="0" eaLnBrk="0" fontAlgn="base" hangingPunct="0">
              <a:lnSpc>
                <a:spcPts val="26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charset="0"/>
              </a:defRPr>
            </a:lvl3pPr>
            <a:lvl4pPr algn="l" defTabSz="885825" rtl="0" eaLnBrk="0" fontAlgn="base" hangingPunct="0">
              <a:lnSpc>
                <a:spcPts val="26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charset="0"/>
              </a:defRPr>
            </a:lvl4pPr>
            <a:lvl5pPr algn="l" defTabSz="885825" rtl="0" eaLnBrk="0" fontAlgn="base" hangingPunct="0">
              <a:lnSpc>
                <a:spcPts val="26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charset="0"/>
              </a:defRPr>
            </a:lvl5pPr>
            <a:lvl6pPr marL="457200" algn="l" defTabSz="885825" rtl="0" eaLnBrk="0" fontAlgn="base" hangingPunct="0">
              <a:lnSpc>
                <a:spcPts val="26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charset="0"/>
              </a:defRPr>
            </a:lvl6pPr>
            <a:lvl7pPr marL="914400" algn="l" defTabSz="885825" rtl="0" eaLnBrk="0" fontAlgn="base" hangingPunct="0">
              <a:lnSpc>
                <a:spcPts val="26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charset="0"/>
              </a:defRPr>
            </a:lvl7pPr>
            <a:lvl8pPr marL="1371600" algn="l" defTabSz="885825" rtl="0" eaLnBrk="0" fontAlgn="base" hangingPunct="0">
              <a:lnSpc>
                <a:spcPts val="26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charset="0"/>
              </a:defRPr>
            </a:lvl8pPr>
            <a:lvl9pPr marL="1828800" algn="l" defTabSz="885825" rtl="0" eaLnBrk="0" fontAlgn="base" hangingPunct="0">
              <a:lnSpc>
                <a:spcPts val="26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charset="0"/>
              </a:defRPr>
            </a:lvl9pPr>
          </a:lstStyle>
          <a:p>
            <a:r>
              <a:rPr lang="en-US" kern="0" dirty="0"/>
              <a:t>Problem Statement</a:t>
            </a:r>
          </a:p>
        </p:txBody>
      </p:sp>
    </p:spTree>
    <p:extLst>
      <p:ext uri="{BB962C8B-B14F-4D97-AF65-F5344CB8AC3E}">
        <p14:creationId xmlns:p14="http://schemas.microsoft.com/office/powerpoint/2010/main" val="8118690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26349" y="1225594"/>
            <a:ext cx="12192000" cy="1614545"/>
          </a:xfrm>
        </p:spPr>
        <p:txBody>
          <a:bodyPr/>
          <a:lstStyle/>
          <a:p>
            <a:r>
              <a:rPr lang="en-US" sz="1800" dirty="0"/>
              <a:t>Cause 1: Knowledge of data standard’s intended </a:t>
            </a:r>
            <a:r>
              <a:rPr lang="en-US" sz="1800" dirty="0" smtClean="0"/>
              <a:t>use</a:t>
            </a:r>
          </a:p>
          <a:p>
            <a:r>
              <a:rPr lang="en-US" sz="1800" dirty="0" smtClean="0"/>
              <a:t>Cause 2: Poorly implemented in business processes</a:t>
            </a:r>
          </a:p>
          <a:p>
            <a:r>
              <a:rPr lang="en-US" sz="1800" dirty="0" smtClean="0"/>
              <a:t>Cause </a:t>
            </a:r>
            <a:r>
              <a:rPr lang="en-US" sz="1800" dirty="0"/>
              <a:t>2: Inadequate tools to create/consume the </a:t>
            </a:r>
            <a:r>
              <a:rPr lang="en-US" sz="1800" dirty="0" smtClean="0"/>
              <a:t>data in a </a:t>
            </a:r>
            <a:r>
              <a:rPr lang="en-US" sz="1800" dirty="0"/>
              <a:t>standard</a:t>
            </a:r>
          </a:p>
          <a:p>
            <a:r>
              <a:rPr lang="en-US" sz="1800" dirty="0"/>
              <a:t>Cause 3: </a:t>
            </a:r>
            <a:r>
              <a:rPr lang="en-US" sz="1800" dirty="0" smtClean="0"/>
              <a:t>Supply chain ability to consume</a:t>
            </a:r>
            <a:endParaRPr lang="en-US" sz="1800" dirty="0"/>
          </a:p>
        </p:txBody>
      </p:sp>
      <p:sp>
        <p:nvSpPr>
          <p:cNvPr id="5" name="Title 1"/>
          <p:cNvSpPr txBox="1">
            <a:spLocks/>
          </p:cNvSpPr>
          <p:nvPr/>
        </p:nvSpPr>
        <p:spPr bwMode="auto">
          <a:xfrm>
            <a:off x="0" y="0"/>
            <a:ext cx="9144000" cy="5642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432000" tIns="228600" rIns="457200" bIns="0" numCol="1" anchor="ctr" anchorCtr="0" compatLnSpc="1">
            <a:prstTxWarp prst="textNoShape">
              <a:avLst/>
            </a:prstTxWarp>
            <a:spAutoFit/>
          </a:bodyPr>
          <a:lstStyle>
            <a:lvl1pPr algn="l" defTabSz="885825" rtl="0" eaLnBrk="0" fontAlgn="base" hangingPunct="0">
              <a:lnSpc>
                <a:spcPts val="26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l" defTabSz="885825" rtl="0" eaLnBrk="0" fontAlgn="base" hangingPunct="0">
              <a:lnSpc>
                <a:spcPts val="26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charset="0"/>
              </a:defRPr>
            </a:lvl2pPr>
            <a:lvl3pPr algn="l" defTabSz="885825" rtl="0" eaLnBrk="0" fontAlgn="base" hangingPunct="0">
              <a:lnSpc>
                <a:spcPts val="26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charset="0"/>
              </a:defRPr>
            </a:lvl3pPr>
            <a:lvl4pPr algn="l" defTabSz="885825" rtl="0" eaLnBrk="0" fontAlgn="base" hangingPunct="0">
              <a:lnSpc>
                <a:spcPts val="26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charset="0"/>
              </a:defRPr>
            </a:lvl4pPr>
            <a:lvl5pPr algn="l" defTabSz="885825" rtl="0" eaLnBrk="0" fontAlgn="base" hangingPunct="0">
              <a:lnSpc>
                <a:spcPts val="26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charset="0"/>
              </a:defRPr>
            </a:lvl5pPr>
            <a:lvl6pPr marL="457200" algn="l" defTabSz="885825" rtl="0" eaLnBrk="0" fontAlgn="base" hangingPunct="0">
              <a:lnSpc>
                <a:spcPts val="26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charset="0"/>
              </a:defRPr>
            </a:lvl6pPr>
            <a:lvl7pPr marL="914400" algn="l" defTabSz="885825" rtl="0" eaLnBrk="0" fontAlgn="base" hangingPunct="0">
              <a:lnSpc>
                <a:spcPts val="26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charset="0"/>
              </a:defRPr>
            </a:lvl7pPr>
            <a:lvl8pPr marL="1371600" algn="l" defTabSz="885825" rtl="0" eaLnBrk="0" fontAlgn="base" hangingPunct="0">
              <a:lnSpc>
                <a:spcPts val="26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charset="0"/>
              </a:defRPr>
            </a:lvl8pPr>
            <a:lvl9pPr marL="1828800" algn="l" defTabSz="885825" rtl="0" eaLnBrk="0" fontAlgn="base" hangingPunct="0">
              <a:lnSpc>
                <a:spcPts val="26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charset="0"/>
              </a:defRPr>
            </a:lvl9pPr>
          </a:lstStyle>
          <a:p>
            <a:r>
              <a:rPr lang="en-US" kern="0" dirty="0"/>
              <a:t>Causes/Effects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5F619A73-1F05-46E8-8F9C-9663DFF1609D}"/>
              </a:ext>
            </a:extLst>
          </p:cNvPr>
          <p:cNvSpPr txBox="1">
            <a:spLocks/>
          </p:cNvSpPr>
          <p:nvPr/>
        </p:nvSpPr>
        <p:spPr bwMode="auto">
          <a:xfrm>
            <a:off x="0" y="3210589"/>
            <a:ext cx="12192000" cy="7835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432000" tIns="457200" rIns="457200" bIns="44450" numCol="1" anchor="t" anchorCtr="0" compatLnSpc="1">
            <a:prstTxWarp prst="textNoShape">
              <a:avLst/>
            </a:prstTxWarp>
            <a:spAutoFit/>
          </a:bodyPr>
          <a:lstStyle>
            <a:lvl1pPr marL="0" indent="0" algn="l" defTabSz="885825" rtl="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accent2"/>
              </a:buClr>
              <a:buFontTx/>
              <a:buNone/>
              <a:defRPr sz="2400" b="1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4025" indent="0" algn="l" defTabSz="885825" rtl="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accent2"/>
              </a:buClr>
              <a:buFontTx/>
              <a:buNone/>
              <a:defRPr sz="2000" b="1">
                <a:solidFill>
                  <a:schemeClr val="bg1"/>
                </a:solidFill>
                <a:latin typeface="+mn-lt"/>
              </a:defRPr>
            </a:lvl2pPr>
            <a:lvl3pPr marL="922338" indent="0" algn="l" defTabSz="885825" rtl="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accent2"/>
              </a:buClr>
              <a:buFontTx/>
              <a:buNone/>
              <a:defRPr sz="2400" b="1">
                <a:solidFill>
                  <a:schemeClr val="bg1"/>
                </a:solidFill>
                <a:latin typeface="+mn-lt"/>
              </a:defRPr>
            </a:lvl3pPr>
            <a:lvl4pPr marL="1712913" indent="-228600" algn="l" defTabSz="885825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defTabSz="885825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l" defTabSz="885825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l" defTabSz="885825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l" defTabSz="885825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l" defTabSz="885825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en-US" sz="1800" kern="0" dirty="0" smtClean="0"/>
              <a:t>Effect: Wasted Resources [Rework, Common tools, etc.]</a:t>
            </a:r>
            <a:endParaRPr lang="en-US" sz="1800" kern="0" dirty="0"/>
          </a:p>
        </p:txBody>
      </p:sp>
    </p:spTree>
    <p:extLst>
      <p:ext uri="{BB962C8B-B14F-4D97-AF65-F5344CB8AC3E}">
        <p14:creationId xmlns:p14="http://schemas.microsoft.com/office/powerpoint/2010/main" val="41044500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26349" y="1225594"/>
            <a:ext cx="12192000" cy="4938531"/>
          </a:xfrm>
        </p:spPr>
        <p:txBody>
          <a:bodyPr/>
          <a:lstStyle/>
          <a:p>
            <a:pPr defTabSz="889000"/>
            <a:r>
              <a:rPr lang="en-US" b="0" dirty="0" smtClean="0"/>
              <a:t>ISO TC 184	: Automation Systems and Integration</a:t>
            </a:r>
          </a:p>
          <a:p>
            <a:r>
              <a:rPr lang="en-US" b="0" dirty="0"/>
              <a:t>	</a:t>
            </a:r>
            <a:r>
              <a:rPr lang="en-US" b="0" dirty="0" smtClean="0"/>
              <a:t>SC 5 </a:t>
            </a:r>
            <a:r>
              <a:rPr lang="en-US" b="0" dirty="0"/>
              <a:t>	: Interoperability, integration, and architectures for enterprise </a:t>
            </a:r>
            <a:r>
              <a:rPr lang="en-US" b="0" dirty="0" smtClean="0"/>
              <a:t>		  	  systems </a:t>
            </a:r>
            <a:r>
              <a:rPr lang="en-US" b="0" dirty="0"/>
              <a:t>and automation </a:t>
            </a:r>
            <a:r>
              <a:rPr lang="en-US" b="0" dirty="0" smtClean="0"/>
              <a:t>applications</a:t>
            </a:r>
          </a:p>
          <a:p>
            <a:endParaRPr lang="en-US" b="0" dirty="0"/>
          </a:p>
          <a:p>
            <a:r>
              <a:rPr lang="en-US" b="0" dirty="0" smtClean="0"/>
              <a:t>ISO/DIS 22549-1 	: Assessment </a:t>
            </a:r>
            <a:r>
              <a:rPr lang="en-US" b="0" dirty="0"/>
              <a:t>on convergence of </a:t>
            </a:r>
            <a:r>
              <a:rPr lang="en-US" b="0" dirty="0" err="1"/>
              <a:t>informatization</a:t>
            </a:r>
            <a:r>
              <a:rPr lang="en-US" b="0" dirty="0"/>
              <a:t> and </a:t>
            </a:r>
            <a:r>
              <a:rPr lang="en-US" b="0" dirty="0" smtClean="0"/>
              <a:t>				  industrialization </a:t>
            </a:r>
            <a:r>
              <a:rPr lang="en-US" b="0" dirty="0"/>
              <a:t>for industrial enterprises </a:t>
            </a:r>
            <a:endParaRPr lang="en-US" b="0" dirty="0" smtClean="0"/>
          </a:p>
          <a:p>
            <a:r>
              <a:rPr lang="en-US" b="0" dirty="0"/>
              <a:t>	</a:t>
            </a:r>
            <a:r>
              <a:rPr lang="en-US" b="0" dirty="0" smtClean="0"/>
              <a:t>	         	  </a:t>
            </a:r>
            <a:r>
              <a:rPr lang="en-US" dirty="0" smtClean="0"/>
              <a:t>Part </a:t>
            </a:r>
            <a:r>
              <a:rPr lang="en-US" dirty="0"/>
              <a:t>1: Framework </a:t>
            </a:r>
            <a:r>
              <a:rPr lang="en-US" dirty="0" smtClean="0"/>
              <a:t>and </a:t>
            </a:r>
            <a:r>
              <a:rPr lang="en-US" dirty="0"/>
              <a:t>reference </a:t>
            </a:r>
            <a:r>
              <a:rPr lang="en-US" dirty="0" smtClean="0"/>
              <a:t>model</a:t>
            </a:r>
          </a:p>
          <a:p>
            <a:endParaRPr lang="en-US" b="0" dirty="0" smtClean="0"/>
          </a:p>
          <a:p>
            <a:r>
              <a:rPr lang="en-US" b="0" dirty="0" smtClean="0"/>
              <a:t>ISO/CD 22549-2.2	: Assessment </a:t>
            </a:r>
            <a:r>
              <a:rPr lang="en-US" b="0" dirty="0"/>
              <a:t>on convergence of </a:t>
            </a:r>
            <a:r>
              <a:rPr lang="en-US" b="0" dirty="0" err="1"/>
              <a:t>informatization</a:t>
            </a:r>
            <a:r>
              <a:rPr lang="en-US" b="0" dirty="0"/>
              <a:t> and </a:t>
            </a:r>
            <a:r>
              <a:rPr lang="en-US" b="0" dirty="0" smtClean="0"/>
              <a:t>				  industrialization </a:t>
            </a:r>
            <a:r>
              <a:rPr lang="en-US" b="0" dirty="0"/>
              <a:t>for industrial </a:t>
            </a:r>
            <a:r>
              <a:rPr lang="en-US" b="0" dirty="0" smtClean="0"/>
              <a:t>enterprises</a:t>
            </a:r>
          </a:p>
          <a:p>
            <a:r>
              <a:rPr lang="en-US" b="0" dirty="0"/>
              <a:t>	</a:t>
            </a:r>
            <a:r>
              <a:rPr lang="en-US" b="0" dirty="0" smtClean="0"/>
              <a:t>		  </a:t>
            </a:r>
            <a:r>
              <a:rPr lang="en-US" dirty="0" smtClean="0"/>
              <a:t>Part </a:t>
            </a:r>
            <a:r>
              <a:rPr lang="en-US" dirty="0"/>
              <a:t>2: Maturity model and evaluation methodology </a:t>
            </a:r>
            <a:endParaRPr lang="en-US" dirty="0" smtClean="0"/>
          </a:p>
          <a:p>
            <a:endParaRPr lang="en-GB" b="0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Industry Framework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200853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7" name="Connector: Elbow 76">
            <a:extLst>
              <a:ext uri="{FF2B5EF4-FFF2-40B4-BE49-F238E27FC236}">
                <a16:creationId xmlns:a16="http://schemas.microsoft.com/office/drawing/2014/main" id="{286470C9-1BDC-46D4-B6F4-C3D74A465943}"/>
              </a:ext>
            </a:extLst>
          </p:cNvPr>
          <p:cNvCxnSpPr>
            <a:cxnSpLocks/>
            <a:stCxn id="6" idx="0"/>
            <a:endCxn id="29" idx="0"/>
          </p:cNvCxnSpPr>
          <p:nvPr/>
        </p:nvCxnSpPr>
        <p:spPr bwMode="auto">
          <a:xfrm rot="16200000" flipH="1" flipV="1">
            <a:off x="5297931" y="498465"/>
            <a:ext cx="186266" cy="4079465"/>
          </a:xfrm>
          <a:prstGeom prst="bentConnector3">
            <a:avLst>
              <a:gd name="adj1" fmla="val -122728"/>
            </a:avLst>
          </a:prstGeom>
          <a:ln>
            <a:miter lim="800000"/>
            <a:headEnd type="none" w="sm" len="sm"/>
            <a:tailEnd type="oval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sp>
        <p:nvSpPr>
          <p:cNvPr id="5" name="Title 1"/>
          <p:cNvSpPr txBox="1">
            <a:spLocks/>
          </p:cNvSpPr>
          <p:nvPr/>
        </p:nvSpPr>
        <p:spPr bwMode="auto">
          <a:xfrm>
            <a:off x="0" y="0"/>
            <a:ext cx="9144000" cy="5642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432000" tIns="228600" rIns="457200" bIns="0" numCol="1" anchor="ctr" anchorCtr="0" compatLnSpc="1">
            <a:prstTxWarp prst="textNoShape">
              <a:avLst/>
            </a:prstTxWarp>
            <a:spAutoFit/>
          </a:bodyPr>
          <a:lstStyle>
            <a:lvl1pPr algn="l" defTabSz="885825" rtl="0" eaLnBrk="0" fontAlgn="base" hangingPunct="0">
              <a:lnSpc>
                <a:spcPts val="26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l" defTabSz="885825" rtl="0" eaLnBrk="0" fontAlgn="base" hangingPunct="0">
              <a:lnSpc>
                <a:spcPts val="26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charset="0"/>
              </a:defRPr>
            </a:lvl2pPr>
            <a:lvl3pPr algn="l" defTabSz="885825" rtl="0" eaLnBrk="0" fontAlgn="base" hangingPunct="0">
              <a:lnSpc>
                <a:spcPts val="26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charset="0"/>
              </a:defRPr>
            </a:lvl3pPr>
            <a:lvl4pPr algn="l" defTabSz="885825" rtl="0" eaLnBrk="0" fontAlgn="base" hangingPunct="0">
              <a:lnSpc>
                <a:spcPts val="26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charset="0"/>
              </a:defRPr>
            </a:lvl4pPr>
            <a:lvl5pPr algn="l" defTabSz="885825" rtl="0" eaLnBrk="0" fontAlgn="base" hangingPunct="0">
              <a:lnSpc>
                <a:spcPts val="26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charset="0"/>
              </a:defRPr>
            </a:lvl5pPr>
            <a:lvl6pPr marL="457200" algn="l" defTabSz="885825" rtl="0" eaLnBrk="0" fontAlgn="base" hangingPunct="0">
              <a:lnSpc>
                <a:spcPts val="26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charset="0"/>
              </a:defRPr>
            </a:lvl6pPr>
            <a:lvl7pPr marL="914400" algn="l" defTabSz="885825" rtl="0" eaLnBrk="0" fontAlgn="base" hangingPunct="0">
              <a:lnSpc>
                <a:spcPts val="26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charset="0"/>
              </a:defRPr>
            </a:lvl7pPr>
            <a:lvl8pPr marL="1371600" algn="l" defTabSz="885825" rtl="0" eaLnBrk="0" fontAlgn="base" hangingPunct="0">
              <a:lnSpc>
                <a:spcPts val="26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charset="0"/>
              </a:defRPr>
            </a:lvl8pPr>
            <a:lvl9pPr marL="1828800" algn="l" defTabSz="885825" rtl="0" eaLnBrk="0" fontAlgn="base" hangingPunct="0">
              <a:lnSpc>
                <a:spcPts val="26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charset="0"/>
              </a:defRPr>
            </a:lvl9pPr>
          </a:lstStyle>
          <a:p>
            <a:r>
              <a:rPr lang="en-US" kern="0" dirty="0"/>
              <a:t>Overview of Assessment Framework</a:t>
            </a:r>
          </a:p>
        </p:txBody>
      </p:sp>
      <p:cxnSp>
        <p:nvCxnSpPr>
          <p:cNvPr id="23" name="Connector: Elbow 22">
            <a:extLst>
              <a:ext uri="{FF2B5EF4-FFF2-40B4-BE49-F238E27FC236}">
                <a16:creationId xmlns:a16="http://schemas.microsoft.com/office/drawing/2014/main" id="{A2ED2858-92D5-402E-98FF-AF6DA5E8C06F}"/>
              </a:ext>
            </a:extLst>
          </p:cNvPr>
          <p:cNvCxnSpPr>
            <a:cxnSpLocks/>
            <a:stCxn id="19" idx="3"/>
            <a:endCxn id="7" idx="3"/>
          </p:cNvCxnSpPr>
          <p:nvPr/>
        </p:nvCxnSpPr>
        <p:spPr bwMode="auto">
          <a:xfrm flipH="1">
            <a:off x="10007600" y="3566898"/>
            <a:ext cx="292101" cy="495300"/>
          </a:xfrm>
          <a:prstGeom prst="bentConnector3">
            <a:avLst>
              <a:gd name="adj1" fmla="val -78261"/>
            </a:avLst>
          </a:prstGeom>
          <a:ln>
            <a:headEnd type="none" w="sm" len="sm"/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26" name="Connector: Elbow 25">
            <a:extLst>
              <a:ext uri="{FF2B5EF4-FFF2-40B4-BE49-F238E27FC236}">
                <a16:creationId xmlns:a16="http://schemas.microsoft.com/office/drawing/2014/main" id="{C7E070A7-C8EA-40FC-B28B-F4BE4D1B111C}"/>
              </a:ext>
            </a:extLst>
          </p:cNvPr>
          <p:cNvCxnSpPr>
            <a:cxnSpLocks/>
            <a:stCxn id="19" idx="3"/>
            <a:endCxn id="8" idx="3"/>
          </p:cNvCxnSpPr>
          <p:nvPr/>
        </p:nvCxnSpPr>
        <p:spPr bwMode="auto">
          <a:xfrm flipH="1">
            <a:off x="9118600" y="3566898"/>
            <a:ext cx="1181101" cy="990600"/>
          </a:xfrm>
          <a:prstGeom prst="bentConnector3">
            <a:avLst>
              <a:gd name="adj1" fmla="val -19355"/>
            </a:avLst>
          </a:prstGeom>
          <a:ln>
            <a:headEnd type="none" w="sm" len="sm"/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4A74468C-B445-4411-A0F8-37C840059547}"/>
              </a:ext>
            </a:extLst>
          </p:cNvPr>
          <p:cNvSpPr/>
          <p:nvPr/>
        </p:nvSpPr>
        <p:spPr bwMode="auto">
          <a:xfrm>
            <a:off x="6362701" y="2445065"/>
            <a:ext cx="2136190" cy="6477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8000"/>
              </a:srgbClr>
            </a:outerShdw>
            <a:reflection blurRad="165100" endPos="0" dir="5400000" sy="-100000" algn="bl" rotWithShape="0"/>
          </a:effectLst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Industrial Enterprise Assessment Framework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0D9AE46-E31C-4986-A351-E091629BE1AE}"/>
              </a:ext>
            </a:extLst>
          </p:cNvPr>
          <p:cNvSpPr/>
          <p:nvPr/>
        </p:nvSpPr>
        <p:spPr bwMode="auto">
          <a:xfrm>
            <a:off x="7675033" y="3858998"/>
            <a:ext cx="2332567" cy="40639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8000"/>
              </a:srgbClr>
            </a:outerShdw>
            <a:reflection blurRad="165100" endPos="0" dir="5400000" sy="-100000" algn="bl" rotWithShape="0"/>
          </a:effectLst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Evaluation Questionnaires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430616B-A5B9-44BF-889B-F93AF5115FA0}"/>
              </a:ext>
            </a:extLst>
          </p:cNvPr>
          <p:cNvSpPr/>
          <p:nvPr/>
        </p:nvSpPr>
        <p:spPr bwMode="auto">
          <a:xfrm>
            <a:off x="7675033" y="4354298"/>
            <a:ext cx="1443567" cy="40639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8000"/>
              </a:srgbClr>
            </a:outerShdw>
            <a:reflection blurRad="165100" endPos="0" dir="5400000" sy="-100000" algn="bl" rotWithShape="0"/>
          </a:effectLst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Maturity Model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3ADBBA9-39D1-4E27-B82A-2F05C48421F2}"/>
              </a:ext>
            </a:extLst>
          </p:cNvPr>
          <p:cNvSpPr/>
          <p:nvPr/>
        </p:nvSpPr>
        <p:spPr bwMode="auto">
          <a:xfrm>
            <a:off x="7675033" y="3363698"/>
            <a:ext cx="2624668" cy="40639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8000"/>
              </a:srgbClr>
            </a:outerShdw>
            <a:reflection blurRad="165100" endPos="0" dir="5400000" sy="-100000" algn="bl" rotWithShape="0"/>
          </a:effectLst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Assessment Reference Model</a:t>
            </a:r>
          </a:p>
        </p:txBody>
      </p:sp>
      <p:cxnSp>
        <p:nvCxnSpPr>
          <p:cNvPr id="20" name="Connector: Elbow 19">
            <a:extLst>
              <a:ext uri="{FF2B5EF4-FFF2-40B4-BE49-F238E27FC236}">
                <a16:creationId xmlns:a16="http://schemas.microsoft.com/office/drawing/2014/main" id="{D8C5DEE4-5A11-46F7-B982-7142F1D66A3D}"/>
              </a:ext>
            </a:extLst>
          </p:cNvPr>
          <p:cNvCxnSpPr>
            <a:cxnSpLocks/>
            <a:stCxn id="19" idx="1"/>
            <a:endCxn id="6" idx="2"/>
          </p:cNvCxnSpPr>
          <p:nvPr/>
        </p:nvCxnSpPr>
        <p:spPr bwMode="auto">
          <a:xfrm rot="10800000">
            <a:off x="7430797" y="3092766"/>
            <a:ext cx="244237" cy="474133"/>
          </a:xfrm>
          <a:prstGeom prst="bentConnector2">
            <a:avLst/>
          </a:prstGeom>
          <a:ln>
            <a:headEnd type="none" w="sm" len="sm"/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10" name="Connector: Elbow 9">
            <a:extLst>
              <a:ext uri="{FF2B5EF4-FFF2-40B4-BE49-F238E27FC236}">
                <a16:creationId xmlns:a16="http://schemas.microsoft.com/office/drawing/2014/main" id="{BE171FDC-4C51-407D-AFA2-B29B52CBED59}"/>
              </a:ext>
            </a:extLst>
          </p:cNvPr>
          <p:cNvCxnSpPr>
            <a:cxnSpLocks/>
            <a:stCxn id="7" idx="1"/>
            <a:endCxn id="6" idx="2"/>
          </p:cNvCxnSpPr>
          <p:nvPr/>
        </p:nvCxnSpPr>
        <p:spPr bwMode="auto">
          <a:xfrm rot="10800000">
            <a:off x="7430797" y="3092766"/>
            <a:ext cx="244237" cy="969433"/>
          </a:xfrm>
          <a:prstGeom prst="bentConnector2">
            <a:avLst/>
          </a:prstGeom>
          <a:ln>
            <a:headEnd type="none" w="sm" len="sm"/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14" name="Connector: Elbow 13">
            <a:extLst>
              <a:ext uri="{FF2B5EF4-FFF2-40B4-BE49-F238E27FC236}">
                <a16:creationId xmlns:a16="http://schemas.microsoft.com/office/drawing/2014/main" id="{13EBA77D-7955-4C9D-81A5-BB0EA156A0C2}"/>
              </a:ext>
            </a:extLst>
          </p:cNvPr>
          <p:cNvCxnSpPr>
            <a:cxnSpLocks/>
            <a:stCxn id="8" idx="1"/>
            <a:endCxn id="6" idx="2"/>
          </p:cNvCxnSpPr>
          <p:nvPr/>
        </p:nvCxnSpPr>
        <p:spPr bwMode="auto">
          <a:xfrm rot="10800000">
            <a:off x="7430797" y="3092766"/>
            <a:ext cx="244237" cy="1464733"/>
          </a:xfrm>
          <a:prstGeom prst="bentConnector2">
            <a:avLst/>
          </a:prstGeom>
          <a:ln>
            <a:headEnd type="none" w="sm" len="sm"/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BE2B6593-DD91-4F8B-B83F-486236B39213}"/>
              </a:ext>
            </a:extLst>
          </p:cNvPr>
          <p:cNvSpPr/>
          <p:nvPr/>
        </p:nvSpPr>
        <p:spPr bwMode="auto">
          <a:xfrm>
            <a:off x="2333214" y="2631331"/>
            <a:ext cx="2036233" cy="461434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Enterprise Assessing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F85E367F-4533-4CF4-8501-24FD57A1EB8A}"/>
              </a:ext>
            </a:extLst>
          </p:cNvPr>
          <p:cNvSpPr/>
          <p:nvPr/>
        </p:nvSpPr>
        <p:spPr bwMode="auto">
          <a:xfrm>
            <a:off x="394521" y="3539380"/>
            <a:ext cx="1353022" cy="6477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8000"/>
              </a:srgbClr>
            </a:outerShdw>
            <a:reflection blurRad="165100" endPos="0" dir="5400000" sy="-100000" algn="bl" rotWithShape="0"/>
          </a:effectLst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Infrastructure </a:t>
            </a: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CII Level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6AD12DBA-F547-4BD0-B4B7-6BA1D26CFD4A}"/>
              </a:ext>
            </a:extLst>
          </p:cNvPr>
          <p:cNvSpPr/>
          <p:nvPr/>
        </p:nvSpPr>
        <p:spPr bwMode="auto">
          <a:xfrm>
            <a:off x="1910055" y="3539380"/>
            <a:ext cx="1353022" cy="6477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8000"/>
              </a:srgbClr>
            </a:outerShdw>
            <a:reflection blurRad="165100" endPos="0" dir="5400000" sy="-100000" algn="bl" rotWithShape="0"/>
          </a:effectLst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Domain Application </a:t>
            </a: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CII Level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B5502A3-582C-4F85-9753-13BBC9F98E15}"/>
              </a:ext>
            </a:extLst>
          </p:cNvPr>
          <p:cNvSpPr/>
          <p:nvPr/>
        </p:nvSpPr>
        <p:spPr bwMode="auto">
          <a:xfrm>
            <a:off x="3425589" y="3539380"/>
            <a:ext cx="1353022" cy="6477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8000"/>
              </a:srgbClr>
            </a:outerShdw>
            <a:reflection blurRad="165100" endPos="0" dir="5400000" sy="-100000" algn="bl" rotWithShape="0"/>
          </a:effectLst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Comprehensive CII Level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0D7667C7-B728-4328-9A1C-698DFEC09D55}"/>
              </a:ext>
            </a:extLst>
          </p:cNvPr>
          <p:cNvSpPr/>
          <p:nvPr/>
        </p:nvSpPr>
        <p:spPr bwMode="auto">
          <a:xfrm>
            <a:off x="4941123" y="3539380"/>
            <a:ext cx="1353022" cy="6477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8000"/>
              </a:srgbClr>
            </a:outerShdw>
            <a:reflection blurRad="165100" endPos="0" dir="5400000" sy="-100000" algn="bl" rotWithShape="0"/>
          </a:effectLst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Collaborative Integration </a:t>
            </a: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CII Level</a:t>
            </a: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FC07DB42-05F3-4DFB-BF60-1351EA9DAD0B}"/>
              </a:ext>
            </a:extLst>
          </p:cNvPr>
          <p:cNvSpPr/>
          <p:nvPr/>
        </p:nvSpPr>
        <p:spPr bwMode="auto">
          <a:xfrm>
            <a:off x="2333213" y="4633695"/>
            <a:ext cx="2036233" cy="461434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Aggregating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2BA49764-221F-42E0-A335-7B9D6C778FF6}"/>
              </a:ext>
            </a:extLst>
          </p:cNvPr>
          <p:cNvSpPr/>
          <p:nvPr/>
        </p:nvSpPr>
        <p:spPr bwMode="auto">
          <a:xfrm>
            <a:off x="2629545" y="5605247"/>
            <a:ext cx="1443567" cy="40639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8000"/>
              </a:srgbClr>
            </a:outerShdw>
            <a:reflection blurRad="165100" endPos="0" dir="5400000" sy="-100000" algn="bl" rotWithShape="0"/>
          </a:effectLst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Extend of CII</a:t>
            </a:r>
          </a:p>
        </p:txBody>
      </p:sp>
      <p:cxnSp>
        <p:nvCxnSpPr>
          <p:cNvPr id="38" name="Connector: Elbow 37">
            <a:extLst>
              <a:ext uri="{FF2B5EF4-FFF2-40B4-BE49-F238E27FC236}">
                <a16:creationId xmlns:a16="http://schemas.microsoft.com/office/drawing/2014/main" id="{83422CD1-2B3F-4746-8049-3BF03D020A5E}"/>
              </a:ext>
            </a:extLst>
          </p:cNvPr>
          <p:cNvCxnSpPr>
            <a:cxnSpLocks/>
            <a:stCxn id="29" idx="1"/>
            <a:endCxn id="30" idx="0"/>
          </p:cNvCxnSpPr>
          <p:nvPr/>
        </p:nvCxnSpPr>
        <p:spPr bwMode="auto">
          <a:xfrm rot="10800000" flipV="1">
            <a:off x="1071032" y="2862048"/>
            <a:ext cx="1262182" cy="677332"/>
          </a:xfrm>
          <a:prstGeom prst="bentConnector2">
            <a:avLst/>
          </a:prstGeom>
          <a:ln>
            <a:headEnd type="none" w="sm" len="sm"/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41" name="Connector: Elbow 40">
            <a:extLst>
              <a:ext uri="{FF2B5EF4-FFF2-40B4-BE49-F238E27FC236}">
                <a16:creationId xmlns:a16="http://schemas.microsoft.com/office/drawing/2014/main" id="{40E26C69-8ECA-4F72-9549-A8D2926D8277}"/>
              </a:ext>
            </a:extLst>
          </p:cNvPr>
          <p:cNvCxnSpPr>
            <a:cxnSpLocks/>
            <a:stCxn id="29" idx="3"/>
            <a:endCxn id="35" idx="0"/>
          </p:cNvCxnSpPr>
          <p:nvPr/>
        </p:nvCxnSpPr>
        <p:spPr bwMode="auto">
          <a:xfrm>
            <a:off x="4369447" y="2862048"/>
            <a:ext cx="1248187" cy="677332"/>
          </a:xfrm>
          <a:prstGeom prst="bentConnector2">
            <a:avLst/>
          </a:prstGeom>
          <a:ln>
            <a:headEnd type="none" w="sm" len="sm"/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44" name="Connector: Elbow 43">
            <a:extLst>
              <a:ext uri="{FF2B5EF4-FFF2-40B4-BE49-F238E27FC236}">
                <a16:creationId xmlns:a16="http://schemas.microsoft.com/office/drawing/2014/main" id="{CAB1F65B-9908-4162-84F9-4EA45014DE00}"/>
              </a:ext>
            </a:extLst>
          </p:cNvPr>
          <p:cNvCxnSpPr>
            <a:cxnSpLocks/>
            <a:endCxn id="33" idx="0"/>
          </p:cNvCxnSpPr>
          <p:nvPr/>
        </p:nvCxnSpPr>
        <p:spPr bwMode="auto">
          <a:xfrm rot="5400000">
            <a:off x="2366435" y="3319247"/>
            <a:ext cx="440265" cy="1"/>
          </a:xfrm>
          <a:prstGeom prst="bentConnector3">
            <a:avLst>
              <a:gd name="adj1" fmla="val 50000"/>
            </a:avLst>
          </a:prstGeom>
          <a:ln>
            <a:headEnd type="none" w="sm" len="sm"/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47" name="Connector: Elbow 46">
            <a:extLst>
              <a:ext uri="{FF2B5EF4-FFF2-40B4-BE49-F238E27FC236}">
                <a16:creationId xmlns:a16="http://schemas.microsoft.com/office/drawing/2014/main" id="{BD239EAE-7452-4E7F-9A2F-BFA8BAB32C8C}"/>
              </a:ext>
            </a:extLst>
          </p:cNvPr>
          <p:cNvCxnSpPr>
            <a:cxnSpLocks/>
            <a:endCxn id="34" idx="0"/>
          </p:cNvCxnSpPr>
          <p:nvPr/>
        </p:nvCxnSpPr>
        <p:spPr bwMode="auto">
          <a:xfrm rot="16200000" flipH="1">
            <a:off x="3881967" y="3319246"/>
            <a:ext cx="440265" cy="1"/>
          </a:xfrm>
          <a:prstGeom prst="bentConnector3">
            <a:avLst>
              <a:gd name="adj1" fmla="val 50000"/>
            </a:avLst>
          </a:prstGeom>
          <a:ln>
            <a:headEnd type="none" w="sm" len="sm"/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50" name="Connector: Elbow 49">
            <a:extLst>
              <a:ext uri="{FF2B5EF4-FFF2-40B4-BE49-F238E27FC236}">
                <a16:creationId xmlns:a16="http://schemas.microsoft.com/office/drawing/2014/main" id="{C43AE401-BE53-47DE-9FBA-4377DDAC4FEF}"/>
              </a:ext>
            </a:extLst>
          </p:cNvPr>
          <p:cNvCxnSpPr>
            <a:cxnSpLocks/>
            <a:stCxn id="30" idx="2"/>
            <a:endCxn id="36" idx="1"/>
          </p:cNvCxnSpPr>
          <p:nvPr/>
        </p:nvCxnSpPr>
        <p:spPr bwMode="auto">
          <a:xfrm rot="16200000" flipH="1">
            <a:off x="1363456" y="3894655"/>
            <a:ext cx="677332" cy="1262181"/>
          </a:xfrm>
          <a:prstGeom prst="bentConnector2">
            <a:avLst/>
          </a:prstGeom>
          <a:ln>
            <a:headEnd type="none" w="sm" len="sm"/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53" name="Connector: Elbow 52">
            <a:extLst>
              <a:ext uri="{FF2B5EF4-FFF2-40B4-BE49-F238E27FC236}">
                <a16:creationId xmlns:a16="http://schemas.microsoft.com/office/drawing/2014/main" id="{A3F689B8-8DB5-4C5E-B5E4-8F9AF4DAA18F}"/>
              </a:ext>
            </a:extLst>
          </p:cNvPr>
          <p:cNvCxnSpPr>
            <a:cxnSpLocks/>
            <a:stCxn id="33" idx="2"/>
          </p:cNvCxnSpPr>
          <p:nvPr/>
        </p:nvCxnSpPr>
        <p:spPr bwMode="auto">
          <a:xfrm rot="5400000">
            <a:off x="2371138" y="4401336"/>
            <a:ext cx="429684" cy="1172"/>
          </a:xfrm>
          <a:prstGeom prst="bentConnector3">
            <a:avLst>
              <a:gd name="adj1" fmla="val 50000"/>
            </a:avLst>
          </a:prstGeom>
          <a:ln>
            <a:headEnd type="none" w="sm" len="sm"/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56" name="Connector: Elbow 55">
            <a:extLst>
              <a:ext uri="{FF2B5EF4-FFF2-40B4-BE49-F238E27FC236}">
                <a16:creationId xmlns:a16="http://schemas.microsoft.com/office/drawing/2014/main" id="{FC880DDF-7AB9-47C4-96B9-6D6E543D749B}"/>
              </a:ext>
            </a:extLst>
          </p:cNvPr>
          <p:cNvCxnSpPr>
            <a:cxnSpLocks/>
            <a:stCxn id="34" idx="2"/>
          </p:cNvCxnSpPr>
          <p:nvPr/>
        </p:nvCxnSpPr>
        <p:spPr bwMode="auto">
          <a:xfrm rot="16200000" flipH="1">
            <a:off x="3887257" y="4401922"/>
            <a:ext cx="429686" cy="1"/>
          </a:xfrm>
          <a:prstGeom prst="bentConnector3">
            <a:avLst>
              <a:gd name="adj1" fmla="val 50000"/>
            </a:avLst>
          </a:prstGeom>
          <a:ln>
            <a:headEnd type="none" w="sm" len="sm"/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64" name="Connector: Elbow 63">
            <a:extLst>
              <a:ext uri="{FF2B5EF4-FFF2-40B4-BE49-F238E27FC236}">
                <a16:creationId xmlns:a16="http://schemas.microsoft.com/office/drawing/2014/main" id="{0A0343F1-8891-4EB3-A88D-E7D982C4BB00}"/>
              </a:ext>
            </a:extLst>
          </p:cNvPr>
          <p:cNvCxnSpPr>
            <a:cxnSpLocks/>
            <a:stCxn id="35" idx="2"/>
            <a:endCxn id="36" idx="3"/>
          </p:cNvCxnSpPr>
          <p:nvPr/>
        </p:nvCxnSpPr>
        <p:spPr bwMode="auto">
          <a:xfrm rot="5400000">
            <a:off x="4654874" y="3901652"/>
            <a:ext cx="677332" cy="1248188"/>
          </a:xfrm>
          <a:prstGeom prst="bentConnector2">
            <a:avLst/>
          </a:prstGeom>
          <a:ln>
            <a:headEnd type="none" w="sm" len="sm"/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67" name="Connector: Elbow 66">
            <a:extLst>
              <a:ext uri="{FF2B5EF4-FFF2-40B4-BE49-F238E27FC236}">
                <a16:creationId xmlns:a16="http://schemas.microsoft.com/office/drawing/2014/main" id="{C42A447B-C155-4494-9BAA-8A2B0AA81B65}"/>
              </a:ext>
            </a:extLst>
          </p:cNvPr>
          <p:cNvCxnSpPr>
            <a:cxnSpLocks/>
            <a:stCxn id="36" idx="2"/>
            <a:endCxn id="37" idx="0"/>
          </p:cNvCxnSpPr>
          <p:nvPr/>
        </p:nvCxnSpPr>
        <p:spPr bwMode="auto">
          <a:xfrm rot="5400000">
            <a:off x="3096271" y="5350188"/>
            <a:ext cx="510118" cy="1"/>
          </a:xfrm>
          <a:prstGeom prst="bentConnector3">
            <a:avLst>
              <a:gd name="adj1" fmla="val 50000"/>
            </a:avLst>
          </a:prstGeom>
          <a:ln>
            <a:headEnd type="none" w="sm" len="sm"/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sp>
        <p:nvSpPr>
          <p:cNvPr id="82" name="Rectangle 81">
            <a:extLst>
              <a:ext uri="{FF2B5EF4-FFF2-40B4-BE49-F238E27FC236}">
                <a16:creationId xmlns:a16="http://schemas.microsoft.com/office/drawing/2014/main" id="{FD65F003-7511-4EC0-8277-0A94C4E9242D}"/>
              </a:ext>
            </a:extLst>
          </p:cNvPr>
          <p:cNvSpPr/>
          <p:nvPr/>
        </p:nvSpPr>
        <p:spPr bwMode="auto">
          <a:xfrm>
            <a:off x="9728200" y="2415426"/>
            <a:ext cx="1143001" cy="34501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8000"/>
              </a:srgbClr>
            </a:outerShdw>
            <a:reflection blurRad="165100" endPos="0" dir="5400000" sy="-100000" algn="bl" rotWithShape="0"/>
          </a:effectLst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0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Infrastructure</a:t>
            </a: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FF2C7E98-785E-40A1-B641-D2399110DCE4}"/>
              </a:ext>
            </a:extLst>
          </p:cNvPr>
          <p:cNvSpPr/>
          <p:nvPr/>
        </p:nvSpPr>
        <p:spPr bwMode="auto">
          <a:xfrm>
            <a:off x="9728200" y="2813363"/>
            <a:ext cx="1143001" cy="34501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8000"/>
              </a:srgbClr>
            </a:outerShdw>
            <a:reflection blurRad="165100" endPos="0" dir="5400000" sy="-100000" algn="bl" rotWithShape="0"/>
          </a:effectLst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0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Comprehensive Integration</a:t>
            </a:r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74A591D9-7472-4328-A832-7F6A15450E2C}"/>
              </a:ext>
            </a:extLst>
          </p:cNvPr>
          <p:cNvSpPr/>
          <p:nvPr/>
        </p:nvSpPr>
        <p:spPr bwMode="auto">
          <a:xfrm>
            <a:off x="10925587" y="2413311"/>
            <a:ext cx="1046269" cy="34501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8000"/>
              </a:srgbClr>
            </a:outerShdw>
            <a:reflection blurRad="165100" endPos="0" dir="5400000" sy="-100000" algn="bl" rotWithShape="0"/>
          </a:effectLst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0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Domain Application</a:t>
            </a: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FA366A3B-D9CD-47D5-81BD-A5D4C1D420BC}"/>
              </a:ext>
            </a:extLst>
          </p:cNvPr>
          <p:cNvSpPr/>
          <p:nvPr/>
        </p:nvSpPr>
        <p:spPr bwMode="auto">
          <a:xfrm>
            <a:off x="10925587" y="2811248"/>
            <a:ext cx="1046269" cy="34501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8000"/>
              </a:srgbClr>
            </a:outerShdw>
            <a:reflection blurRad="165100" endPos="0" dir="5400000" sy="-100000" algn="bl" rotWithShape="0"/>
          </a:effectLst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0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Collaborative Integration</a:t>
            </a: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4910DDD2-FD97-44DF-9F20-DA4DCDBD7667}"/>
              </a:ext>
            </a:extLst>
          </p:cNvPr>
          <p:cNvSpPr/>
          <p:nvPr/>
        </p:nvSpPr>
        <p:spPr bwMode="auto">
          <a:xfrm>
            <a:off x="9660466" y="2351930"/>
            <a:ext cx="2387600" cy="880534"/>
          </a:xfrm>
          <a:prstGeom prst="rect">
            <a:avLst/>
          </a:prstGeom>
          <a:noFill/>
          <a:ln w="9525" cap="flat" cmpd="sng" algn="ctr">
            <a:solidFill>
              <a:schemeClr val="bg1"/>
            </a:solidFill>
            <a:prstDash val="dash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9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87" name="Connector: Elbow 86">
            <a:extLst>
              <a:ext uri="{FF2B5EF4-FFF2-40B4-BE49-F238E27FC236}">
                <a16:creationId xmlns:a16="http://schemas.microsoft.com/office/drawing/2014/main" id="{0671CE9C-4621-4CFE-BCC4-1E0BD2ACDA74}"/>
              </a:ext>
            </a:extLst>
          </p:cNvPr>
          <p:cNvCxnSpPr>
            <a:cxnSpLocks/>
            <a:stCxn id="86" idx="1"/>
            <a:endCxn id="19" idx="0"/>
          </p:cNvCxnSpPr>
          <p:nvPr/>
        </p:nvCxnSpPr>
        <p:spPr bwMode="auto">
          <a:xfrm rot="10800000" flipV="1">
            <a:off x="8987368" y="2792196"/>
            <a:ext cx="673099" cy="571501"/>
          </a:xfrm>
          <a:prstGeom prst="bentConnector2">
            <a:avLst/>
          </a:prstGeom>
          <a:ln>
            <a:headEnd type="none" w="sm" len="sm"/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sp>
        <p:nvSpPr>
          <p:cNvPr id="90" name="Rectangle 89">
            <a:extLst>
              <a:ext uri="{FF2B5EF4-FFF2-40B4-BE49-F238E27FC236}">
                <a16:creationId xmlns:a16="http://schemas.microsoft.com/office/drawing/2014/main" id="{AE2E623F-695B-48C1-A239-C5F16C4F5C2D}"/>
              </a:ext>
            </a:extLst>
          </p:cNvPr>
          <p:cNvSpPr/>
          <p:nvPr/>
        </p:nvSpPr>
        <p:spPr bwMode="auto">
          <a:xfrm>
            <a:off x="479188" y="1287246"/>
            <a:ext cx="1353022" cy="6477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8000"/>
              </a:srgbClr>
            </a:outerShdw>
            <a:reflection blurRad="165100" endPos="0" dir="5400000" sy="-100000" algn="bl" rotWithShape="0"/>
          </a:effectLst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200" dirty="0">
                <a:solidFill>
                  <a:schemeClr val="tx1"/>
                </a:solidFill>
                <a:latin typeface="Arial" charset="0"/>
              </a:rPr>
              <a:t>Enterprise Assessment Objective</a:t>
            </a:r>
            <a:endParaRPr kumimoji="0" 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6F8DA864-0FEB-453B-AF87-E8D3A0FCCC0B}"/>
              </a:ext>
            </a:extLst>
          </p:cNvPr>
          <p:cNvSpPr/>
          <p:nvPr/>
        </p:nvSpPr>
        <p:spPr bwMode="auto">
          <a:xfrm>
            <a:off x="2457800" y="1287246"/>
            <a:ext cx="1353022" cy="6477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8000"/>
              </a:srgbClr>
            </a:outerShdw>
            <a:reflection blurRad="165100" endPos="0" dir="5400000" sy="-100000" algn="bl" rotWithShape="0"/>
          </a:effectLst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200" dirty="0">
                <a:solidFill>
                  <a:schemeClr val="tx1"/>
                </a:solidFill>
                <a:latin typeface="Arial" charset="0"/>
              </a:rPr>
              <a:t>Assessment Expert Team</a:t>
            </a:r>
            <a:endParaRPr kumimoji="0" 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104" name="Straight Arrow Connector 103">
            <a:extLst>
              <a:ext uri="{FF2B5EF4-FFF2-40B4-BE49-F238E27FC236}">
                <a16:creationId xmlns:a16="http://schemas.microsoft.com/office/drawing/2014/main" id="{8594D1D1-64A1-47CD-8107-8108E5B4D25F}"/>
              </a:ext>
            </a:extLst>
          </p:cNvPr>
          <p:cNvCxnSpPr>
            <a:stCxn id="90" idx="3"/>
            <a:endCxn id="91" idx="1"/>
          </p:cNvCxnSpPr>
          <p:nvPr/>
        </p:nvCxnSpPr>
        <p:spPr bwMode="auto">
          <a:xfrm>
            <a:off x="1832210" y="1611096"/>
            <a:ext cx="625590" cy="0"/>
          </a:xfrm>
          <a:prstGeom prst="straightConnector1">
            <a:avLst/>
          </a:prstGeom>
          <a:ln>
            <a:headEnd type="none" w="sm" len="sm"/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107" name="Straight Arrow Connector 106">
            <a:extLst>
              <a:ext uri="{FF2B5EF4-FFF2-40B4-BE49-F238E27FC236}">
                <a16:creationId xmlns:a16="http://schemas.microsoft.com/office/drawing/2014/main" id="{996BD1D8-AF6D-49DF-AB2A-A84A6A2FA74E}"/>
              </a:ext>
            </a:extLst>
          </p:cNvPr>
          <p:cNvCxnSpPr>
            <a:cxnSpLocks/>
            <a:stCxn id="91" idx="2"/>
          </p:cNvCxnSpPr>
          <p:nvPr/>
        </p:nvCxnSpPr>
        <p:spPr bwMode="auto">
          <a:xfrm>
            <a:off x="3134311" y="1934946"/>
            <a:ext cx="0" cy="696385"/>
          </a:xfrm>
          <a:prstGeom prst="straightConnector1">
            <a:avLst/>
          </a:prstGeom>
          <a:ln>
            <a:headEnd type="none" w="sm" len="sm"/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C562DB3F-82ED-4BC2-9F2C-16CC9402AA36}"/>
              </a:ext>
            </a:extLst>
          </p:cNvPr>
          <p:cNvSpPr txBox="1"/>
          <p:nvPr/>
        </p:nvSpPr>
        <p:spPr>
          <a:xfrm>
            <a:off x="9121190" y="6313217"/>
            <a:ext cx="30708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>
                <a:solidFill>
                  <a:schemeClr val="bg1"/>
                </a:solidFill>
              </a:rPr>
              <a:t>Reference: ISO/DIS 22549-1:2019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CII: Convergence of Information and Industrialization</a:t>
            </a:r>
          </a:p>
        </p:txBody>
      </p:sp>
    </p:spTree>
    <p:extLst>
      <p:ext uri="{BB962C8B-B14F-4D97-AF65-F5344CB8AC3E}">
        <p14:creationId xmlns:p14="http://schemas.microsoft.com/office/powerpoint/2010/main" val="41715965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90DDAC8B-35D2-46E8-92B7-F42385782B82}"/>
              </a:ext>
            </a:extLst>
          </p:cNvPr>
          <p:cNvSpPr txBox="1">
            <a:spLocks/>
          </p:cNvSpPr>
          <p:nvPr/>
        </p:nvSpPr>
        <p:spPr bwMode="auto">
          <a:xfrm>
            <a:off x="0" y="0"/>
            <a:ext cx="9144000" cy="5642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432000" tIns="228600" rIns="457200" bIns="0" numCol="1" anchor="ctr" anchorCtr="0" compatLnSpc="1">
            <a:prstTxWarp prst="textNoShape">
              <a:avLst/>
            </a:prstTxWarp>
            <a:spAutoFit/>
          </a:bodyPr>
          <a:lstStyle>
            <a:lvl1pPr algn="l" defTabSz="885825" rtl="0" eaLnBrk="0" fontAlgn="base" hangingPunct="0">
              <a:lnSpc>
                <a:spcPts val="26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l" defTabSz="885825" rtl="0" eaLnBrk="0" fontAlgn="base" hangingPunct="0">
              <a:lnSpc>
                <a:spcPts val="26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charset="0"/>
              </a:defRPr>
            </a:lvl2pPr>
            <a:lvl3pPr algn="l" defTabSz="885825" rtl="0" eaLnBrk="0" fontAlgn="base" hangingPunct="0">
              <a:lnSpc>
                <a:spcPts val="26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charset="0"/>
              </a:defRPr>
            </a:lvl3pPr>
            <a:lvl4pPr algn="l" defTabSz="885825" rtl="0" eaLnBrk="0" fontAlgn="base" hangingPunct="0">
              <a:lnSpc>
                <a:spcPts val="26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charset="0"/>
              </a:defRPr>
            </a:lvl4pPr>
            <a:lvl5pPr algn="l" defTabSz="885825" rtl="0" eaLnBrk="0" fontAlgn="base" hangingPunct="0">
              <a:lnSpc>
                <a:spcPts val="26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charset="0"/>
              </a:defRPr>
            </a:lvl5pPr>
            <a:lvl6pPr marL="457200" algn="l" defTabSz="885825" rtl="0" eaLnBrk="0" fontAlgn="base" hangingPunct="0">
              <a:lnSpc>
                <a:spcPts val="26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charset="0"/>
              </a:defRPr>
            </a:lvl6pPr>
            <a:lvl7pPr marL="914400" algn="l" defTabSz="885825" rtl="0" eaLnBrk="0" fontAlgn="base" hangingPunct="0">
              <a:lnSpc>
                <a:spcPts val="26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charset="0"/>
              </a:defRPr>
            </a:lvl7pPr>
            <a:lvl8pPr marL="1371600" algn="l" defTabSz="885825" rtl="0" eaLnBrk="0" fontAlgn="base" hangingPunct="0">
              <a:lnSpc>
                <a:spcPts val="26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charset="0"/>
              </a:defRPr>
            </a:lvl8pPr>
            <a:lvl9pPr marL="1828800" algn="l" defTabSz="885825" rtl="0" eaLnBrk="0" fontAlgn="base" hangingPunct="0">
              <a:lnSpc>
                <a:spcPts val="26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charset="0"/>
              </a:defRPr>
            </a:lvl9pPr>
          </a:lstStyle>
          <a:p>
            <a:r>
              <a:rPr lang="en-US" kern="0" dirty="0"/>
              <a:t>Breakdown of the Assessment Reference Model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1D38C90-FFFA-451B-BF30-0683414A32BD}"/>
              </a:ext>
            </a:extLst>
          </p:cNvPr>
          <p:cNvSpPr/>
          <p:nvPr/>
        </p:nvSpPr>
        <p:spPr bwMode="auto">
          <a:xfrm>
            <a:off x="258981" y="1944451"/>
            <a:ext cx="1171812" cy="31295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8000"/>
              </a:srgbClr>
            </a:outerShdw>
            <a:reflection blurRad="165100" endPos="0" dir="5400000" sy="-100000" algn="bl" rotWithShape="0"/>
          </a:effectLst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050" dirty="0">
                <a:solidFill>
                  <a:schemeClr val="tx1"/>
                </a:solidFill>
                <a:latin typeface="Arial" charset="0"/>
              </a:rPr>
              <a:t>Infrastructure</a:t>
            </a:r>
            <a:endParaRPr kumimoji="0" lang="en-US" sz="105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B0DB467-CA7E-49ED-890A-9C3DE2E167B6}"/>
              </a:ext>
            </a:extLst>
          </p:cNvPr>
          <p:cNvSpPr/>
          <p:nvPr/>
        </p:nvSpPr>
        <p:spPr bwMode="auto">
          <a:xfrm>
            <a:off x="1178261" y="2503170"/>
            <a:ext cx="1882364" cy="31295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8000"/>
              </a:srgbClr>
            </a:outerShdw>
            <a:reflection blurRad="165100" endPos="0" dir="5400000" sy="-100000" algn="bl" rotWithShape="0"/>
          </a:effectLst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050" dirty="0">
                <a:solidFill>
                  <a:schemeClr val="tx1"/>
                </a:solidFill>
                <a:latin typeface="Arial" charset="0"/>
              </a:rPr>
              <a:t>Capital Investment</a:t>
            </a:r>
            <a:endParaRPr kumimoji="0" lang="en-US" sz="105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14F1B0A-86AE-4365-A461-645EA358BE65}"/>
              </a:ext>
            </a:extLst>
          </p:cNvPr>
          <p:cNvSpPr/>
          <p:nvPr/>
        </p:nvSpPr>
        <p:spPr bwMode="auto">
          <a:xfrm>
            <a:off x="1178261" y="2877226"/>
            <a:ext cx="1882364" cy="31295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8000"/>
              </a:srgbClr>
            </a:outerShdw>
            <a:reflection blurRad="165100" endPos="0" dir="5400000" sy="-100000" algn="bl" rotWithShape="0"/>
          </a:effectLst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0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Equipment &amp; Facilities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5D3CE8F-49A2-458F-A927-19B548909D39}"/>
              </a:ext>
            </a:extLst>
          </p:cNvPr>
          <p:cNvSpPr/>
          <p:nvPr/>
        </p:nvSpPr>
        <p:spPr bwMode="auto">
          <a:xfrm>
            <a:off x="1178261" y="3251282"/>
            <a:ext cx="1882364" cy="31295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8000"/>
              </a:srgbClr>
            </a:outerShdw>
            <a:reflection blurRad="165100" endPos="0" dir="5400000" sy="-100000" algn="bl" rotWithShape="0"/>
          </a:effectLst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050" dirty="0">
                <a:solidFill>
                  <a:schemeClr val="tx1"/>
                </a:solidFill>
                <a:latin typeface="Arial" charset="0"/>
              </a:rPr>
              <a:t>Information Security</a:t>
            </a:r>
            <a:endParaRPr kumimoji="0" lang="en-US" sz="105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044804D-5509-4B49-B842-40040D7E756D}"/>
              </a:ext>
            </a:extLst>
          </p:cNvPr>
          <p:cNvSpPr/>
          <p:nvPr/>
        </p:nvSpPr>
        <p:spPr bwMode="auto">
          <a:xfrm>
            <a:off x="1178261" y="3625338"/>
            <a:ext cx="1882365" cy="31295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8000"/>
              </a:srgbClr>
            </a:outerShdw>
            <a:reflection blurRad="165100" endPos="0" dir="5400000" sy="-100000" algn="bl" rotWithShape="0"/>
          </a:effectLst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050" dirty="0">
                <a:solidFill>
                  <a:schemeClr val="tx1"/>
                </a:solidFill>
                <a:latin typeface="Arial" charset="0"/>
              </a:rPr>
              <a:t>Organization &amp; Planning</a:t>
            </a:r>
            <a:endParaRPr kumimoji="0" lang="en-US" sz="105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934F526-259E-48A1-B9A4-972BEE404988}"/>
              </a:ext>
            </a:extLst>
          </p:cNvPr>
          <p:cNvSpPr/>
          <p:nvPr/>
        </p:nvSpPr>
        <p:spPr bwMode="auto">
          <a:xfrm>
            <a:off x="1178261" y="3999394"/>
            <a:ext cx="1882364" cy="31295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8000"/>
              </a:srgbClr>
            </a:outerShdw>
            <a:reflection blurRad="165100" endPos="0" dir="5400000" sy="-100000" algn="bl" rotWithShape="0"/>
          </a:effectLst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0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Information Resources</a:t>
            </a:r>
          </a:p>
        </p:txBody>
      </p:sp>
      <p:cxnSp>
        <p:nvCxnSpPr>
          <p:cNvPr id="20" name="Connector: Elbow 19">
            <a:extLst>
              <a:ext uri="{FF2B5EF4-FFF2-40B4-BE49-F238E27FC236}">
                <a16:creationId xmlns:a16="http://schemas.microsoft.com/office/drawing/2014/main" id="{ABC814C4-2B2B-42F9-AF66-4E0263FCFC2C}"/>
              </a:ext>
            </a:extLst>
          </p:cNvPr>
          <p:cNvCxnSpPr>
            <a:cxnSpLocks/>
            <a:stCxn id="19" idx="1"/>
            <a:endCxn id="10" idx="2"/>
          </p:cNvCxnSpPr>
          <p:nvPr/>
        </p:nvCxnSpPr>
        <p:spPr bwMode="auto">
          <a:xfrm rot="10800000">
            <a:off x="844887" y="2257405"/>
            <a:ext cx="333374" cy="1898466"/>
          </a:xfrm>
          <a:prstGeom prst="bentConnector2">
            <a:avLst/>
          </a:prstGeom>
          <a:ln>
            <a:headEnd type="none" w="sm" len="sm"/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23" name="Connector: Elbow 22">
            <a:extLst>
              <a:ext uri="{FF2B5EF4-FFF2-40B4-BE49-F238E27FC236}">
                <a16:creationId xmlns:a16="http://schemas.microsoft.com/office/drawing/2014/main" id="{30E03362-D97A-4D1A-9709-1A6B560FEAF0}"/>
              </a:ext>
            </a:extLst>
          </p:cNvPr>
          <p:cNvCxnSpPr>
            <a:cxnSpLocks/>
            <a:stCxn id="18" idx="1"/>
            <a:endCxn id="10" idx="2"/>
          </p:cNvCxnSpPr>
          <p:nvPr/>
        </p:nvCxnSpPr>
        <p:spPr bwMode="auto">
          <a:xfrm rot="10800000">
            <a:off x="844887" y="2257405"/>
            <a:ext cx="333374" cy="1524410"/>
          </a:xfrm>
          <a:prstGeom prst="bentConnector2">
            <a:avLst/>
          </a:prstGeom>
          <a:ln>
            <a:headEnd type="none" w="sm" len="sm"/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26" name="Connector: Elbow 25">
            <a:extLst>
              <a:ext uri="{FF2B5EF4-FFF2-40B4-BE49-F238E27FC236}">
                <a16:creationId xmlns:a16="http://schemas.microsoft.com/office/drawing/2014/main" id="{ACA4DBB8-7F6D-4AE1-B066-818A0F9E7AC5}"/>
              </a:ext>
            </a:extLst>
          </p:cNvPr>
          <p:cNvCxnSpPr>
            <a:cxnSpLocks/>
            <a:stCxn id="17" idx="1"/>
            <a:endCxn id="10" idx="2"/>
          </p:cNvCxnSpPr>
          <p:nvPr/>
        </p:nvCxnSpPr>
        <p:spPr bwMode="auto">
          <a:xfrm rot="10800000">
            <a:off x="844887" y="2257405"/>
            <a:ext cx="333374" cy="1150354"/>
          </a:xfrm>
          <a:prstGeom prst="bentConnector2">
            <a:avLst/>
          </a:prstGeom>
          <a:ln>
            <a:headEnd type="none" w="sm" len="sm"/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29" name="Connector: Elbow 28">
            <a:extLst>
              <a:ext uri="{FF2B5EF4-FFF2-40B4-BE49-F238E27FC236}">
                <a16:creationId xmlns:a16="http://schemas.microsoft.com/office/drawing/2014/main" id="{7E736B84-E267-4B02-A31B-8D741307D46E}"/>
              </a:ext>
            </a:extLst>
          </p:cNvPr>
          <p:cNvCxnSpPr>
            <a:cxnSpLocks/>
            <a:stCxn id="16" idx="1"/>
            <a:endCxn id="10" idx="2"/>
          </p:cNvCxnSpPr>
          <p:nvPr/>
        </p:nvCxnSpPr>
        <p:spPr bwMode="auto">
          <a:xfrm rot="10800000">
            <a:off x="844887" y="2257405"/>
            <a:ext cx="333374" cy="776298"/>
          </a:xfrm>
          <a:prstGeom prst="bentConnector2">
            <a:avLst/>
          </a:prstGeom>
          <a:ln>
            <a:headEnd type="none" w="sm" len="sm"/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32" name="Connector: Elbow 31">
            <a:extLst>
              <a:ext uri="{FF2B5EF4-FFF2-40B4-BE49-F238E27FC236}">
                <a16:creationId xmlns:a16="http://schemas.microsoft.com/office/drawing/2014/main" id="{CC4B3F45-65F7-4595-9A1E-54A51961092F}"/>
              </a:ext>
            </a:extLst>
          </p:cNvPr>
          <p:cNvCxnSpPr>
            <a:cxnSpLocks/>
            <a:stCxn id="15" idx="1"/>
            <a:endCxn id="10" idx="2"/>
          </p:cNvCxnSpPr>
          <p:nvPr/>
        </p:nvCxnSpPr>
        <p:spPr bwMode="auto">
          <a:xfrm rot="10800000">
            <a:off x="844887" y="2257405"/>
            <a:ext cx="333374" cy="402242"/>
          </a:xfrm>
          <a:prstGeom prst="bentConnector2">
            <a:avLst/>
          </a:prstGeom>
          <a:ln>
            <a:headEnd type="none" w="sm" len="sm"/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sp>
        <p:nvSpPr>
          <p:cNvPr id="35" name="Rectangle 34">
            <a:extLst>
              <a:ext uri="{FF2B5EF4-FFF2-40B4-BE49-F238E27FC236}">
                <a16:creationId xmlns:a16="http://schemas.microsoft.com/office/drawing/2014/main" id="{BC4965F3-4D88-429B-BDED-627F64ADEE80}"/>
              </a:ext>
            </a:extLst>
          </p:cNvPr>
          <p:cNvSpPr/>
          <p:nvPr/>
        </p:nvSpPr>
        <p:spPr bwMode="auto">
          <a:xfrm>
            <a:off x="5434083" y="1944451"/>
            <a:ext cx="1171812" cy="31295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8000"/>
              </a:srgbClr>
            </a:outerShdw>
            <a:reflection blurRad="165100" endPos="0" dir="5400000" sy="-100000" algn="bl" rotWithShape="0"/>
          </a:effectLst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050" dirty="0" smtClean="0">
                <a:solidFill>
                  <a:schemeClr val="tx1"/>
                </a:solidFill>
                <a:latin typeface="Arial" charset="0"/>
              </a:rPr>
              <a:t>Domain</a:t>
            </a:r>
            <a:endParaRPr kumimoji="0" lang="en-US" sz="105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FD620D8A-8658-4E5C-B663-FFE6CD767D2E}"/>
              </a:ext>
            </a:extLst>
          </p:cNvPr>
          <p:cNvSpPr/>
          <p:nvPr/>
        </p:nvSpPr>
        <p:spPr bwMode="auto">
          <a:xfrm>
            <a:off x="6353363" y="2503170"/>
            <a:ext cx="1882364" cy="31295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8000"/>
              </a:srgbClr>
            </a:outerShdw>
            <a:reflection blurRad="165100" endPos="0" dir="5400000" sy="-100000" algn="bl" rotWithShape="0"/>
          </a:effectLst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050" dirty="0">
                <a:solidFill>
                  <a:schemeClr val="tx1"/>
                </a:solidFill>
                <a:latin typeface="Arial" charset="0"/>
              </a:rPr>
              <a:t>Product Design</a:t>
            </a:r>
            <a:endParaRPr kumimoji="0" lang="en-US" sz="105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6772A38F-6ED2-4DFE-95D9-762DFB48E2B1}"/>
              </a:ext>
            </a:extLst>
          </p:cNvPr>
          <p:cNvSpPr/>
          <p:nvPr/>
        </p:nvSpPr>
        <p:spPr bwMode="auto">
          <a:xfrm>
            <a:off x="3838529" y="2500472"/>
            <a:ext cx="1882364" cy="31295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8000"/>
              </a:srgbClr>
            </a:outerShdw>
            <a:reflection blurRad="165100" endPos="0" dir="5400000" sy="-100000" algn="bl" rotWithShape="0"/>
          </a:effectLst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0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Process Design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CA866ADF-F4D5-49A3-8424-65A89F3A3DE5}"/>
              </a:ext>
            </a:extLst>
          </p:cNvPr>
          <p:cNvSpPr/>
          <p:nvPr/>
        </p:nvSpPr>
        <p:spPr bwMode="auto">
          <a:xfrm>
            <a:off x="6353363" y="2938328"/>
            <a:ext cx="1882364" cy="31295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8000"/>
              </a:srgbClr>
            </a:outerShdw>
            <a:reflection blurRad="165100" endPos="0" dir="5400000" sy="-100000" algn="bl" rotWithShape="0"/>
          </a:effectLst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050" dirty="0">
                <a:solidFill>
                  <a:schemeClr val="tx1"/>
                </a:solidFill>
                <a:latin typeface="Arial" charset="0"/>
              </a:rPr>
              <a:t>Production Management</a:t>
            </a:r>
            <a:endParaRPr kumimoji="0" lang="en-US" sz="105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AB707D6F-F6F7-490F-A6B9-D7B89D871D3C}"/>
              </a:ext>
            </a:extLst>
          </p:cNvPr>
          <p:cNvSpPr/>
          <p:nvPr/>
        </p:nvSpPr>
        <p:spPr bwMode="auto">
          <a:xfrm>
            <a:off x="3838528" y="2931212"/>
            <a:ext cx="1882365" cy="31295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8000"/>
              </a:srgbClr>
            </a:outerShdw>
            <a:reflection blurRad="165100" endPos="0" dir="5400000" sy="-100000" algn="bl" rotWithShape="0"/>
          </a:effectLst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050" dirty="0">
                <a:solidFill>
                  <a:schemeClr val="tx1"/>
                </a:solidFill>
                <a:latin typeface="Arial" charset="0"/>
              </a:rPr>
              <a:t>Materials Management</a:t>
            </a:r>
            <a:endParaRPr kumimoji="0" lang="en-US" sz="105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A4FC7DE2-7D19-4F31-9ECF-D89647049857}"/>
              </a:ext>
            </a:extLst>
          </p:cNvPr>
          <p:cNvSpPr/>
          <p:nvPr/>
        </p:nvSpPr>
        <p:spPr bwMode="auto">
          <a:xfrm>
            <a:off x="6353363" y="3376038"/>
            <a:ext cx="1882364" cy="31295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8000"/>
              </a:srgbClr>
            </a:outerShdw>
            <a:reflection blurRad="165100" endPos="0" dir="5400000" sy="-100000" algn="bl" rotWithShape="0"/>
          </a:effectLst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0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Sales Management</a:t>
            </a:r>
          </a:p>
        </p:txBody>
      </p:sp>
      <p:cxnSp>
        <p:nvCxnSpPr>
          <p:cNvPr id="41" name="Connector: Elbow 40">
            <a:extLst>
              <a:ext uri="{FF2B5EF4-FFF2-40B4-BE49-F238E27FC236}">
                <a16:creationId xmlns:a16="http://schemas.microsoft.com/office/drawing/2014/main" id="{81856ABE-6FE9-46BA-99EC-8EB60A2AC6A5}"/>
              </a:ext>
            </a:extLst>
          </p:cNvPr>
          <p:cNvCxnSpPr>
            <a:cxnSpLocks/>
            <a:stCxn id="40" idx="1"/>
            <a:endCxn id="35" idx="2"/>
          </p:cNvCxnSpPr>
          <p:nvPr/>
        </p:nvCxnSpPr>
        <p:spPr bwMode="auto">
          <a:xfrm rot="10800000">
            <a:off x="6019989" y="2257405"/>
            <a:ext cx="333374" cy="1275110"/>
          </a:xfrm>
          <a:prstGeom prst="bentConnector2">
            <a:avLst/>
          </a:prstGeom>
          <a:ln>
            <a:headEnd type="none" w="sm" len="sm"/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42" name="Connector: Elbow 41">
            <a:extLst>
              <a:ext uri="{FF2B5EF4-FFF2-40B4-BE49-F238E27FC236}">
                <a16:creationId xmlns:a16="http://schemas.microsoft.com/office/drawing/2014/main" id="{25C19A5B-4E0E-4C6A-842B-560075EF7569}"/>
              </a:ext>
            </a:extLst>
          </p:cNvPr>
          <p:cNvCxnSpPr>
            <a:cxnSpLocks/>
            <a:stCxn id="39" idx="3"/>
            <a:endCxn id="35" idx="2"/>
          </p:cNvCxnSpPr>
          <p:nvPr/>
        </p:nvCxnSpPr>
        <p:spPr bwMode="auto">
          <a:xfrm flipV="1">
            <a:off x="5720893" y="2257405"/>
            <a:ext cx="299096" cy="830284"/>
          </a:xfrm>
          <a:prstGeom prst="bentConnector2">
            <a:avLst/>
          </a:prstGeom>
          <a:ln>
            <a:headEnd type="none" w="sm" len="sm"/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43" name="Connector: Elbow 42">
            <a:extLst>
              <a:ext uri="{FF2B5EF4-FFF2-40B4-BE49-F238E27FC236}">
                <a16:creationId xmlns:a16="http://schemas.microsoft.com/office/drawing/2014/main" id="{BDBC7BBA-770E-402B-ADC7-E7207446E12E}"/>
              </a:ext>
            </a:extLst>
          </p:cNvPr>
          <p:cNvCxnSpPr>
            <a:cxnSpLocks/>
            <a:stCxn id="38" idx="1"/>
            <a:endCxn id="35" idx="2"/>
          </p:cNvCxnSpPr>
          <p:nvPr/>
        </p:nvCxnSpPr>
        <p:spPr bwMode="auto">
          <a:xfrm rot="10800000">
            <a:off x="6019989" y="2257405"/>
            <a:ext cx="333374" cy="837400"/>
          </a:xfrm>
          <a:prstGeom prst="bentConnector2">
            <a:avLst/>
          </a:prstGeom>
          <a:ln>
            <a:headEnd type="none" w="sm" len="sm"/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44" name="Connector: Elbow 43">
            <a:extLst>
              <a:ext uri="{FF2B5EF4-FFF2-40B4-BE49-F238E27FC236}">
                <a16:creationId xmlns:a16="http://schemas.microsoft.com/office/drawing/2014/main" id="{FF24D61E-1287-427C-ACC9-FDA80B6C7042}"/>
              </a:ext>
            </a:extLst>
          </p:cNvPr>
          <p:cNvCxnSpPr>
            <a:cxnSpLocks/>
            <a:stCxn id="37" idx="3"/>
            <a:endCxn id="35" idx="2"/>
          </p:cNvCxnSpPr>
          <p:nvPr/>
        </p:nvCxnSpPr>
        <p:spPr bwMode="auto">
          <a:xfrm flipV="1">
            <a:off x="5720893" y="2257405"/>
            <a:ext cx="299096" cy="399544"/>
          </a:xfrm>
          <a:prstGeom prst="bentConnector2">
            <a:avLst/>
          </a:prstGeom>
          <a:ln>
            <a:headEnd type="none" w="sm" len="sm"/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45" name="Connector: Elbow 44">
            <a:extLst>
              <a:ext uri="{FF2B5EF4-FFF2-40B4-BE49-F238E27FC236}">
                <a16:creationId xmlns:a16="http://schemas.microsoft.com/office/drawing/2014/main" id="{80B0BAD5-780A-440D-97FE-47114E19A4FE}"/>
              </a:ext>
            </a:extLst>
          </p:cNvPr>
          <p:cNvCxnSpPr>
            <a:cxnSpLocks/>
            <a:stCxn id="36" idx="1"/>
            <a:endCxn id="35" idx="2"/>
          </p:cNvCxnSpPr>
          <p:nvPr/>
        </p:nvCxnSpPr>
        <p:spPr bwMode="auto">
          <a:xfrm rot="10800000">
            <a:off x="6019989" y="2257405"/>
            <a:ext cx="333374" cy="402242"/>
          </a:xfrm>
          <a:prstGeom prst="bentConnector2">
            <a:avLst/>
          </a:prstGeom>
          <a:ln>
            <a:headEnd type="none" w="sm" len="sm"/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sp>
        <p:nvSpPr>
          <p:cNvPr id="46" name="Rectangle 45">
            <a:extLst>
              <a:ext uri="{FF2B5EF4-FFF2-40B4-BE49-F238E27FC236}">
                <a16:creationId xmlns:a16="http://schemas.microsoft.com/office/drawing/2014/main" id="{ECDFF747-18AA-42D9-B0E7-72046305714A}"/>
              </a:ext>
            </a:extLst>
          </p:cNvPr>
          <p:cNvSpPr/>
          <p:nvPr/>
        </p:nvSpPr>
        <p:spPr bwMode="auto">
          <a:xfrm>
            <a:off x="3838529" y="3377146"/>
            <a:ext cx="1882364" cy="31295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8000"/>
              </a:srgbClr>
            </a:outerShdw>
            <a:reflection blurRad="165100" endPos="0" dir="5400000" sy="-100000" algn="bl" rotWithShape="0"/>
          </a:effectLst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050" dirty="0">
                <a:solidFill>
                  <a:schemeClr val="tx1"/>
                </a:solidFill>
                <a:latin typeface="Arial" charset="0"/>
              </a:rPr>
              <a:t>Financial Management</a:t>
            </a:r>
            <a:endParaRPr kumimoji="0" lang="en-US" sz="105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850FB88D-D7D6-40F6-B43A-60B9F0C03300}"/>
              </a:ext>
            </a:extLst>
          </p:cNvPr>
          <p:cNvSpPr/>
          <p:nvPr/>
        </p:nvSpPr>
        <p:spPr bwMode="auto">
          <a:xfrm>
            <a:off x="6353363" y="3823427"/>
            <a:ext cx="1882364" cy="31295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8000"/>
              </a:srgbClr>
            </a:outerShdw>
            <a:reflection blurRad="165100" endPos="0" dir="5400000" sy="-100000" algn="bl" rotWithShape="0"/>
          </a:effectLst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0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Security Management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2C1B7D43-2F75-4D1E-A2BF-6F22DF5E31F0}"/>
              </a:ext>
            </a:extLst>
          </p:cNvPr>
          <p:cNvSpPr/>
          <p:nvPr/>
        </p:nvSpPr>
        <p:spPr bwMode="auto">
          <a:xfrm>
            <a:off x="3838529" y="3823080"/>
            <a:ext cx="1882364" cy="31295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8000"/>
              </a:srgbClr>
            </a:outerShdw>
            <a:reflection blurRad="165100" endPos="0" dir="5400000" sy="-100000" algn="bl" rotWithShape="0"/>
          </a:effectLst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050" dirty="0">
                <a:solidFill>
                  <a:schemeClr val="tx1"/>
                </a:solidFill>
                <a:latin typeface="Arial" charset="0"/>
              </a:rPr>
              <a:t>Project Management</a:t>
            </a:r>
            <a:endParaRPr kumimoji="0" lang="en-US" sz="105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6BE98982-4537-4DE7-B507-88E45B830025}"/>
              </a:ext>
            </a:extLst>
          </p:cNvPr>
          <p:cNvSpPr/>
          <p:nvPr/>
        </p:nvSpPr>
        <p:spPr bwMode="auto">
          <a:xfrm>
            <a:off x="6353363" y="4267906"/>
            <a:ext cx="1882365" cy="31295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8000"/>
              </a:srgbClr>
            </a:outerShdw>
            <a:reflection blurRad="165100" endPos="0" dir="5400000" sy="-100000" algn="bl" rotWithShape="0"/>
          </a:effectLst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050" dirty="0">
                <a:solidFill>
                  <a:schemeClr val="tx1"/>
                </a:solidFill>
                <a:latin typeface="Arial" charset="0"/>
              </a:rPr>
              <a:t>Maintenance Management</a:t>
            </a:r>
            <a:endParaRPr kumimoji="0" lang="en-US" sz="105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AAC6933E-6843-4CD4-B6F7-0B8D1A544E5F}"/>
              </a:ext>
            </a:extLst>
          </p:cNvPr>
          <p:cNvSpPr/>
          <p:nvPr/>
        </p:nvSpPr>
        <p:spPr bwMode="auto">
          <a:xfrm>
            <a:off x="3838528" y="4269014"/>
            <a:ext cx="1882364" cy="31295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8000"/>
              </a:srgbClr>
            </a:outerShdw>
            <a:reflection blurRad="165100" endPos="0" dir="5400000" sy="-100000" algn="bl" rotWithShape="0"/>
          </a:effectLst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0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Human Resource Management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14DD064C-7A22-4EC1-A5AD-C1308CC0C6C9}"/>
              </a:ext>
            </a:extLst>
          </p:cNvPr>
          <p:cNvSpPr/>
          <p:nvPr/>
        </p:nvSpPr>
        <p:spPr bwMode="auto">
          <a:xfrm>
            <a:off x="6353363" y="4719217"/>
            <a:ext cx="1882364" cy="31295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8000"/>
              </a:srgbClr>
            </a:outerShdw>
            <a:reflection blurRad="165100" endPos="0" dir="5400000" sy="-100000" algn="bl" rotWithShape="0"/>
          </a:effectLst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0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Document Management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9259722E-E76F-42D4-A000-175411FF368E}"/>
              </a:ext>
            </a:extLst>
          </p:cNvPr>
          <p:cNvSpPr/>
          <p:nvPr/>
        </p:nvSpPr>
        <p:spPr bwMode="auto">
          <a:xfrm>
            <a:off x="3838528" y="4711856"/>
            <a:ext cx="1882364" cy="31295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8000"/>
              </a:srgbClr>
            </a:outerShdw>
            <a:reflection blurRad="165100" endPos="0" dir="5400000" sy="-100000" algn="bl" rotWithShape="0"/>
          </a:effectLst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0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Quality Management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15B72D85-5A47-481D-9ED4-23B71074251D}"/>
              </a:ext>
            </a:extLst>
          </p:cNvPr>
          <p:cNvSpPr/>
          <p:nvPr/>
        </p:nvSpPr>
        <p:spPr bwMode="auto">
          <a:xfrm>
            <a:off x="6353362" y="5162059"/>
            <a:ext cx="1882365" cy="31295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8000"/>
              </a:srgbClr>
            </a:outerShdw>
            <a:reflection blurRad="165100" endPos="0" dir="5400000" sy="-100000" algn="bl" rotWithShape="0"/>
          </a:effectLst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050" dirty="0">
                <a:solidFill>
                  <a:schemeClr val="tx1"/>
                </a:solidFill>
                <a:latin typeface="Arial" charset="0"/>
              </a:rPr>
              <a:t>Environment, Health, and Safety (EHS) Management</a:t>
            </a:r>
            <a:endParaRPr kumimoji="0" lang="en-US" sz="105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6670FE41-7C5A-4DBE-9369-E2A4F09DAD00}"/>
              </a:ext>
            </a:extLst>
          </p:cNvPr>
          <p:cNvSpPr/>
          <p:nvPr/>
        </p:nvSpPr>
        <p:spPr bwMode="auto">
          <a:xfrm>
            <a:off x="3838528" y="5162059"/>
            <a:ext cx="1882364" cy="31295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8000"/>
              </a:srgbClr>
            </a:outerShdw>
            <a:reflection blurRad="165100" endPos="0" dir="5400000" sy="-100000" algn="bl" rotWithShape="0"/>
          </a:effectLst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0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Energy Management</a:t>
            </a:r>
          </a:p>
        </p:txBody>
      </p:sp>
      <p:cxnSp>
        <p:nvCxnSpPr>
          <p:cNvPr id="59" name="Connector: Elbow 58">
            <a:extLst>
              <a:ext uri="{FF2B5EF4-FFF2-40B4-BE49-F238E27FC236}">
                <a16:creationId xmlns:a16="http://schemas.microsoft.com/office/drawing/2014/main" id="{B7867A7C-4F42-4434-B769-716B3E96494E}"/>
              </a:ext>
            </a:extLst>
          </p:cNvPr>
          <p:cNvCxnSpPr>
            <a:cxnSpLocks/>
            <a:stCxn id="46" idx="3"/>
            <a:endCxn id="35" idx="2"/>
          </p:cNvCxnSpPr>
          <p:nvPr/>
        </p:nvCxnSpPr>
        <p:spPr bwMode="auto">
          <a:xfrm flipV="1">
            <a:off x="5720893" y="2257405"/>
            <a:ext cx="299096" cy="1276218"/>
          </a:xfrm>
          <a:prstGeom prst="bentConnector2">
            <a:avLst/>
          </a:prstGeom>
          <a:ln>
            <a:headEnd type="none" w="sm" len="sm"/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62" name="Connector: Elbow 61">
            <a:extLst>
              <a:ext uri="{FF2B5EF4-FFF2-40B4-BE49-F238E27FC236}">
                <a16:creationId xmlns:a16="http://schemas.microsoft.com/office/drawing/2014/main" id="{76D4371B-99B4-4106-9686-A962C6606A88}"/>
              </a:ext>
            </a:extLst>
          </p:cNvPr>
          <p:cNvCxnSpPr>
            <a:cxnSpLocks/>
            <a:stCxn id="47" idx="1"/>
            <a:endCxn id="35" idx="2"/>
          </p:cNvCxnSpPr>
          <p:nvPr/>
        </p:nvCxnSpPr>
        <p:spPr bwMode="auto">
          <a:xfrm rot="10800000">
            <a:off x="6019989" y="2257406"/>
            <a:ext cx="333374" cy="1722499"/>
          </a:xfrm>
          <a:prstGeom prst="bentConnector2">
            <a:avLst/>
          </a:prstGeom>
          <a:ln>
            <a:headEnd type="none" w="sm" len="sm"/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65" name="Connector: Elbow 64">
            <a:extLst>
              <a:ext uri="{FF2B5EF4-FFF2-40B4-BE49-F238E27FC236}">
                <a16:creationId xmlns:a16="http://schemas.microsoft.com/office/drawing/2014/main" id="{1E8E678C-5AC0-4E01-9A32-0D969DDE6799}"/>
              </a:ext>
            </a:extLst>
          </p:cNvPr>
          <p:cNvCxnSpPr>
            <a:cxnSpLocks/>
            <a:stCxn id="48" idx="3"/>
            <a:endCxn id="35" idx="2"/>
          </p:cNvCxnSpPr>
          <p:nvPr/>
        </p:nvCxnSpPr>
        <p:spPr bwMode="auto">
          <a:xfrm flipV="1">
            <a:off x="5720893" y="2257405"/>
            <a:ext cx="299096" cy="1722152"/>
          </a:xfrm>
          <a:prstGeom prst="bentConnector2">
            <a:avLst/>
          </a:prstGeom>
          <a:ln>
            <a:headEnd type="none" w="sm" len="sm"/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68" name="Connector: Elbow 67">
            <a:extLst>
              <a:ext uri="{FF2B5EF4-FFF2-40B4-BE49-F238E27FC236}">
                <a16:creationId xmlns:a16="http://schemas.microsoft.com/office/drawing/2014/main" id="{C8AFCED0-7214-4A28-AC00-9108BA21DA1D}"/>
              </a:ext>
            </a:extLst>
          </p:cNvPr>
          <p:cNvCxnSpPr>
            <a:cxnSpLocks/>
            <a:stCxn id="49" idx="1"/>
            <a:endCxn id="35" idx="2"/>
          </p:cNvCxnSpPr>
          <p:nvPr/>
        </p:nvCxnSpPr>
        <p:spPr bwMode="auto">
          <a:xfrm rot="10800000">
            <a:off x="6019989" y="2257405"/>
            <a:ext cx="333374" cy="2166978"/>
          </a:xfrm>
          <a:prstGeom prst="bentConnector2">
            <a:avLst/>
          </a:prstGeom>
          <a:ln>
            <a:headEnd type="none" w="sm" len="sm"/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71" name="Connector: Elbow 70">
            <a:extLst>
              <a:ext uri="{FF2B5EF4-FFF2-40B4-BE49-F238E27FC236}">
                <a16:creationId xmlns:a16="http://schemas.microsoft.com/office/drawing/2014/main" id="{DCD28463-8125-4623-ACEB-523161CE7ECA}"/>
              </a:ext>
            </a:extLst>
          </p:cNvPr>
          <p:cNvCxnSpPr>
            <a:cxnSpLocks/>
            <a:stCxn id="50" idx="3"/>
            <a:endCxn id="35" idx="2"/>
          </p:cNvCxnSpPr>
          <p:nvPr/>
        </p:nvCxnSpPr>
        <p:spPr bwMode="auto">
          <a:xfrm flipV="1">
            <a:off x="5720892" y="2257405"/>
            <a:ext cx="299097" cy="2168086"/>
          </a:xfrm>
          <a:prstGeom prst="bentConnector2">
            <a:avLst/>
          </a:prstGeom>
          <a:ln>
            <a:headEnd type="none" w="sm" len="sm"/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74" name="Connector: Elbow 73">
            <a:extLst>
              <a:ext uri="{FF2B5EF4-FFF2-40B4-BE49-F238E27FC236}">
                <a16:creationId xmlns:a16="http://schemas.microsoft.com/office/drawing/2014/main" id="{A65EB42B-B91E-4753-AB62-83E77273A506}"/>
              </a:ext>
            </a:extLst>
          </p:cNvPr>
          <p:cNvCxnSpPr>
            <a:cxnSpLocks/>
            <a:stCxn id="51" idx="1"/>
            <a:endCxn id="35" idx="2"/>
          </p:cNvCxnSpPr>
          <p:nvPr/>
        </p:nvCxnSpPr>
        <p:spPr bwMode="auto">
          <a:xfrm rot="10800000">
            <a:off x="6019989" y="2257406"/>
            <a:ext cx="333374" cy="2618289"/>
          </a:xfrm>
          <a:prstGeom prst="bentConnector2">
            <a:avLst/>
          </a:prstGeom>
          <a:ln>
            <a:headEnd type="none" w="sm" len="sm"/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77" name="Connector: Elbow 76">
            <a:extLst>
              <a:ext uri="{FF2B5EF4-FFF2-40B4-BE49-F238E27FC236}">
                <a16:creationId xmlns:a16="http://schemas.microsoft.com/office/drawing/2014/main" id="{CDEB1BF1-3D01-4FDE-BFD9-B17D7FD604DC}"/>
              </a:ext>
            </a:extLst>
          </p:cNvPr>
          <p:cNvCxnSpPr>
            <a:cxnSpLocks/>
            <a:stCxn id="52" idx="3"/>
            <a:endCxn id="35" idx="2"/>
          </p:cNvCxnSpPr>
          <p:nvPr/>
        </p:nvCxnSpPr>
        <p:spPr bwMode="auto">
          <a:xfrm flipV="1">
            <a:off x="5720892" y="2257405"/>
            <a:ext cx="299097" cy="2610928"/>
          </a:xfrm>
          <a:prstGeom prst="bentConnector2">
            <a:avLst/>
          </a:prstGeom>
          <a:ln>
            <a:headEnd type="none" w="sm" len="sm"/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80" name="Connector: Elbow 79">
            <a:extLst>
              <a:ext uri="{FF2B5EF4-FFF2-40B4-BE49-F238E27FC236}">
                <a16:creationId xmlns:a16="http://schemas.microsoft.com/office/drawing/2014/main" id="{5DA50C8E-1CC0-4EF5-870B-A1A6BE547D1B}"/>
              </a:ext>
            </a:extLst>
          </p:cNvPr>
          <p:cNvCxnSpPr>
            <a:cxnSpLocks/>
            <a:stCxn id="53" idx="1"/>
            <a:endCxn id="35" idx="2"/>
          </p:cNvCxnSpPr>
          <p:nvPr/>
        </p:nvCxnSpPr>
        <p:spPr bwMode="auto">
          <a:xfrm rot="10800000">
            <a:off x="6019990" y="2257406"/>
            <a:ext cx="333373" cy="3061131"/>
          </a:xfrm>
          <a:prstGeom prst="bentConnector2">
            <a:avLst/>
          </a:prstGeom>
          <a:ln>
            <a:headEnd type="none" w="sm" len="sm"/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83" name="Connector: Elbow 82">
            <a:extLst>
              <a:ext uri="{FF2B5EF4-FFF2-40B4-BE49-F238E27FC236}">
                <a16:creationId xmlns:a16="http://schemas.microsoft.com/office/drawing/2014/main" id="{F19D0EFB-73BB-4E61-9320-F7817CE2DFF7}"/>
              </a:ext>
            </a:extLst>
          </p:cNvPr>
          <p:cNvCxnSpPr>
            <a:cxnSpLocks/>
            <a:stCxn id="54" idx="3"/>
            <a:endCxn id="35" idx="2"/>
          </p:cNvCxnSpPr>
          <p:nvPr/>
        </p:nvCxnSpPr>
        <p:spPr bwMode="auto">
          <a:xfrm flipV="1">
            <a:off x="5720892" y="2257405"/>
            <a:ext cx="299097" cy="3061131"/>
          </a:xfrm>
          <a:prstGeom prst="bentConnector2">
            <a:avLst/>
          </a:prstGeom>
          <a:ln>
            <a:headEnd type="none" w="sm" len="sm"/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sp>
        <p:nvSpPr>
          <p:cNvPr id="96" name="Rectangle 95">
            <a:extLst>
              <a:ext uri="{FF2B5EF4-FFF2-40B4-BE49-F238E27FC236}">
                <a16:creationId xmlns:a16="http://schemas.microsoft.com/office/drawing/2014/main" id="{05252D39-DEB7-4131-91F2-86C76C1D5242}"/>
              </a:ext>
            </a:extLst>
          </p:cNvPr>
          <p:cNvSpPr/>
          <p:nvPr/>
        </p:nvSpPr>
        <p:spPr bwMode="auto">
          <a:xfrm>
            <a:off x="8937748" y="2339401"/>
            <a:ext cx="1171812" cy="31295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8000"/>
              </a:srgbClr>
            </a:outerShdw>
            <a:reflection blurRad="165100" endPos="0" dir="5400000" sy="-100000" algn="bl" rotWithShape="0"/>
          </a:effectLst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050" dirty="0" smtClean="0">
                <a:solidFill>
                  <a:schemeClr val="tx1"/>
                </a:solidFill>
                <a:latin typeface="Arial" charset="0"/>
              </a:rPr>
              <a:t>Collaborative </a:t>
            </a:r>
            <a:r>
              <a:rPr lang="en-US" sz="1050" dirty="0">
                <a:solidFill>
                  <a:schemeClr val="tx1"/>
                </a:solidFill>
                <a:latin typeface="Arial" charset="0"/>
              </a:rPr>
              <a:t>Integration</a:t>
            </a:r>
            <a:endParaRPr kumimoji="0" lang="en-US" sz="105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3E49CCF0-6E8B-430C-BEA6-DB4DF63642A6}"/>
              </a:ext>
            </a:extLst>
          </p:cNvPr>
          <p:cNvSpPr/>
          <p:nvPr/>
        </p:nvSpPr>
        <p:spPr bwMode="auto">
          <a:xfrm>
            <a:off x="9814669" y="3087689"/>
            <a:ext cx="1882364" cy="31295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8000"/>
              </a:srgbClr>
            </a:outerShdw>
            <a:reflection blurRad="165100" endPos="0" dir="5400000" sy="-100000" algn="bl" rotWithShape="0"/>
          </a:effectLst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050" dirty="0">
                <a:solidFill>
                  <a:schemeClr val="tx1"/>
                </a:solidFill>
                <a:latin typeface="Arial" charset="0"/>
              </a:rPr>
              <a:t>Product Design &amp; Manufacturing Integration</a:t>
            </a:r>
            <a:endParaRPr kumimoji="0" lang="en-US" sz="105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D0FD8A57-70F6-4CE4-9EF7-B9BF0E0E001C}"/>
              </a:ext>
            </a:extLst>
          </p:cNvPr>
          <p:cNvSpPr/>
          <p:nvPr/>
        </p:nvSpPr>
        <p:spPr bwMode="auto">
          <a:xfrm>
            <a:off x="9814669" y="3461745"/>
            <a:ext cx="1882364" cy="31295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8000"/>
              </a:srgbClr>
            </a:outerShdw>
            <a:reflection blurRad="165100" endPos="0" dir="5400000" sy="-100000" algn="bl" rotWithShape="0"/>
          </a:effectLst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0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Production Management &amp; Control Integration</a:t>
            </a:r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13FD7866-46E6-4397-A12A-B52199703068}"/>
              </a:ext>
            </a:extLst>
          </p:cNvPr>
          <p:cNvSpPr/>
          <p:nvPr/>
        </p:nvSpPr>
        <p:spPr bwMode="auto">
          <a:xfrm>
            <a:off x="9814669" y="3835801"/>
            <a:ext cx="1882364" cy="31295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8000"/>
              </a:srgbClr>
            </a:outerShdw>
            <a:reflection blurRad="165100" endPos="0" dir="5400000" sy="-100000" algn="bl" rotWithShape="0"/>
          </a:effectLst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050" dirty="0">
                <a:solidFill>
                  <a:schemeClr val="tx1"/>
                </a:solidFill>
                <a:latin typeface="Arial" charset="0"/>
              </a:rPr>
              <a:t>Production, Supply &amp; Marketing Integration</a:t>
            </a:r>
            <a:endParaRPr kumimoji="0" lang="en-US" sz="105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CDA92939-9306-43D1-B9DC-C99ECDACE287}"/>
              </a:ext>
            </a:extLst>
          </p:cNvPr>
          <p:cNvSpPr/>
          <p:nvPr/>
        </p:nvSpPr>
        <p:spPr bwMode="auto">
          <a:xfrm>
            <a:off x="9814669" y="4209857"/>
            <a:ext cx="1882365" cy="31295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8000"/>
              </a:srgbClr>
            </a:outerShdw>
            <a:reflection blurRad="165100" endPos="0" dir="5400000" sy="-100000" algn="bl" rotWithShape="0"/>
          </a:effectLst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050" dirty="0">
                <a:solidFill>
                  <a:schemeClr val="tx1"/>
                </a:solidFill>
                <a:latin typeface="Arial" charset="0"/>
              </a:rPr>
              <a:t>Operation Decision Support</a:t>
            </a:r>
            <a:endParaRPr kumimoji="0" lang="en-US" sz="105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101" name="Connector: Elbow 100">
            <a:extLst>
              <a:ext uri="{FF2B5EF4-FFF2-40B4-BE49-F238E27FC236}">
                <a16:creationId xmlns:a16="http://schemas.microsoft.com/office/drawing/2014/main" id="{1F2F514E-1FE5-4576-8616-AEE905175141}"/>
              </a:ext>
            </a:extLst>
          </p:cNvPr>
          <p:cNvCxnSpPr>
            <a:cxnSpLocks/>
            <a:stCxn id="100" idx="1"/>
          </p:cNvCxnSpPr>
          <p:nvPr/>
        </p:nvCxnSpPr>
        <p:spPr bwMode="auto">
          <a:xfrm rot="10800000">
            <a:off x="9481295" y="2841924"/>
            <a:ext cx="333374" cy="1524410"/>
          </a:xfrm>
          <a:prstGeom prst="bentConnector2">
            <a:avLst/>
          </a:prstGeom>
          <a:ln>
            <a:headEnd type="none" w="sm" len="sm"/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102" name="Connector: Elbow 101">
            <a:extLst>
              <a:ext uri="{FF2B5EF4-FFF2-40B4-BE49-F238E27FC236}">
                <a16:creationId xmlns:a16="http://schemas.microsoft.com/office/drawing/2014/main" id="{4302EAC8-B0BA-4736-9FB1-8E4F5FE60BA2}"/>
              </a:ext>
            </a:extLst>
          </p:cNvPr>
          <p:cNvCxnSpPr>
            <a:cxnSpLocks/>
            <a:stCxn id="99" idx="1"/>
          </p:cNvCxnSpPr>
          <p:nvPr/>
        </p:nvCxnSpPr>
        <p:spPr bwMode="auto">
          <a:xfrm rot="10800000">
            <a:off x="9481295" y="2841924"/>
            <a:ext cx="333374" cy="1150354"/>
          </a:xfrm>
          <a:prstGeom prst="bentConnector2">
            <a:avLst/>
          </a:prstGeom>
          <a:ln>
            <a:headEnd type="none" w="sm" len="sm"/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103" name="Connector: Elbow 102">
            <a:extLst>
              <a:ext uri="{FF2B5EF4-FFF2-40B4-BE49-F238E27FC236}">
                <a16:creationId xmlns:a16="http://schemas.microsoft.com/office/drawing/2014/main" id="{B586ABDB-3DFB-4F0C-BDF9-094B4FD43698}"/>
              </a:ext>
            </a:extLst>
          </p:cNvPr>
          <p:cNvCxnSpPr>
            <a:cxnSpLocks/>
            <a:stCxn id="98" idx="1"/>
          </p:cNvCxnSpPr>
          <p:nvPr/>
        </p:nvCxnSpPr>
        <p:spPr bwMode="auto">
          <a:xfrm rot="10800000">
            <a:off x="9481295" y="2841924"/>
            <a:ext cx="333374" cy="776298"/>
          </a:xfrm>
          <a:prstGeom prst="bentConnector2">
            <a:avLst/>
          </a:prstGeom>
          <a:ln>
            <a:headEnd type="none" w="sm" len="sm"/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104" name="Connector: Elbow 103">
            <a:extLst>
              <a:ext uri="{FF2B5EF4-FFF2-40B4-BE49-F238E27FC236}">
                <a16:creationId xmlns:a16="http://schemas.microsoft.com/office/drawing/2014/main" id="{AE3C759F-5F23-4176-BE33-07DB9607EDD1}"/>
              </a:ext>
            </a:extLst>
          </p:cNvPr>
          <p:cNvCxnSpPr>
            <a:cxnSpLocks/>
            <a:stCxn id="97" idx="1"/>
          </p:cNvCxnSpPr>
          <p:nvPr/>
        </p:nvCxnSpPr>
        <p:spPr bwMode="auto">
          <a:xfrm rot="10800000">
            <a:off x="9481295" y="2841924"/>
            <a:ext cx="333374" cy="402242"/>
          </a:xfrm>
          <a:prstGeom prst="bentConnector2">
            <a:avLst/>
          </a:prstGeom>
          <a:ln>
            <a:headEnd type="none" w="sm" len="sm"/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sp>
        <p:nvSpPr>
          <p:cNvPr id="55" name="Rectangle 54">
            <a:extLst>
              <a:ext uri="{FF2B5EF4-FFF2-40B4-BE49-F238E27FC236}">
                <a16:creationId xmlns:a16="http://schemas.microsoft.com/office/drawing/2014/main" id="{05252D39-DEB7-4131-91F2-86C76C1D5242}"/>
              </a:ext>
            </a:extLst>
          </p:cNvPr>
          <p:cNvSpPr/>
          <p:nvPr/>
        </p:nvSpPr>
        <p:spPr bwMode="auto">
          <a:xfrm>
            <a:off x="8937748" y="1944451"/>
            <a:ext cx="1171812" cy="31295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8000"/>
              </a:srgbClr>
            </a:outerShdw>
            <a:reflection blurRad="165100" endPos="0" dir="5400000" sy="-100000" algn="bl" rotWithShape="0"/>
          </a:effectLst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050" dirty="0">
                <a:solidFill>
                  <a:schemeClr val="tx1"/>
                </a:solidFill>
                <a:latin typeface="Arial" charset="0"/>
              </a:rPr>
              <a:t>Comprehensive Integration</a:t>
            </a:r>
            <a:endParaRPr kumimoji="0" lang="en-US" sz="105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" name="Rectangle 1"/>
          <p:cNvSpPr/>
          <p:nvPr/>
        </p:nvSpPr>
        <p:spPr bwMode="auto">
          <a:xfrm>
            <a:off x="8779959" y="1813286"/>
            <a:ext cx="1460500" cy="1034777"/>
          </a:xfrm>
          <a:prstGeom prst="rect">
            <a:avLst/>
          </a:prstGeom>
          <a:noFill/>
          <a:ln w="9525" cap="flat" cmpd="sng" algn="ctr">
            <a:solidFill>
              <a:schemeClr val="bg1"/>
            </a:solidFill>
            <a:prstDash val="dash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9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59585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279A1B2-9A58-4E86-8C5D-3D95A5A2C5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Maturity Model Definitions</a:t>
            </a:r>
          </a:p>
        </p:txBody>
      </p:sp>
      <p:graphicFrame>
        <p:nvGraphicFramePr>
          <p:cNvPr id="8" name="Table 8">
            <a:extLst>
              <a:ext uri="{FF2B5EF4-FFF2-40B4-BE49-F238E27FC236}">
                <a16:creationId xmlns:a16="http://schemas.microsoft.com/office/drawing/2014/main" id="{BE5F6DDF-50CB-4AB2-8457-948871B68674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333478717"/>
              </p:ext>
            </p:extLst>
          </p:nvPr>
        </p:nvGraphicFramePr>
        <p:xfrm>
          <a:off x="334432" y="1104900"/>
          <a:ext cx="11523135" cy="4648200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2510367">
                  <a:extLst>
                    <a:ext uri="{9D8B030D-6E8A-4147-A177-3AD203B41FA5}">
                      <a16:colId xmlns:a16="http://schemas.microsoft.com/office/drawing/2014/main" val="1775843032"/>
                    </a:ext>
                  </a:extLst>
                </a:gridCol>
                <a:gridCol w="1917700">
                  <a:extLst>
                    <a:ext uri="{9D8B030D-6E8A-4147-A177-3AD203B41FA5}">
                      <a16:colId xmlns:a16="http://schemas.microsoft.com/office/drawing/2014/main" val="348442702"/>
                    </a:ext>
                  </a:extLst>
                </a:gridCol>
                <a:gridCol w="7095068">
                  <a:extLst>
                    <a:ext uri="{9D8B030D-6E8A-4147-A177-3AD203B41FA5}">
                      <a16:colId xmlns:a16="http://schemas.microsoft.com/office/drawing/2014/main" val="4011049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Maturity Level Indicator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Descriptive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Characteristics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78418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bg1"/>
                          </a:solidFill>
                        </a:rPr>
                        <a:t>Level 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bg1"/>
                          </a:solidFill>
                        </a:rPr>
                        <a:t>Unidentified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bg1"/>
                          </a:solidFill>
                        </a:rPr>
                        <a:t>Little or no systematic documentation available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5773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bg1"/>
                          </a:solidFill>
                        </a:rPr>
                        <a:t>Level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bg1"/>
                          </a:solidFill>
                        </a:rPr>
                        <a:t>Identified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bg1"/>
                          </a:solidFill>
                        </a:rPr>
                        <a:t>Tracking and traceability of materials, data and etc.</a:t>
                      </a:r>
                    </a:p>
                    <a:p>
                      <a:r>
                        <a:rPr lang="en-US" sz="1600" dirty="0">
                          <a:solidFill>
                            <a:schemeClr val="bg1"/>
                          </a:solidFill>
                        </a:rPr>
                        <a:t>Registration and management of data using information collection devices and systems.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286541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bg1"/>
                          </a:solidFill>
                        </a:rPr>
                        <a:t>Level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bg1"/>
                          </a:solidFill>
                        </a:rPr>
                        <a:t>Measured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bg1"/>
                          </a:solidFill>
                        </a:rPr>
                        <a:t>Real time data acquisition of materials, machinery, process and human roles, and data integration.</a:t>
                      </a:r>
                    </a:p>
                    <a:p>
                      <a:r>
                        <a:rPr lang="en-US" sz="1600" dirty="0">
                          <a:solidFill>
                            <a:schemeClr val="bg1"/>
                          </a:solidFill>
                        </a:rPr>
                        <a:t>Measurement, aggregation, classification and management of data using information collection devices and systems.</a:t>
                      </a:r>
                    </a:p>
                    <a:p>
                      <a:r>
                        <a:rPr lang="en-US" sz="1600" dirty="0">
                          <a:solidFill>
                            <a:schemeClr val="bg1"/>
                          </a:solidFill>
                        </a:rPr>
                        <a:t>Synchronous history of data for the same time, same lot and same product.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779207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bg1"/>
                          </a:solidFill>
                        </a:rPr>
                        <a:t>Level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bg1"/>
                          </a:solidFill>
                        </a:rPr>
                        <a:t>Analyzed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bg1"/>
                          </a:solidFill>
                        </a:rPr>
                        <a:t>Data analysis and optimized decision making using aggregated data.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257441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bg1"/>
                          </a:solidFill>
                        </a:rPr>
                        <a:t>Level 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bg1"/>
                          </a:solidFill>
                        </a:rPr>
                        <a:t>Optimized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bg1"/>
                          </a:solidFill>
                        </a:rPr>
                        <a:t>Automation of processes according to optimized decision making throughout the intra-enterprise and/or the inter-enterprises.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41811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bg1"/>
                          </a:solidFill>
                        </a:rPr>
                        <a:t>Level 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bg1"/>
                          </a:solidFill>
                        </a:rPr>
                        <a:t>Customized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bg1"/>
                          </a:solidFill>
                        </a:rPr>
                        <a:t>Self-diagnosis and self-healing through cyber-physical system [CPS], Internet of Things [IoT], artificial intelligence [AI], etc.</a:t>
                      </a:r>
                    </a:p>
                    <a:p>
                      <a:r>
                        <a:rPr lang="en-US" sz="1600" dirty="0">
                          <a:solidFill>
                            <a:schemeClr val="bg1"/>
                          </a:solidFill>
                        </a:rPr>
                        <a:t>Flexible production of customized products through autonomous control.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17536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008392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316E12E7-B44B-4466-B6D8-34BFFE7434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Assessment Method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14187C9-936F-4724-9AD6-3ABEFD5A6DC6}"/>
              </a:ext>
            </a:extLst>
          </p:cNvPr>
          <p:cNvSpPr/>
          <p:nvPr/>
        </p:nvSpPr>
        <p:spPr bwMode="auto">
          <a:xfrm>
            <a:off x="411623" y="1876970"/>
            <a:ext cx="1262170" cy="437151"/>
          </a:xfrm>
          <a:prstGeom prst="rect">
            <a:avLst/>
          </a:prstGeom>
          <a:ln>
            <a:solidFill>
              <a:schemeClr val="bg1"/>
            </a:solidFill>
            <a:headEnd type="none" w="sm" len="sm"/>
            <a:tailEnd type="none" w="sm" len="sm"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050" dirty="0">
                <a:solidFill>
                  <a:schemeClr val="tx1"/>
                </a:solidFill>
                <a:latin typeface="Arial" charset="0"/>
              </a:rPr>
              <a:t>Evaluate Level 1 Questions</a:t>
            </a:r>
            <a:endParaRPr kumimoji="0" lang="en-US" sz="105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2F68958-9DE7-45E1-863E-98FF8143B791}"/>
              </a:ext>
            </a:extLst>
          </p:cNvPr>
          <p:cNvSpPr/>
          <p:nvPr/>
        </p:nvSpPr>
        <p:spPr bwMode="auto">
          <a:xfrm>
            <a:off x="2043711" y="2617009"/>
            <a:ext cx="1262170" cy="437151"/>
          </a:xfrm>
          <a:prstGeom prst="rect">
            <a:avLst/>
          </a:prstGeom>
          <a:ln>
            <a:solidFill>
              <a:schemeClr val="bg1"/>
            </a:solidFill>
            <a:headEnd type="none" w="sm" len="sm"/>
            <a:tailEnd type="none" w="sm" len="sm"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050" dirty="0">
                <a:solidFill>
                  <a:schemeClr val="tx1"/>
                </a:solidFill>
                <a:latin typeface="Arial" charset="0"/>
              </a:rPr>
              <a:t>Evaluate Level 2 Questions</a:t>
            </a:r>
            <a:endParaRPr kumimoji="0" lang="en-US" sz="105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982B3AB-52EA-40D5-A13E-F0CBC3C2BE2A}"/>
              </a:ext>
            </a:extLst>
          </p:cNvPr>
          <p:cNvSpPr/>
          <p:nvPr/>
        </p:nvSpPr>
        <p:spPr bwMode="auto">
          <a:xfrm>
            <a:off x="3676449" y="3325954"/>
            <a:ext cx="1262170" cy="437151"/>
          </a:xfrm>
          <a:prstGeom prst="rect">
            <a:avLst/>
          </a:prstGeom>
          <a:ln>
            <a:solidFill>
              <a:schemeClr val="bg1"/>
            </a:solidFill>
            <a:headEnd type="none" w="sm" len="sm"/>
            <a:tailEnd type="none" w="sm" len="sm"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050" dirty="0">
                <a:solidFill>
                  <a:schemeClr val="tx1"/>
                </a:solidFill>
                <a:latin typeface="Arial" charset="0"/>
              </a:rPr>
              <a:t>Evaluate Level 3 Questions</a:t>
            </a:r>
            <a:endParaRPr kumimoji="0" lang="en-US" sz="105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3DA4185-AECB-46DC-85C4-312CA19B8BE5}"/>
              </a:ext>
            </a:extLst>
          </p:cNvPr>
          <p:cNvSpPr/>
          <p:nvPr/>
        </p:nvSpPr>
        <p:spPr bwMode="auto">
          <a:xfrm>
            <a:off x="5364738" y="4052237"/>
            <a:ext cx="1262170" cy="437151"/>
          </a:xfrm>
          <a:prstGeom prst="rect">
            <a:avLst/>
          </a:prstGeom>
          <a:ln>
            <a:solidFill>
              <a:schemeClr val="bg1"/>
            </a:solidFill>
            <a:headEnd type="none" w="sm" len="sm"/>
            <a:tailEnd type="none" w="sm" len="sm"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050" dirty="0">
                <a:solidFill>
                  <a:schemeClr val="tx1"/>
                </a:solidFill>
                <a:latin typeface="Arial" charset="0"/>
              </a:rPr>
              <a:t>Evaluate Level 4 Questions</a:t>
            </a:r>
            <a:endParaRPr kumimoji="0" lang="en-US" sz="105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5A6B6D8E-1610-4FA6-862B-D26343A1A8A2}"/>
              </a:ext>
            </a:extLst>
          </p:cNvPr>
          <p:cNvSpPr/>
          <p:nvPr/>
        </p:nvSpPr>
        <p:spPr bwMode="auto">
          <a:xfrm>
            <a:off x="6952831" y="4787505"/>
            <a:ext cx="1262170" cy="437151"/>
          </a:xfrm>
          <a:prstGeom prst="rect">
            <a:avLst/>
          </a:prstGeom>
          <a:ln>
            <a:solidFill>
              <a:schemeClr val="bg1"/>
            </a:solidFill>
            <a:headEnd type="none" w="sm" len="sm"/>
            <a:tailEnd type="none" w="sm" len="sm"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050" dirty="0">
                <a:solidFill>
                  <a:schemeClr val="tx1"/>
                </a:solidFill>
                <a:latin typeface="Arial" charset="0"/>
              </a:rPr>
              <a:t>Evaluate Level 5 Questions</a:t>
            </a:r>
            <a:endParaRPr kumimoji="0" lang="en-US" sz="105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8" name="Flowchart: Decision 27">
            <a:extLst>
              <a:ext uri="{FF2B5EF4-FFF2-40B4-BE49-F238E27FC236}">
                <a16:creationId xmlns:a16="http://schemas.microsoft.com/office/drawing/2014/main" id="{19566EA7-8C29-4F2B-A82F-B2EC0FC3AE2B}"/>
              </a:ext>
            </a:extLst>
          </p:cNvPr>
          <p:cNvSpPr/>
          <p:nvPr/>
        </p:nvSpPr>
        <p:spPr bwMode="auto">
          <a:xfrm>
            <a:off x="461594" y="2617009"/>
            <a:ext cx="1162228" cy="437151"/>
          </a:xfrm>
          <a:prstGeom prst="flowChartDecision">
            <a:avLst/>
          </a:prstGeom>
          <a:ln>
            <a:solidFill>
              <a:schemeClr val="bg1"/>
            </a:solidFill>
            <a:headEnd type="none" w="sm" len="sm"/>
            <a:tailEnd type="none" w="sm" len="sm"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All YES</a:t>
            </a:r>
          </a:p>
        </p:txBody>
      </p:sp>
      <p:sp>
        <p:nvSpPr>
          <p:cNvPr id="29" name="Flowchart: Decision 28">
            <a:extLst>
              <a:ext uri="{FF2B5EF4-FFF2-40B4-BE49-F238E27FC236}">
                <a16:creationId xmlns:a16="http://schemas.microsoft.com/office/drawing/2014/main" id="{BD4ED6D0-93D6-419F-9F8D-D5463B85BFD1}"/>
              </a:ext>
            </a:extLst>
          </p:cNvPr>
          <p:cNvSpPr/>
          <p:nvPr/>
        </p:nvSpPr>
        <p:spPr bwMode="auto">
          <a:xfrm>
            <a:off x="2093682" y="3325954"/>
            <a:ext cx="1162228" cy="437151"/>
          </a:xfrm>
          <a:prstGeom prst="flowChartDecision">
            <a:avLst/>
          </a:prstGeom>
          <a:ln>
            <a:solidFill>
              <a:schemeClr val="bg1"/>
            </a:solidFill>
            <a:headEnd type="none" w="sm" len="sm"/>
            <a:tailEnd type="none" w="sm" len="sm"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All YES</a:t>
            </a:r>
          </a:p>
        </p:txBody>
      </p:sp>
      <p:sp>
        <p:nvSpPr>
          <p:cNvPr id="30" name="Flowchart: Decision 29">
            <a:extLst>
              <a:ext uri="{FF2B5EF4-FFF2-40B4-BE49-F238E27FC236}">
                <a16:creationId xmlns:a16="http://schemas.microsoft.com/office/drawing/2014/main" id="{40038E56-ACC4-4C12-87C0-77D1CA266011}"/>
              </a:ext>
            </a:extLst>
          </p:cNvPr>
          <p:cNvSpPr/>
          <p:nvPr/>
        </p:nvSpPr>
        <p:spPr bwMode="auto">
          <a:xfrm>
            <a:off x="3726420" y="4052237"/>
            <a:ext cx="1162228" cy="437151"/>
          </a:xfrm>
          <a:prstGeom prst="flowChartDecision">
            <a:avLst/>
          </a:prstGeom>
          <a:ln>
            <a:solidFill>
              <a:schemeClr val="bg1"/>
            </a:solidFill>
            <a:headEnd type="none" w="sm" len="sm"/>
            <a:tailEnd type="none" w="sm" len="sm"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All YES</a:t>
            </a:r>
          </a:p>
        </p:txBody>
      </p:sp>
      <p:sp>
        <p:nvSpPr>
          <p:cNvPr id="31" name="Flowchart: Decision 30">
            <a:extLst>
              <a:ext uri="{FF2B5EF4-FFF2-40B4-BE49-F238E27FC236}">
                <a16:creationId xmlns:a16="http://schemas.microsoft.com/office/drawing/2014/main" id="{22FDC482-3A9B-4B0F-8983-FFDCBC44140C}"/>
              </a:ext>
            </a:extLst>
          </p:cNvPr>
          <p:cNvSpPr/>
          <p:nvPr/>
        </p:nvSpPr>
        <p:spPr bwMode="auto">
          <a:xfrm>
            <a:off x="5414709" y="4787505"/>
            <a:ext cx="1162228" cy="437151"/>
          </a:xfrm>
          <a:prstGeom prst="flowChartDecision">
            <a:avLst/>
          </a:prstGeom>
          <a:ln>
            <a:solidFill>
              <a:schemeClr val="bg1"/>
            </a:solidFill>
            <a:headEnd type="none" w="sm" len="sm"/>
            <a:tailEnd type="none" w="sm" len="sm"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All YES</a:t>
            </a:r>
          </a:p>
        </p:txBody>
      </p:sp>
      <p:sp>
        <p:nvSpPr>
          <p:cNvPr id="32" name="Flowchart: Decision 31">
            <a:extLst>
              <a:ext uri="{FF2B5EF4-FFF2-40B4-BE49-F238E27FC236}">
                <a16:creationId xmlns:a16="http://schemas.microsoft.com/office/drawing/2014/main" id="{DD4ACBEE-4707-4DFE-8F9E-3A132A8B871C}"/>
              </a:ext>
            </a:extLst>
          </p:cNvPr>
          <p:cNvSpPr/>
          <p:nvPr/>
        </p:nvSpPr>
        <p:spPr bwMode="auto">
          <a:xfrm>
            <a:off x="7002802" y="5523635"/>
            <a:ext cx="1162228" cy="437151"/>
          </a:xfrm>
          <a:prstGeom prst="flowChartDecision">
            <a:avLst/>
          </a:prstGeom>
          <a:ln>
            <a:solidFill>
              <a:schemeClr val="bg1"/>
            </a:solidFill>
            <a:headEnd type="none" w="sm" len="sm"/>
            <a:tailEnd type="none" w="sm" len="sm"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All YES</a:t>
            </a: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75C94096-B1A1-4A6D-B74B-671FE02D1715}"/>
              </a:ext>
            </a:extLst>
          </p:cNvPr>
          <p:cNvSpPr/>
          <p:nvPr/>
        </p:nvSpPr>
        <p:spPr bwMode="auto">
          <a:xfrm>
            <a:off x="414412" y="3313812"/>
            <a:ext cx="1256592" cy="461434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400" dirty="0">
                <a:solidFill>
                  <a:schemeClr val="tx1"/>
                </a:solidFill>
                <a:latin typeface="Arial" charset="0"/>
              </a:rPr>
              <a:t>Maturity Level 0</a:t>
            </a:r>
            <a:endParaRPr kumimoji="0" 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72A8741D-2431-40C1-BE02-101035BB7D44}"/>
              </a:ext>
            </a:extLst>
          </p:cNvPr>
          <p:cNvSpPr/>
          <p:nvPr/>
        </p:nvSpPr>
        <p:spPr bwMode="auto">
          <a:xfrm>
            <a:off x="2046500" y="4040095"/>
            <a:ext cx="1256592" cy="461434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400" dirty="0">
                <a:solidFill>
                  <a:schemeClr val="tx1"/>
                </a:solidFill>
                <a:latin typeface="Arial" charset="0"/>
              </a:rPr>
              <a:t>Maturity Level 1</a:t>
            </a:r>
            <a:endParaRPr kumimoji="0" 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1DA37281-6158-4C91-BDCC-C0878112DCAA}"/>
              </a:ext>
            </a:extLst>
          </p:cNvPr>
          <p:cNvSpPr/>
          <p:nvPr/>
        </p:nvSpPr>
        <p:spPr bwMode="auto">
          <a:xfrm>
            <a:off x="3679238" y="4775363"/>
            <a:ext cx="1256592" cy="461434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400" dirty="0">
                <a:solidFill>
                  <a:schemeClr val="tx1"/>
                </a:solidFill>
                <a:latin typeface="Arial" charset="0"/>
              </a:rPr>
              <a:t>Maturity Level 2</a:t>
            </a:r>
            <a:endParaRPr kumimoji="0" 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1295CE9D-CCF7-419E-99E5-44655995E087}"/>
              </a:ext>
            </a:extLst>
          </p:cNvPr>
          <p:cNvSpPr/>
          <p:nvPr/>
        </p:nvSpPr>
        <p:spPr bwMode="auto">
          <a:xfrm>
            <a:off x="5367527" y="5511493"/>
            <a:ext cx="1256592" cy="461434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400" dirty="0">
                <a:solidFill>
                  <a:schemeClr val="tx1"/>
                </a:solidFill>
                <a:latin typeface="Arial" charset="0"/>
              </a:rPr>
              <a:t>Maturity Level 3</a:t>
            </a:r>
            <a:endParaRPr kumimoji="0" 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116AF774-AC3D-4FFF-8DB0-B0A84D74C25A}"/>
              </a:ext>
            </a:extLst>
          </p:cNvPr>
          <p:cNvSpPr/>
          <p:nvPr/>
        </p:nvSpPr>
        <p:spPr bwMode="auto">
          <a:xfrm>
            <a:off x="6955620" y="6213693"/>
            <a:ext cx="1256592" cy="461434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400" dirty="0">
                <a:solidFill>
                  <a:schemeClr val="tx1"/>
                </a:solidFill>
                <a:latin typeface="Arial" charset="0"/>
              </a:rPr>
              <a:t>Maturity Level 4</a:t>
            </a:r>
            <a:endParaRPr kumimoji="0" 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80" name="Straight Arrow Connector 79">
            <a:extLst>
              <a:ext uri="{FF2B5EF4-FFF2-40B4-BE49-F238E27FC236}">
                <a16:creationId xmlns:a16="http://schemas.microsoft.com/office/drawing/2014/main" id="{B60F2F8B-FC99-4D53-8AEA-E56DF19EC1F7}"/>
              </a:ext>
            </a:extLst>
          </p:cNvPr>
          <p:cNvCxnSpPr>
            <a:cxnSpLocks/>
            <a:stCxn id="13" idx="2"/>
            <a:endCxn id="28" idx="0"/>
          </p:cNvCxnSpPr>
          <p:nvPr/>
        </p:nvCxnSpPr>
        <p:spPr bwMode="auto">
          <a:xfrm>
            <a:off x="1042708" y="2314121"/>
            <a:ext cx="0" cy="302888"/>
          </a:xfrm>
          <a:prstGeom prst="straightConnector1">
            <a:avLst/>
          </a:prstGeom>
          <a:ln>
            <a:headEnd type="none" w="sm" len="sm"/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759A7669-4798-44FB-95CB-E2C3D14966BE}"/>
              </a:ext>
            </a:extLst>
          </p:cNvPr>
          <p:cNvCxnSpPr>
            <a:cxnSpLocks/>
            <a:stCxn id="28" idx="2"/>
            <a:endCxn id="33" idx="0"/>
          </p:cNvCxnSpPr>
          <p:nvPr/>
        </p:nvCxnSpPr>
        <p:spPr bwMode="auto">
          <a:xfrm>
            <a:off x="1042708" y="3054160"/>
            <a:ext cx="0" cy="259652"/>
          </a:xfrm>
          <a:prstGeom prst="straightConnector1">
            <a:avLst/>
          </a:prstGeom>
          <a:ln>
            <a:headEnd type="none" w="sm" len="sm"/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0F2E8AB8-8C25-4435-85E5-48A870D282A2}"/>
              </a:ext>
            </a:extLst>
          </p:cNvPr>
          <p:cNvCxnSpPr>
            <a:cxnSpLocks/>
            <a:stCxn id="32" idx="2"/>
            <a:endCxn id="37" idx="0"/>
          </p:cNvCxnSpPr>
          <p:nvPr/>
        </p:nvCxnSpPr>
        <p:spPr bwMode="auto">
          <a:xfrm>
            <a:off x="7583916" y="5960786"/>
            <a:ext cx="0" cy="252907"/>
          </a:xfrm>
          <a:prstGeom prst="straightConnector1">
            <a:avLst/>
          </a:prstGeom>
          <a:ln>
            <a:headEnd type="none" w="sm" len="sm"/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89" name="Straight Arrow Connector 88">
            <a:extLst>
              <a:ext uri="{FF2B5EF4-FFF2-40B4-BE49-F238E27FC236}">
                <a16:creationId xmlns:a16="http://schemas.microsoft.com/office/drawing/2014/main" id="{B919AC31-3DCD-481A-A81A-63A72A5F168A}"/>
              </a:ext>
            </a:extLst>
          </p:cNvPr>
          <p:cNvCxnSpPr>
            <a:cxnSpLocks/>
            <a:stCxn id="27" idx="2"/>
            <a:endCxn id="32" idx="0"/>
          </p:cNvCxnSpPr>
          <p:nvPr/>
        </p:nvCxnSpPr>
        <p:spPr bwMode="auto">
          <a:xfrm>
            <a:off x="7583916" y="5224656"/>
            <a:ext cx="0" cy="298979"/>
          </a:xfrm>
          <a:prstGeom prst="straightConnector1">
            <a:avLst/>
          </a:prstGeom>
          <a:ln>
            <a:headEnd type="none" w="sm" len="sm"/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92" name="Straight Arrow Connector 91">
            <a:extLst>
              <a:ext uri="{FF2B5EF4-FFF2-40B4-BE49-F238E27FC236}">
                <a16:creationId xmlns:a16="http://schemas.microsoft.com/office/drawing/2014/main" id="{20093DE1-369D-4570-B285-C22D957BD140}"/>
              </a:ext>
            </a:extLst>
          </p:cNvPr>
          <p:cNvCxnSpPr>
            <a:cxnSpLocks/>
            <a:stCxn id="26" idx="2"/>
            <a:endCxn id="31" idx="0"/>
          </p:cNvCxnSpPr>
          <p:nvPr/>
        </p:nvCxnSpPr>
        <p:spPr bwMode="auto">
          <a:xfrm>
            <a:off x="5995823" y="4489388"/>
            <a:ext cx="0" cy="298117"/>
          </a:xfrm>
          <a:prstGeom prst="straightConnector1">
            <a:avLst/>
          </a:prstGeom>
          <a:ln>
            <a:headEnd type="none" w="sm" len="sm"/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95" name="Straight Arrow Connector 94">
            <a:extLst>
              <a:ext uri="{FF2B5EF4-FFF2-40B4-BE49-F238E27FC236}">
                <a16:creationId xmlns:a16="http://schemas.microsoft.com/office/drawing/2014/main" id="{36E34CE9-8146-4353-8719-2082E25045E4}"/>
              </a:ext>
            </a:extLst>
          </p:cNvPr>
          <p:cNvCxnSpPr>
            <a:cxnSpLocks/>
            <a:stCxn id="31" idx="2"/>
            <a:endCxn id="36" idx="0"/>
          </p:cNvCxnSpPr>
          <p:nvPr/>
        </p:nvCxnSpPr>
        <p:spPr bwMode="auto">
          <a:xfrm>
            <a:off x="5995823" y="5224656"/>
            <a:ext cx="0" cy="286837"/>
          </a:xfrm>
          <a:prstGeom prst="straightConnector1">
            <a:avLst/>
          </a:prstGeom>
          <a:ln>
            <a:headEnd type="none" w="sm" len="sm"/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99" name="Straight Arrow Connector 98">
            <a:extLst>
              <a:ext uri="{FF2B5EF4-FFF2-40B4-BE49-F238E27FC236}">
                <a16:creationId xmlns:a16="http://schemas.microsoft.com/office/drawing/2014/main" id="{B1C0995A-43D5-40DA-91C1-636592D3426C}"/>
              </a:ext>
            </a:extLst>
          </p:cNvPr>
          <p:cNvCxnSpPr>
            <a:cxnSpLocks/>
            <a:stCxn id="25" idx="2"/>
            <a:endCxn id="30" idx="0"/>
          </p:cNvCxnSpPr>
          <p:nvPr/>
        </p:nvCxnSpPr>
        <p:spPr bwMode="auto">
          <a:xfrm>
            <a:off x="4307534" y="3763105"/>
            <a:ext cx="0" cy="289132"/>
          </a:xfrm>
          <a:prstGeom prst="straightConnector1">
            <a:avLst/>
          </a:prstGeom>
          <a:ln>
            <a:headEnd type="none" w="sm" len="sm"/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102" name="Straight Arrow Connector 101">
            <a:extLst>
              <a:ext uri="{FF2B5EF4-FFF2-40B4-BE49-F238E27FC236}">
                <a16:creationId xmlns:a16="http://schemas.microsoft.com/office/drawing/2014/main" id="{F6197BBE-DF75-48CD-AB5E-B5A55FC00319}"/>
              </a:ext>
            </a:extLst>
          </p:cNvPr>
          <p:cNvCxnSpPr>
            <a:cxnSpLocks/>
            <a:stCxn id="30" idx="2"/>
            <a:endCxn id="35" idx="0"/>
          </p:cNvCxnSpPr>
          <p:nvPr/>
        </p:nvCxnSpPr>
        <p:spPr bwMode="auto">
          <a:xfrm>
            <a:off x="4307534" y="4489388"/>
            <a:ext cx="0" cy="285975"/>
          </a:xfrm>
          <a:prstGeom prst="straightConnector1">
            <a:avLst/>
          </a:prstGeom>
          <a:ln>
            <a:headEnd type="none" w="sm" len="sm"/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105" name="Straight Arrow Connector 104">
            <a:extLst>
              <a:ext uri="{FF2B5EF4-FFF2-40B4-BE49-F238E27FC236}">
                <a16:creationId xmlns:a16="http://schemas.microsoft.com/office/drawing/2014/main" id="{E1889E20-453D-4670-A136-795C7232D8FB}"/>
              </a:ext>
            </a:extLst>
          </p:cNvPr>
          <p:cNvCxnSpPr>
            <a:cxnSpLocks/>
            <a:stCxn id="24" idx="2"/>
            <a:endCxn id="29" idx="0"/>
          </p:cNvCxnSpPr>
          <p:nvPr/>
        </p:nvCxnSpPr>
        <p:spPr bwMode="auto">
          <a:xfrm>
            <a:off x="2674796" y="3054160"/>
            <a:ext cx="0" cy="271794"/>
          </a:xfrm>
          <a:prstGeom prst="straightConnector1">
            <a:avLst/>
          </a:prstGeom>
          <a:ln>
            <a:headEnd type="none" w="sm" len="sm"/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108" name="Straight Arrow Connector 107">
            <a:extLst>
              <a:ext uri="{FF2B5EF4-FFF2-40B4-BE49-F238E27FC236}">
                <a16:creationId xmlns:a16="http://schemas.microsoft.com/office/drawing/2014/main" id="{91DA2378-E390-4548-8581-24A6439B0033}"/>
              </a:ext>
            </a:extLst>
          </p:cNvPr>
          <p:cNvCxnSpPr>
            <a:cxnSpLocks/>
            <a:stCxn id="29" idx="2"/>
            <a:endCxn id="34" idx="0"/>
          </p:cNvCxnSpPr>
          <p:nvPr/>
        </p:nvCxnSpPr>
        <p:spPr bwMode="auto">
          <a:xfrm>
            <a:off x="2674796" y="3763105"/>
            <a:ext cx="0" cy="276990"/>
          </a:xfrm>
          <a:prstGeom prst="straightConnector1">
            <a:avLst/>
          </a:prstGeom>
          <a:ln>
            <a:headEnd type="none" w="sm" len="sm"/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111" name="Straight Arrow Connector 110">
            <a:extLst>
              <a:ext uri="{FF2B5EF4-FFF2-40B4-BE49-F238E27FC236}">
                <a16:creationId xmlns:a16="http://schemas.microsoft.com/office/drawing/2014/main" id="{92579403-CEFD-48C4-A02B-0BEDD327CFA8}"/>
              </a:ext>
            </a:extLst>
          </p:cNvPr>
          <p:cNvCxnSpPr>
            <a:cxnSpLocks/>
            <a:stCxn id="28" idx="3"/>
            <a:endCxn id="24" idx="1"/>
          </p:cNvCxnSpPr>
          <p:nvPr/>
        </p:nvCxnSpPr>
        <p:spPr bwMode="auto">
          <a:xfrm>
            <a:off x="1623822" y="2835585"/>
            <a:ext cx="419889" cy="0"/>
          </a:xfrm>
          <a:prstGeom prst="straightConnector1">
            <a:avLst/>
          </a:prstGeom>
          <a:ln>
            <a:headEnd type="none" w="sm" len="sm"/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114" name="Straight Arrow Connector 113">
            <a:extLst>
              <a:ext uri="{FF2B5EF4-FFF2-40B4-BE49-F238E27FC236}">
                <a16:creationId xmlns:a16="http://schemas.microsoft.com/office/drawing/2014/main" id="{1D38EDB9-902C-478A-82A3-69D163B4901C}"/>
              </a:ext>
            </a:extLst>
          </p:cNvPr>
          <p:cNvCxnSpPr>
            <a:cxnSpLocks/>
            <a:stCxn id="29" idx="3"/>
            <a:endCxn id="25" idx="1"/>
          </p:cNvCxnSpPr>
          <p:nvPr/>
        </p:nvCxnSpPr>
        <p:spPr bwMode="auto">
          <a:xfrm>
            <a:off x="3255910" y="3544530"/>
            <a:ext cx="420539" cy="0"/>
          </a:xfrm>
          <a:prstGeom prst="straightConnector1">
            <a:avLst/>
          </a:prstGeom>
          <a:ln>
            <a:headEnd type="none" w="sm" len="sm"/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117" name="Straight Arrow Connector 116">
            <a:extLst>
              <a:ext uri="{FF2B5EF4-FFF2-40B4-BE49-F238E27FC236}">
                <a16:creationId xmlns:a16="http://schemas.microsoft.com/office/drawing/2014/main" id="{14515E34-0AFF-4948-951F-E5EE57B937B3}"/>
              </a:ext>
            </a:extLst>
          </p:cNvPr>
          <p:cNvCxnSpPr>
            <a:cxnSpLocks/>
            <a:stCxn id="30" idx="3"/>
            <a:endCxn id="26" idx="1"/>
          </p:cNvCxnSpPr>
          <p:nvPr/>
        </p:nvCxnSpPr>
        <p:spPr bwMode="auto">
          <a:xfrm>
            <a:off x="4888648" y="4270813"/>
            <a:ext cx="476090" cy="0"/>
          </a:xfrm>
          <a:prstGeom prst="straightConnector1">
            <a:avLst/>
          </a:prstGeom>
          <a:ln>
            <a:headEnd type="none" w="sm" len="sm"/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120" name="Straight Arrow Connector 119">
            <a:extLst>
              <a:ext uri="{FF2B5EF4-FFF2-40B4-BE49-F238E27FC236}">
                <a16:creationId xmlns:a16="http://schemas.microsoft.com/office/drawing/2014/main" id="{4EA5AD7A-D247-45E3-A357-E8A32F6A686D}"/>
              </a:ext>
            </a:extLst>
          </p:cNvPr>
          <p:cNvCxnSpPr>
            <a:cxnSpLocks/>
            <a:stCxn id="31" idx="3"/>
            <a:endCxn id="27" idx="1"/>
          </p:cNvCxnSpPr>
          <p:nvPr/>
        </p:nvCxnSpPr>
        <p:spPr bwMode="auto">
          <a:xfrm>
            <a:off x="6576937" y="5006081"/>
            <a:ext cx="375894" cy="0"/>
          </a:xfrm>
          <a:prstGeom prst="straightConnector1">
            <a:avLst/>
          </a:prstGeom>
          <a:ln>
            <a:headEnd type="none" w="sm" len="sm"/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sp>
        <p:nvSpPr>
          <p:cNvPr id="123" name="Rectangle: Rounded Corners 122">
            <a:extLst>
              <a:ext uri="{FF2B5EF4-FFF2-40B4-BE49-F238E27FC236}">
                <a16:creationId xmlns:a16="http://schemas.microsoft.com/office/drawing/2014/main" id="{B46AA925-88BD-42DC-A6C5-C271043C951F}"/>
              </a:ext>
            </a:extLst>
          </p:cNvPr>
          <p:cNvSpPr/>
          <p:nvPr/>
        </p:nvSpPr>
        <p:spPr bwMode="auto">
          <a:xfrm>
            <a:off x="8496530" y="5511493"/>
            <a:ext cx="1256592" cy="461434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400" dirty="0">
                <a:solidFill>
                  <a:schemeClr val="tx1"/>
                </a:solidFill>
                <a:latin typeface="Arial" charset="0"/>
              </a:rPr>
              <a:t>Maturity Level 4</a:t>
            </a:r>
            <a:endParaRPr kumimoji="0" 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124" name="Straight Arrow Connector 123">
            <a:extLst>
              <a:ext uri="{FF2B5EF4-FFF2-40B4-BE49-F238E27FC236}">
                <a16:creationId xmlns:a16="http://schemas.microsoft.com/office/drawing/2014/main" id="{A91CCC50-16BB-4921-B700-EF6811384AF5}"/>
              </a:ext>
            </a:extLst>
          </p:cNvPr>
          <p:cNvCxnSpPr>
            <a:cxnSpLocks/>
            <a:stCxn id="32" idx="3"/>
            <a:endCxn id="123" idx="1"/>
          </p:cNvCxnSpPr>
          <p:nvPr/>
        </p:nvCxnSpPr>
        <p:spPr bwMode="auto">
          <a:xfrm flipV="1">
            <a:off x="8165030" y="5742210"/>
            <a:ext cx="331500" cy="1"/>
          </a:xfrm>
          <a:prstGeom prst="straightConnector1">
            <a:avLst/>
          </a:prstGeom>
          <a:ln>
            <a:headEnd type="none" w="sm" len="sm"/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graphicFrame>
        <p:nvGraphicFramePr>
          <p:cNvPr id="129" name="Table 129">
            <a:extLst>
              <a:ext uri="{FF2B5EF4-FFF2-40B4-BE49-F238E27FC236}">
                <a16:creationId xmlns:a16="http://schemas.microsoft.com/office/drawing/2014/main" id="{599C1500-77C7-454C-8CB6-1AF8B45EFBC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69580687"/>
              </p:ext>
            </p:extLst>
          </p:nvPr>
        </p:nvGraphicFramePr>
        <p:xfrm>
          <a:off x="5626311" y="1160474"/>
          <a:ext cx="6173469" cy="2225040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1353580">
                  <a:extLst>
                    <a:ext uri="{9D8B030D-6E8A-4147-A177-3AD203B41FA5}">
                      <a16:colId xmlns:a16="http://schemas.microsoft.com/office/drawing/2014/main" val="1269394511"/>
                    </a:ext>
                  </a:extLst>
                </a:gridCol>
                <a:gridCol w="2595965">
                  <a:extLst>
                    <a:ext uri="{9D8B030D-6E8A-4147-A177-3AD203B41FA5}">
                      <a16:colId xmlns:a16="http://schemas.microsoft.com/office/drawing/2014/main" val="3817600966"/>
                    </a:ext>
                  </a:extLst>
                </a:gridCol>
                <a:gridCol w="2223924">
                  <a:extLst>
                    <a:ext uri="{9D8B030D-6E8A-4147-A177-3AD203B41FA5}">
                      <a16:colId xmlns:a16="http://schemas.microsoft.com/office/drawing/2014/main" val="387549988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Activity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Question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Maturity Level Indicator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24020223"/>
                  </a:ext>
                </a:extLst>
              </a:tr>
              <a:tr h="370840">
                <a:tc rowSpan="5"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Activity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Questions for maturity level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8831764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Questions for maturity level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71813651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Questions for maturity level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1549911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Questions for maturity level 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241556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Questions for maturity level 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4067325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773408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316E12E7-B44B-4466-B6D8-34BFFE7434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Breakdown of Activities and Sample Questions</a:t>
            </a:r>
          </a:p>
        </p:txBody>
      </p:sp>
      <p:graphicFrame>
        <p:nvGraphicFramePr>
          <p:cNvPr id="2" name="Table 2">
            <a:extLst>
              <a:ext uri="{FF2B5EF4-FFF2-40B4-BE49-F238E27FC236}">
                <a16:creationId xmlns:a16="http://schemas.microsoft.com/office/drawing/2014/main" id="{F34C023F-4929-4904-9670-7572F7C00E8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89084024"/>
              </p:ext>
            </p:extLst>
          </p:nvPr>
        </p:nvGraphicFramePr>
        <p:xfrm>
          <a:off x="263021" y="950402"/>
          <a:ext cx="6001046" cy="2610061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1352134">
                  <a:extLst>
                    <a:ext uri="{9D8B030D-6E8A-4147-A177-3AD203B41FA5}">
                      <a16:colId xmlns:a16="http://schemas.microsoft.com/office/drawing/2014/main" val="3269073705"/>
                    </a:ext>
                  </a:extLst>
                </a:gridCol>
                <a:gridCol w="4648912">
                  <a:extLst>
                    <a:ext uri="{9D8B030D-6E8A-4147-A177-3AD203B41FA5}">
                      <a16:colId xmlns:a16="http://schemas.microsoft.com/office/drawing/2014/main" val="1490858791"/>
                    </a:ext>
                  </a:extLst>
                </a:gridCol>
              </a:tblGrid>
              <a:tr h="263101">
                <a:tc>
                  <a:txBody>
                    <a:bodyPr/>
                    <a:lstStyle/>
                    <a:p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Activity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Description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553778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000" dirty="0">
                          <a:solidFill>
                            <a:schemeClr val="bg1"/>
                          </a:solidFill>
                        </a:rPr>
                        <a:t>Environment Analysis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solidFill>
                            <a:schemeClr val="bg1"/>
                          </a:solidFill>
                        </a:rPr>
                        <a:t>Use of IT systems and applications for environment analysis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00865655"/>
                  </a:ext>
                </a:extLst>
              </a:tr>
              <a:tr h="253240">
                <a:tc>
                  <a:txBody>
                    <a:bodyPr/>
                    <a:lstStyle/>
                    <a:p>
                      <a:r>
                        <a:rPr lang="en-US" sz="1000" dirty="0">
                          <a:solidFill>
                            <a:schemeClr val="bg1"/>
                          </a:solidFill>
                        </a:rPr>
                        <a:t>Commodity Planning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solidFill>
                            <a:schemeClr val="bg1"/>
                          </a:solidFill>
                        </a:rPr>
                        <a:t>Use of IT systems and applications supporting commodity planning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1892599"/>
                  </a:ext>
                </a:extLst>
              </a:tr>
              <a:tr h="264920">
                <a:tc>
                  <a:txBody>
                    <a:bodyPr/>
                    <a:lstStyle/>
                    <a:p>
                      <a:r>
                        <a:rPr lang="en-US" sz="1000" dirty="0">
                          <a:solidFill>
                            <a:schemeClr val="bg1"/>
                          </a:solidFill>
                        </a:rPr>
                        <a:t>Design Automation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solidFill>
                            <a:schemeClr val="bg1"/>
                          </a:solidFill>
                        </a:rPr>
                        <a:t>Use of designing software systems and smart connected technology for design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66478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000" dirty="0">
                          <a:solidFill>
                            <a:schemeClr val="bg1"/>
                          </a:solidFill>
                        </a:rPr>
                        <a:t>BOM/Parts Management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solidFill>
                            <a:schemeClr val="bg1"/>
                          </a:solidFill>
                        </a:rPr>
                        <a:t>Use of BOM/Part management system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76596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000" dirty="0">
                          <a:solidFill>
                            <a:schemeClr val="bg1"/>
                          </a:solidFill>
                        </a:rPr>
                        <a:t>Engineering Change Management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solidFill>
                            <a:schemeClr val="bg1"/>
                          </a:solidFill>
                        </a:rPr>
                        <a:t>Use of engineering change management systems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53914373"/>
                  </a:ext>
                </a:extLst>
              </a:tr>
              <a:tr h="241561">
                <a:tc>
                  <a:txBody>
                    <a:bodyPr/>
                    <a:lstStyle/>
                    <a:p>
                      <a:r>
                        <a:rPr lang="en-US" sz="1000" dirty="0">
                          <a:solidFill>
                            <a:schemeClr val="bg1"/>
                          </a:solidFill>
                        </a:rPr>
                        <a:t>Prototyping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solidFill>
                            <a:schemeClr val="bg1"/>
                          </a:solidFill>
                        </a:rPr>
                        <a:t>Use of IT systems and applications for prototyping and its validation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142781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000" dirty="0">
                          <a:solidFill>
                            <a:schemeClr val="bg1"/>
                          </a:solidFill>
                        </a:rPr>
                        <a:t>Advance Quality Management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solidFill>
                            <a:schemeClr val="bg1"/>
                          </a:solidFill>
                        </a:rPr>
                        <a:t>Use of IT systems and applications for advance quality management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00815487"/>
                  </a:ext>
                </a:extLst>
              </a:tr>
            </a:tbl>
          </a:graphicData>
        </a:graphic>
      </p:graphicFrame>
      <p:graphicFrame>
        <p:nvGraphicFramePr>
          <p:cNvPr id="7" name="Table 2">
            <a:extLst>
              <a:ext uri="{FF2B5EF4-FFF2-40B4-BE49-F238E27FC236}">
                <a16:creationId xmlns:a16="http://schemas.microsoft.com/office/drawing/2014/main" id="{B6F1F550-C5D2-4172-AFE5-D377FEC258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62669369"/>
              </p:ext>
            </p:extLst>
          </p:nvPr>
        </p:nvGraphicFramePr>
        <p:xfrm>
          <a:off x="6460621" y="950401"/>
          <a:ext cx="5468359" cy="2401781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888762">
                  <a:extLst>
                    <a:ext uri="{9D8B030D-6E8A-4147-A177-3AD203B41FA5}">
                      <a16:colId xmlns:a16="http://schemas.microsoft.com/office/drawing/2014/main" val="3269073705"/>
                    </a:ext>
                  </a:extLst>
                </a:gridCol>
                <a:gridCol w="3931066">
                  <a:extLst>
                    <a:ext uri="{9D8B030D-6E8A-4147-A177-3AD203B41FA5}">
                      <a16:colId xmlns:a16="http://schemas.microsoft.com/office/drawing/2014/main" val="1490858791"/>
                    </a:ext>
                  </a:extLst>
                </a:gridCol>
                <a:gridCol w="648531">
                  <a:extLst>
                    <a:ext uri="{9D8B030D-6E8A-4147-A177-3AD203B41FA5}">
                      <a16:colId xmlns:a16="http://schemas.microsoft.com/office/drawing/2014/main" val="1901612911"/>
                    </a:ext>
                  </a:extLst>
                </a:gridCol>
              </a:tblGrid>
              <a:tr h="263101">
                <a:tc>
                  <a:txBody>
                    <a:bodyPr/>
                    <a:lstStyle/>
                    <a:p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Activity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Description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Level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55377880"/>
                  </a:ext>
                </a:extLst>
              </a:tr>
              <a:tr h="370840">
                <a:tc rowSpan="5">
                  <a:txBody>
                    <a:bodyPr/>
                    <a:lstStyle/>
                    <a:p>
                      <a:r>
                        <a:rPr lang="en-US" sz="1000" dirty="0">
                          <a:solidFill>
                            <a:schemeClr val="bg1"/>
                          </a:solidFill>
                        </a:rPr>
                        <a:t>Design Automation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solidFill>
                            <a:schemeClr val="bg1"/>
                          </a:solidFill>
                        </a:rPr>
                        <a:t>Do you design with 2D CAD?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00865655"/>
                  </a:ext>
                </a:extLst>
              </a:tr>
              <a:tr h="253240">
                <a:tc vMerge="1">
                  <a:txBody>
                    <a:bodyPr/>
                    <a:lstStyle/>
                    <a:p>
                      <a:endParaRPr 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solidFill>
                            <a:schemeClr val="bg1"/>
                          </a:solidFill>
                        </a:rPr>
                        <a:t>Do you design with 3D CAD?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chemeClr val="bg1"/>
                          </a:solidFill>
                        </a:rPr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1892599"/>
                  </a:ext>
                </a:extLst>
              </a:tr>
              <a:tr h="264920">
                <a:tc vMerge="1">
                  <a:txBody>
                    <a:bodyPr/>
                    <a:lstStyle/>
                    <a:p>
                      <a:endParaRPr 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solidFill>
                            <a:schemeClr val="bg1"/>
                          </a:solidFill>
                        </a:rPr>
                        <a:t>Do you analyze and validate with CAE?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chemeClr val="bg1"/>
                          </a:solidFill>
                        </a:rPr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6647886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solidFill>
                            <a:schemeClr val="bg1"/>
                          </a:solidFill>
                        </a:rPr>
                        <a:t>Do you design automatically with optimization solutions as one of the following?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00" dirty="0">
                          <a:solidFill>
                            <a:schemeClr val="bg1"/>
                          </a:solidFill>
                        </a:rPr>
                        <a:t>Model-Based Parametric Design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00" dirty="0">
                          <a:solidFill>
                            <a:schemeClr val="bg1"/>
                          </a:solidFill>
                        </a:rPr>
                        <a:t>Engineering-based Parametric design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00" dirty="0">
                          <a:solidFill>
                            <a:schemeClr val="bg1"/>
                          </a:solidFill>
                        </a:rPr>
                        <a:t>Integrated parametrical design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chemeClr val="bg1"/>
                          </a:solidFill>
                        </a:rPr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7659638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solidFill>
                            <a:schemeClr val="bg1"/>
                          </a:solidFill>
                        </a:rPr>
                        <a:t>Do you design a product by using smart connected technology such as IoT, AR/VR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chemeClr val="bg1"/>
                          </a:solidFill>
                        </a:rPr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53914373"/>
                  </a:ext>
                </a:extLst>
              </a:tr>
            </a:tbl>
          </a:graphicData>
        </a:graphic>
      </p:graphicFrame>
      <p:cxnSp>
        <p:nvCxnSpPr>
          <p:cNvPr id="8" name="Connector: Elbow 7">
            <a:extLst>
              <a:ext uri="{FF2B5EF4-FFF2-40B4-BE49-F238E27FC236}">
                <a16:creationId xmlns:a16="http://schemas.microsoft.com/office/drawing/2014/main" id="{9FF1729E-B2E4-4100-B40B-045D3B6DB97B}"/>
              </a:ext>
            </a:extLst>
          </p:cNvPr>
          <p:cNvCxnSpPr>
            <a:cxnSpLocks/>
            <a:endCxn id="7" idx="1"/>
          </p:cNvCxnSpPr>
          <p:nvPr/>
        </p:nvCxnSpPr>
        <p:spPr bwMode="auto">
          <a:xfrm>
            <a:off x="6264069" y="1982624"/>
            <a:ext cx="196552" cy="168667"/>
          </a:xfrm>
          <a:prstGeom prst="bentConnector3">
            <a:avLst>
              <a:gd name="adj1" fmla="val 50000"/>
            </a:avLst>
          </a:prstGeom>
          <a:ln>
            <a:headEnd type="none" w="sm" len="sm"/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graphicFrame>
        <p:nvGraphicFramePr>
          <p:cNvPr id="12" name="Table 2">
            <a:extLst>
              <a:ext uri="{FF2B5EF4-FFF2-40B4-BE49-F238E27FC236}">
                <a16:creationId xmlns:a16="http://schemas.microsoft.com/office/drawing/2014/main" id="{65CDD097-0DF6-4B08-9B1B-E2C7DEDCE77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8510299"/>
              </p:ext>
            </p:extLst>
          </p:nvPr>
        </p:nvGraphicFramePr>
        <p:xfrm>
          <a:off x="6460620" y="3553961"/>
          <a:ext cx="5468359" cy="2523701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931492">
                  <a:extLst>
                    <a:ext uri="{9D8B030D-6E8A-4147-A177-3AD203B41FA5}">
                      <a16:colId xmlns:a16="http://schemas.microsoft.com/office/drawing/2014/main" val="3269073705"/>
                    </a:ext>
                  </a:extLst>
                </a:gridCol>
                <a:gridCol w="3888336">
                  <a:extLst>
                    <a:ext uri="{9D8B030D-6E8A-4147-A177-3AD203B41FA5}">
                      <a16:colId xmlns:a16="http://schemas.microsoft.com/office/drawing/2014/main" val="1490858791"/>
                    </a:ext>
                  </a:extLst>
                </a:gridCol>
                <a:gridCol w="648531">
                  <a:extLst>
                    <a:ext uri="{9D8B030D-6E8A-4147-A177-3AD203B41FA5}">
                      <a16:colId xmlns:a16="http://schemas.microsoft.com/office/drawing/2014/main" val="1901612911"/>
                    </a:ext>
                  </a:extLst>
                </a:gridCol>
              </a:tblGrid>
              <a:tr h="263101">
                <a:tc>
                  <a:txBody>
                    <a:bodyPr/>
                    <a:lstStyle/>
                    <a:p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Activity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Description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Level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55377880"/>
                  </a:ext>
                </a:extLst>
              </a:tr>
              <a:tr h="370840">
                <a:tc rowSpan="5">
                  <a:txBody>
                    <a:bodyPr/>
                    <a:lstStyle/>
                    <a:p>
                      <a:r>
                        <a:rPr lang="en-US" sz="1000" dirty="0">
                          <a:solidFill>
                            <a:schemeClr val="bg1"/>
                          </a:solidFill>
                        </a:rPr>
                        <a:t>BOM/Parts Management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solidFill>
                            <a:schemeClr val="bg1"/>
                          </a:solidFill>
                        </a:rPr>
                        <a:t>Do you upload the engineering BOM [E-BOM] to the system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00865655"/>
                  </a:ext>
                </a:extLst>
              </a:tr>
              <a:tr h="253240">
                <a:tc vMerge="1">
                  <a:txBody>
                    <a:bodyPr/>
                    <a:lstStyle/>
                    <a:p>
                      <a:endParaRPr 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solidFill>
                            <a:schemeClr val="bg1"/>
                          </a:solidFill>
                        </a:rPr>
                        <a:t>Do you integrate the E-BOM with 3D CAD?</a:t>
                      </a:r>
                    </a:p>
                    <a:p>
                      <a:r>
                        <a:rPr lang="en-US" sz="1000" dirty="0">
                          <a:solidFill>
                            <a:schemeClr val="bg1"/>
                          </a:solidFill>
                        </a:rPr>
                        <a:t>Do you generate the E-BOM automatically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chemeClr val="bg1"/>
                          </a:solidFill>
                        </a:rPr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1892599"/>
                  </a:ext>
                </a:extLst>
              </a:tr>
              <a:tr h="264920">
                <a:tc vMerge="1">
                  <a:txBody>
                    <a:bodyPr/>
                    <a:lstStyle/>
                    <a:p>
                      <a:endParaRPr 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solidFill>
                            <a:schemeClr val="bg1"/>
                          </a:solidFill>
                        </a:rPr>
                        <a:t>Do you generate the manufacturing BOM [M-BOM] automatically in PLM?</a:t>
                      </a:r>
                    </a:p>
                    <a:p>
                      <a:r>
                        <a:rPr lang="en-US" sz="1000" dirty="0">
                          <a:solidFill>
                            <a:schemeClr val="bg1"/>
                          </a:solidFill>
                        </a:rPr>
                        <a:t>Do you manage the software configuration in PLM?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chemeClr val="bg1"/>
                          </a:solidFill>
                        </a:rPr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6647886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solidFill>
                            <a:schemeClr val="bg1"/>
                          </a:solidFill>
                        </a:rPr>
                        <a:t>Do you configure the BOM according to the purpose of use such as procurement, process cost, production, and customer service for warranty, </a:t>
                      </a:r>
                      <a:r>
                        <a:rPr lang="en-US" sz="1000" dirty="0" err="1">
                          <a:solidFill>
                            <a:schemeClr val="bg1"/>
                          </a:solidFill>
                        </a:rPr>
                        <a:t>etc</a:t>
                      </a:r>
                      <a:r>
                        <a:rPr lang="en-US" sz="1000" dirty="0">
                          <a:solidFill>
                            <a:schemeClr val="bg1"/>
                          </a:solidFill>
                        </a:rPr>
                        <a:t>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chemeClr val="bg1"/>
                          </a:solidFill>
                        </a:rPr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7659638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solidFill>
                            <a:schemeClr val="bg1"/>
                          </a:solidFill>
                        </a:rPr>
                        <a:t>Do you improve business through preliminary simulation using the BOM data according to the purpose of use?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chemeClr val="bg1"/>
                          </a:solidFill>
                        </a:rPr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53914373"/>
                  </a:ext>
                </a:extLst>
              </a:tr>
            </a:tbl>
          </a:graphicData>
        </a:graphic>
      </p:graphicFrame>
      <p:cxnSp>
        <p:nvCxnSpPr>
          <p:cNvPr id="13" name="Connector: Elbow 12">
            <a:extLst>
              <a:ext uri="{FF2B5EF4-FFF2-40B4-BE49-F238E27FC236}">
                <a16:creationId xmlns:a16="http://schemas.microsoft.com/office/drawing/2014/main" id="{9753ED6B-B761-402F-A975-403F036005E2}"/>
              </a:ext>
            </a:extLst>
          </p:cNvPr>
          <p:cNvCxnSpPr>
            <a:cxnSpLocks/>
            <a:stCxn id="2" idx="3"/>
            <a:endCxn id="12" idx="1"/>
          </p:cNvCxnSpPr>
          <p:nvPr/>
        </p:nvCxnSpPr>
        <p:spPr bwMode="auto">
          <a:xfrm>
            <a:off x="6264067" y="2255432"/>
            <a:ext cx="196553" cy="2560379"/>
          </a:xfrm>
          <a:prstGeom prst="bentConnector3">
            <a:avLst>
              <a:gd name="adj1" fmla="val 50000"/>
            </a:avLst>
          </a:prstGeom>
          <a:ln>
            <a:headEnd type="none" w="sm" len="sm"/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graphicFrame>
        <p:nvGraphicFramePr>
          <p:cNvPr id="16" name="Chart 15">
            <a:extLst>
              <a:ext uri="{FF2B5EF4-FFF2-40B4-BE49-F238E27FC236}">
                <a16:creationId xmlns:a16="http://schemas.microsoft.com/office/drawing/2014/main" id="{827F37D9-A4A5-4F45-B5AE-795EFEED55A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13512430"/>
              </p:ext>
            </p:extLst>
          </p:nvPr>
        </p:nvGraphicFramePr>
        <p:xfrm>
          <a:off x="689362" y="3943779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40551517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FBD2C4-A698-3C44-9638-C5F19555F0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Modified Assessment Model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D65F003-7511-4EC0-8277-0A94C4E9242D}"/>
              </a:ext>
            </a:extLst>
          </p:cNvPr>
          <p:cNvSpPr/>
          <p:nvPr/>
        </p:nvSpPr>
        <p:spPr bwMode="auto">
          <a:xfrm>
            <a:off x="2730500" y="3133936"/>
            <a:ext cx="1739900" cy="76574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8000"/>
              </a:srgbClr>
            </a:outerShdw>
            <a:reflection blurRad="165100" endPos="0" dir="5400000" sy="-100000" algn="bl" rotWithShape="0"/>
          </a:effectLst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Infrastructure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F2C7E98-785E-40A1-B641-D2399110DCE4}"/>
              </a:ext>
            </a:extLst>
          </p:cNvPr>
          <p:cNvSpPr/>
          <p:nvPr/>
        </p:nvSpPr>
        <p:spPr bwMode="auto">
          <a:xfrm>
            <a:off x="2717800" y="4901458"/>
            <a:ext cx="1752600" cy="76274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8000"/>
              </a:srgbClr>
            </a:outerShdw>
            <a:reflection blurRad="165100" endPos="0" dir="5400000" sy="-100000" algn="bl" rotWithShape="0"/>
          </a:effectLst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Comprehensive Integration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4A591D9-7472-4328-A832-7F6A15450E2C}"/>
              </a:ext>
            </a:extLst>
          </p:cNvPr>
          <p:cNvSpPr/>
          <p:nvPr/>
        </p:nvSpPr>
        <p:spPr bwMode="auto">
          <a:xfrm>
            <a:off x="2717800" y="2245550"/>
            <a:ext cx="1739900" cy="76574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8000"/>
              </a:srgbClr>
            </a:outerShdw>
            <a:reflection blurRad="165100" endPos="0" dir="5400000" sy="-100000" algn="bl" rotWithShape="0"/>
          </a:effectLst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Domain Application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A366A3B-D9CD-47D5-81BD-A5D4C1D420BC}"/>
              </a:ext>
            </a:extLst>
          </p:cNvPr>
          <p:cNvSpPr/>
          <p:nvPr/>
        </p:nvSpPr>
        <p:spPr bwMode="auto">
          <a:xfrm>
            <a:off x="2717800" y="4022322"/>
            <a:ext cx="1752600" cy="76574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8000"/>
              </a:srgbClr>
            </a:outerShdw>
            <a:reflection blurRad="165100" endPos="0" dir="5400000" sy="-100000" algn="bl" rotWithShape="0"/>
          </a:effectLst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Collaborative Integration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D65F003-7511-4EC0-8277-0A94C4E9242D}"/>
              </a:ext>
            </a:extLst>
          </p:cNvPr>
          <p:cNvSpPr/>
          <p:nvPr/>
        </p:nvSpPr>
        <p:spPr bwMode="auto">
          <a:xfrm>
            <a:off x="7010400" y="3143186"/>
            <a:ext cx="1739900" cy="76574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8000"/>
              </a:srgbClr>
            </a:outerShdw>
            <a:reflection blurRad="165100" endPos="0" dir="5400000" sy="-100000" algn="bl" rotWithShape="0"/>
          </a:effectLst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Tool Chain</a:t>
            </a:r>
            <a:endParaRPr kumimoji="0" lang="en-US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F2C7E98-785E-40A1-B641-D2399110DCE4}"/>
              </a:ext>
            </a:extLst>
          </p:cNvPr>
          <p:cNvSpPr/>
          <p:nvPr/>
        </p:nvSpPr>
        <p:spPr bwMode="auto">
          <a:xfrm>
            <a:off x="7010400" y="4901458"/>
            <a:ext cx="1752600" cy="76274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8000"/>
              </a:srgbClr>
            </a:outerShdw>
            <a:reflection blurRad="165100" endPos="0" dir="5400000" sy="-100000" algn="bl" rotWithShape="0"/>
          </a:effectLst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Industry/Supply Chain</a:t>
            </a:r>
            <a:endParaRPr kumimoji="0" lang="en-US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4A591D9-7472-4328-A832-7F6A15450E2C}"/>
              </a:ext>
            </a:extLst>
          </p:cNvPr>
          <p:cNvSpPr/>
          <p:nvPr/>
        </p:nvSpPr>
        <p:spPr bwMode="auto">
          <a:xfrm>
            <a:off x="7010400" y="2245550"/>
            <a:ext cx="1739900" cy="76574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8000"/>
              </a:srgbClr>
            </a:outerShdw>
            <a:reflection blurRad="165100" endPos="0" dir="5400000" sy="-100000" algn="bl" rotWithShape="0"/>
          </a:effectLst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Data Standard</a:t>
            </a:r>
            <a:endParaRPr kumimoji="0" lang="en-US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A366A3B-D9CD-47D5-81BD-A5D4C1D420BC}"/>
              </a:ext>
            </a:extLst>
          </p:cNvPr>
          <p:cNvSpPr/>
          <p:nvPr/>
        </p:nvSpPr>
        <p:spPr bwMode="auto">
          <a:xfrm>
            <a:off x="7010400" y="4022322"/>
            <a:ext cx="1752600" cy="76574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8000"/>
              </a:srgbClr>
            </a:outerShdw>
            <a:reflection blurRad="165100" endPos="0" dir="5400000" sy="-100000" algn="bl" rotWithShape="0"/>
          </a:effectLst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Internal Processes</a:t>
            </a:r>
            <a:endParaRPr kumimoji="0" lang="en-US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1D38EDB9-902C-478A-82A3-69D163B4901C}"/>
              </a:ext>
            </a:extLst>
          </p:cNvPr>
          <p:cNvCxnSpPr>
            <a:cxnSpLocks/>
            <a:stCxn id="8" idx="3"/>
            <a:endCxn id="13" idx="1"/>
          </p:cNvCxnSpPr>
          <p:nvPr/>
        </p:nvCxnSpPr>
        <p:spPr bwMode="auto">
          <a:xfrm>
            <a:off x="4457700" y="2628423"/>
            <a:ext cx="2552700" cy="0"/>
          </a:xfrm>
          <a:prstGeom prst="straightConnector1">
            <a:avLst/>
          </a:prstGeom>
          <a:ln>
            <a:headEnd type="none" w="sm" len="sm"/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1D38EDB9-902C-478A-82A3-69D163B4901C}"/>
              </a:ext>
            </a:extLst>
          </p:cNvPr>
          <p:cNvCxnSpPr>
            <a:cxnSpLocks/>
            <a:stCxn id="6" idx="3"/>
            <a:endCxn id="11" idx="1"/>
          </p:cNvCxnSpPr>
          <p:nvPr/>
        </p:nvCxnSpPr>
        <p:spPr bwMode="auto">
          <a:xfrm>
            <a:off x="4470400" y="3516809"/>
            <a:ext cx="2540000" cy="9250"/>
          </a:xfrm>
          <a:prstGeom prst="straightConnector1">
            <a:avLst/>
          </a:prstGeom>
          <a:ln>
            <a:headEnd type="none" w="sm" len="sm"/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1D38EDB9-902C-478A-82A3-69D163B4901C}"/>
              </a:ext>
            </a:extLst>
          </p:cNvPr>
          <p:cNvCxnSpPr>
            <a:cxnSpLocks/>
            <a:stCxn id="9" idx="3"/>
            <a:endCxn id="14" idx="1"/>
          </p:cNvCxnSpPr>
          <p:nvPr/>
        </p:nvCxnSpPr>
        <p:spPr bwMode="auto">
          <a:xfrm>
            <a:off x="4470400" y="4405195"/>
            <a:ext cx="2540000" cy="0"/>
          </a:xfrm>
          <a:prstGeom prst="straightConnector1">
            <a:avLst/>
          </a:prstGeom>
          <a:ln>
            <a:headEnd type="none" w="sm" len="sm"/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1D38EDB9-902C-478A-82A3-69D163B4901C}"/>
              </a:ext>
            </a:extLst>
          </p:cNvPr>
          <p:cNvCxnSpPr>
            <a:cxnSpLocks/>
            <a:stCxn id="7" idx="3"/>
            <a:endCxn id="12" idx="1"/>
          </p:cNvCxnSpPr>
          <p:nvPr/>
        </p:nvCxnSpPr>
        <p:spPr bwMode="auto">
          <a:xfrm>
            <a:off x="4470400" y="5282829"/>
            <a:ext cx="2540000" cy="0"/>
          </a:xfrm>
          <a:prstGeom prst="straightConnector1">
            <a:avLst/>
          </a:prstGeom>
          <a:ln>
            <a:headEnd type="none" w="sm" len="sm"/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2438400" y="1207252"/>
            <a:ext cx="22987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b="1" dirty="0" smtClean="0">
                <a:solidFill>
                  <a:schemeClr val="bg1"/>
                </a:solidFill>
              </a:rPr>
              <a:t>ISO </a:t>
            </a:r>
          </a:p>
          <a:p>
            <a:pPr algn="ctr"/>
            <a:r>
              <a:rPr lang="en-US" sz="1800" b="1" dirty="0" smtClean="0">
                <a:solidFill>
                  <a:schemeClr val="bg1"/>
                </a:solidFill>
              </a:rPr>
              <a:t>Assessment Reference Model</a:t>
            </a:r>
            <a:endParaRPr lang="en-GB" sz="1800" b="1" dirty="0">
              <a:solidFill>
                <a:schemeClr val="bg1"/>
              </a:solidFill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6731000" y="1224981"/>
            <a:ext cx="22987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b="1" dirty="0" smtClean="0">
                <a:solidFill>
                  <a:schemeClr val="bg1"/>
                </a:solidFill>
              </a:rPr>
              <a:t>Modified Assessment Reference Model</a:t>
            </a:r>
            <a:endParaRPr lang="en-GB" sz="18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009771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FBD2C4-A698-3C44-9638-C5F19555F0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Modified Assessment System</a:t>
            </a:r>
            <a:endParaRPr lang="en-US" dirty="0"/>
          </a:p>
        </p:txBody>
      </p:sp>
      <p:pic>
        <p:nvPicPr>
          <p:cNvPr id="21" name="Picture 2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943" y="1484993"/>
            <a:ext cx="3524752" cy="2045359"/>
          </a:xfrm>
          <a:prstGeom prst="rect">
            <a:avLst/>
          </a:prstGeom>
        </p:spPr>
      </p:pic>
      <p:sp>
        <p:nvSpPr>
          <p:cNvPr id="22" name="Rectangle 21"/>
          <p:cNvSpPr/>
          <p:nvPr/>
        </p:nvSpPr>
        <p:spPr>
          <a:xfrm>
            <a:off x="1624537" y="4586512"/>
            <a:ext cx="1819564" cy="581891"/>
          </a:xfrm>
          <a:prstGeom prst="rect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sz="1200" b="1" dirty="0" smtClean="0">
                <a:solidFill>
                  <a:schemeClr val="tx1"/>
                </a:solidFill>
              </a:rPr>
              <a:t>1. Identify Business Processes</a:t>
            </a:r>
            <a:endParaRPr lang="en-GB" sz="1200" b="1" dirty="0">
              <a:solidFill>
                <a:schemeClr val="tx1"/>
              </a:solidFill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3845882" y="4586512"/>
            <a:ext cx="1819564" cy="581891"/>
          </a:xfrm>
          <a:prstGeom prst="rect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sz="1200" b="1" dirty="0" smtClean="0">
                <a:solidFill>
                  <a:schemeClr val="tx1"/>
                </a:solidFill>
              </a:rPr>
              <a:t>2. Identify Information Requirements</a:t>
            </a:r>
            <a:endParaRPr lang="en-GB" sz="1200" b="1" dirty="0">
              <a:solidFill>
                <a:schemeClr val="tx1"/>
              </a:solidFill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6067227" y="4586512"/>
            <a:ext cx="1819564" cy="581891"/>
          </a:xfrm>
          <a:prstGeom prst="rect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sz="1200" b="1" dirty="0" smtClean="0">
                <a:solidFill>
                  <a:schemeClr val="tx1"/>
                </a:solidFill>
              </a:rPr>
              <a:t>3. Identify Tool Chain Requirement</a:t>
            </a:r>
            <a:endParaRPr lang="en-GB" sz="1200" b="1" dirty="0">
              <a:solidFill>
                <a:schemeClr val="tx1"/>
              </a:solidFill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8288572" y="4586512"/>
            <a:ext cx="1819564" cy="581891"/>
          </a:xfrm>
          <a:prstGeom prst="rect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sz="1200" b="1" dirty="0" smtClean="0">
                <a:solidFill>
                  <a:schemeClr val="tx1"/>
                </a:solidFill>
              </a:rPr>
              <a:t>4. Identify Industry/Supplier Requirements</a:t>
            </a:r>
            <a:endParaRPr lang="en-GB" sz="1200" b="1" dirty="0">
              <a:solidFill>
                <a:schemeClr val="tx1"/>
              </a:solidFill>
            </a:endParaRPr>
          </a:p>
        </p:txBody>
      </p:sp>
      <p:cxnSp>
        <p:nvCxnSpPr>
          <p:cNvPr id="28" name="Straight Arrow Connector 27"/>
          <p:cNvCxnSpPr>
            <a:stCxn id="22" idx="3"/>
            <a:endCxn id="23" idx="1"/>
          </p:cNvCxnSpPr>
          <p:nvPr/>
        </p:nvCxnSpPr>
        <p:spPr>
          <a:xfrm>
            <a:off x="3444101" y="4877458"/>
            <a:ext cx="40178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</p:cxnSp>
      <p:cxnSp>
        <p:nvCxnSpPr>
          <p:cNvPr id="30" name="Straight Arrow Connector 29"/>
          <p:cNvCxnSpPr>
            <a:stCxn id="23" idx="3"/>
            <a:endCxn id="24" idx="1"/>
          </p:cNvCxnSpPr>
          <p:nvPr/>
        </p:nvCxnSpPr>
        <p:spPr>
          <a:xfrm>
            <a:off x="5665446" y="4877458"/>
            <a:ext cx="40178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</p:cxnSp>
      <p:cxnSp>
        <p:nvCxnSpPr>
          <p:cNvPr id="31" name="Straight Arrow Connector 30"/>
          <p:cNvCxnSpPr>
            <a:stCxn id="24" idx="3"/>
            <a:endCxn id="27" idx="1"/>
          </p:cNvCxnSpPr>
          <p:nvPr/>
        </p:nvCxnSpPr>
        <p:spPr>
          <a:xfrm>
            <a:off x="7886791" y="4877458"/>
            <a:ext cx="40178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</p:cxnSp>
      <p:sp>
        <p:nvSpPr>
          <p:cNvPr id="39" name="Bent Arrow 38"/>
          <p:cNvSpPr/>
          <p:nvPr/>
        </p:nvSpPr>
        <p:spPr bwMode="auto">
          <a:xfrm rot="5400000">
            <a:off x="4122395" y="2489200"/>
            <a:ext cx="1968500" cy="1143000"/>
          </a:xfrm>
          <a:prstGeom prst="bentArrow">
            <a:avLst/>
          </a:prstGeom>
          <a:solidFill>
            <a:schemeClr val="bg1">
              <a:lumMod val="75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9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53" name="Connector: Elbow 49">
            <a:extLst>
              <a:ext uri="{FF2B5EF4-FFF2-40B4-BE49-F238E27FC236}">
                <a16:creationId xmlns:a16="http://schemas.microsoft.com/office/drawing/2014/main" id="{C43AE401-BE53-47DE-9FBA-4377DDAC4FEF}"/>
              </a:ext>
            </a:extLst>
          </p:cNvPr>
          <p:cNvCxnSpPr>
            <a:cxnSpLocks/>
            <a:stCxn id="22" idx="2"/>
            <a:endCxn id="65" idx="1"/>
          </p:cNvCxnSpPr>
          <p:nvPr/>
        </p:nvCxnSpPr>
        <p:spPr bwMode="auto">
          <a:xfrm rot="16200000" flipH="1">
            <a:off x="3266930" y="4435791"/>
            <a:ext cx="839085" cy="2304307"/>
          </a:xfrm>
          <a:prstGeom prst="bentConnector2">
            <a:avLst/>
          </a:prstGeom>
          <a:ln>
            <a:headEnd type="none" w="sm" len="sm"/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55" name="Connector: Elbow 55">
            <a:extLst>
              <a:ext uri="{FF2B5EF4-FFF2-40B4-BE49-F238E27FC236}">
                <a16:creationId xmlns:a16="http://schemas.microsoft.com/office/drawing/2014/main" id="{FC880DDF-7AB9-47C4-96B9-6D6E543D749B}"/>
              </a:ext>
            </a:extLst>
          </p:cNvPr>
          <p:cNvCxnSpPr>
            <a:cxnSpLocks/>
          </p:cNvCxnSpPr>
          <p:nvPr/>
        </p:nvCxnSpPr>
        <p:spPr bwMode="auto">
          <a:xfrm rot="16200000" flipH="1">
            <a:off x="6345851" y="5478607"/>
            <a:ext cx="585755" cy="2"/>
          </a:xfrm>
          <a:prstGeom prst="bentConnector3">
            <a:avLst>
              <a:gd name="adj1" fmla="val 50000"/>
            </a:avLst>
          </a:prstGeom>
          <a:ln>
            <a:headEnd type="none" w="sm" len="sm"/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56" name="Connector: Elbow 63">
            <a:extLst>
              <a:ext uri="{FF2B5EF4-FFF2-40B4-BE49-F238E27FC236}">
                <a16:creationId xmlns:a16="http://schemas.microsoft.com/office/drawing/2014/main" id="{0A0343F1-8891-4EB3-A88D-E7D982C4BB00}"/>
              </a:ext>
            </a:extLst>
          </p:cNvPr>
          <p:cNvCxnSpPr>
            <a:cxnSpLocks/>
            <a:stCxn id="27" idx="2"/>
            <a:endCxn id="65" idx="3"/>
          </p:cNvCxnSpPr>
          <p:nvPr/>
        </p:nvCxnSpPr>
        <p:spPr bwMode="auto">
          <a:xfrm rot="5400000">
            <a:off x="7617065" y="4426198"/>
            <a:ext cx="839085" cy="2323495"/>
          </a:xfrm>
          <a:prstGeom prst="bentConnector2">
            <a:avLst/>
          </a:prstGeom>
          <a:ln>
            <a:headEnd type="none" w="sm" len="sm"/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64" name="Connector: Elbow 55">
            <a:extLst>
              <a:ext uri="{FF2B5EF4-FFF2-40B4-BE49-F238E27FC236}">
                <a16:creationId xmlns:a16="http://schemas.microsoft.com/office/drawing/2014/main" id="{FC880DDF-7AB9-47C4-96B9-6D6E543D749B}"/>
              </a:ext>
            </a:extLst>
          </p:cNvPr>
          <p:cNvCxnSpPr>
            <a:cxnSpLocks/>
          </p:cNvCxnSpPr>
          <p:nvPr/>
        </p:nvCxnSpPr>
        <p:spPr bwMode="auto">
          <a:xfrm rot="16200000" flipH="1">
            <a:off x="4787300" y="5478607"/>
            <a:ext cx="585755" cy="2"/>
          </a:xfrm>
          <a:prstGeom prst="bentConnector3">
            <a:avLst>
              <a:gd name="adj1" fmla="val 50000"/>
            </a:avLst>
          </a:prstGeom>
          <a:ln>
            <a:headEnd type="none" w="sm" len="sm"/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sp>
        <p:nvSpPr>
          <p:cNvPr id="65" name="Rectangle: Rounded Corners 35">
            <a:extLst>
              <a:ext uri="{FF2B5EF4-FFF2-40B4-BE49-F238E27FC236}">
                <a16:creationId xmlns:a16="http://schemas.microsoft.com/office/drawing/2014/main" id="{FC07DB42-05F3-4DFB-BF60-1351EA9DAD0B}"/>
              </a:ext>
            </a:extLst>
          </p:cNvPr>
          <p:cNvSpPr/>
          <p:nvPr/>
        </p:nvSpPr>
        <p:spPr bwMode="auto">
          <a:xfrm>
            <a:off x="4838626" y="5776771"/>
            <a:ext cx="2036233" cy="461434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Aggregating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094692" y="1055973"/>
            <a:ext cx="30570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b="1" dirty="0" smtClean="0">
                <a:solidFill>
                  <a:schemeClr val="bg1"/>
                </a:solidFill>
              </a:rPr>
              <a:t>ISO Assessment System</a:t>
            </a:r>
            <a:endParaRPr lang="en-GB" sz="1800" b="1" dirty="0">
              <a:solidFill>
                <a:schemeClr val="bg1"/>
              </a:solidFill>
            </a:endParaRPr>
          </a:p>
        </p:txBody>
      </p:sp>
      <p:sp>
        <p:nvSpPr>
          <p:cNvPr id="69" name="TextBox 68"/>
          <p:cNvSpPr txBox="1"/>
          <p:nvPr/>
        </p:nvSpPr>
        <p:spPr>
          <a:xfrm>
            <a:off x="6638727" y="4110902"/>
            <a:ext cx="35692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b="1" dirty="0" smtClean="0">
                <a:solidFill>
                  <a:schemeClr val="bg1"/>
                </a:solidFill>
              </a:rPr>
              <a:t>Modified Assessment System</a:t>
            </a:r>
            <a:endParaRPr lang="en-GB" sz="18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336775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26349" y="1225594"/>
            <a:ext cx="12192000" cy="1245213"/>
          </a:xfrm>
        </p:spPr>
        <p:txBody>
          <a:bodyPr/>
          <a:lstStyle/>
          <a:p>
            <a:r>
              <a:rPr lang="en-US" dirty="0" smtClean="0"/>
              <a:t>Start with Business Capabilities</a:t>
            </a:r>
          </a:p>
          <a:p>
            <a:r>
              <a:rPr lang="en-US" dirty="0" smtClean="0"/>
              <a:t>Breakdown to the Business Processes</a:t>
            </a:r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Identify Business Processes</a:t>
            </a:r>
            <a:endParaRPr lang="en-GB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4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13960" y="3235056"/>
            <a:ext cx="3808343" cy="3034079"/>
          </a:xfrm>
          <a:prstGeom prst="rect">
            <a:avLst/>
          </a:prstGeom>
        </p:spPr>
      </p:pic>
      <p:grpSp>
        <p:nvGrpSpPr>
          <p:cNvPr id="16" name="Group 15"/>
          <p:cNvGrpSpPr/>
          <p:nvPr/>
        </p:nvGrpSpPr>
        <p:grpSpPr>
          <a:xfrm>
            <a:off x="474819" y="3697357"/>
            <a:ext cx="4533174" cy="2320806"/>
            <a:chOff x="770282" y="3815288"/>
            <a:chExt cx="5642379" cy="2888675"/>
          </a:xfrm>
        </p:grpSpPr>
        <p:pic>
          <p:nvPicPr>
            <p:cNvPr id="7" name="Picture 6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70282" y="3815288"/>
              <a:ext cx="1806575" cy="1200172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pic>
          <p:nvPicPr>
            <p:cNvPr id="8" name="Picture 7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770282" y="5148789"/>
              <a:ext cx="1806575" cy="1436478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pic>
          <p:nvPicPr>
            <p:cNvPr id="9" name="Picture 8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2687982" y="3815288"/>
              <a:ext cx="1812279" cy="1157845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pic>
          <p:nvPicPr>
            <p:cNvPr id="10" name="Picture 9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2687981" y="5148789"/>
              <a:ext cx="1812279" cy="1555174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pic>
          <p:nvPicPr>
            <p:cNvPr id="11" name="Picture 10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4611384" y="3815288"/>
              <a:ext cx="1801277" cy="1387046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C562DB3F-82ED-4BC2-9F2C-16CC9402AA36}"/>
              </a:ext>
            </a:extLst>
          </p:cNvPr>
          <p:cNvSpPr txBox="1"/>
          <p:nvPr/>
        </p:nvSpPr>
        <p:spPr>
          <a:xfrm>
            <a:off x="9121190" y="6328088"/>
            <a:ext cx="3070810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>
                <a:solidFill>
                  <a:schemeClr val="bg1"/>
                </a:solidFill>
              </a:rPr>
              <a:t>Reference: </a:t>
            </a:r>
            <a:endParaRPr lang="en-US" dirty="0" smtClean="0">
              <a:solidFill>
                <a:schemeClr val="bg1"/>
              </a:solidFill>
            </a:endParaRPr>
          </a:p>
          <a:p>
            <a:pPr algn="r"/>
            <a:r>
              <a:rPr lang="en-US" dirty="0" smtClean="0">
                <a:solidFill>
                  <a:schemeClr val="bg1"/>
                </a:solidFill>
              </a:rPr>
              <a:t>http://www.leanix.com</a:t>
            </a:r>
          </a:p>
          <a:p>
            <a:pPr algn="r"/>
            <a:r>
              <a:rPr lang="en-US" dirty="0">
                <a:solidFill>
                  <a:schemeClr val="bg1"/>
                </a:solidFill>
              </a:rPr>
              <a:t>https://</a:t>
            </a:r>
            <a:r>
              <a:rPr lang="en-US" dirty="0" smtClean="0">
                <a:solidFill>
                  <a:schemeClr val="bg1"/>
                </a:solidFill>
              </a:rPr>
              <a:t>www.apqc.org</a:t>
            </a: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10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rightnessContrast bright="-4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803377" y="3366340"/>
            <a:ext cx="4628638" cy="2228112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515924" y="2871150"/>
            <a:ext cx="2738019" cy="35635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792489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Identify Information Requirements</a:t>
            </a:r>
            <a:endParaRPr lang="en-GB" dirty="0"/>
          </a:p>
        </p:txBody>
      </p:sp>
      <p:sp>
        <p:nvSpPr>
          <p:cNvPr id="17" name="Rectangle 16"/>
          <p:cNvSpPr/>
          <p:nvPr/>
        </p:nvSpPr>
        <p:spPr>
          <a:xfrm>
            <a:off x="6463301" y="1741008"/>
            <a:ext cx="4583306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</a:rPr>
              <a:t>PEOPLE: Training, Certification, Skills, etc.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800" i="1" kern="0" noProof="0" dirty="0" smtClean="0">
                <a:solidFill>
                  <a:srgbClr val="FFFFFF"/>
                </a:solidFill>
              </a:rPr>
              <a:t>     EX: 2 Classes, 1 Certification = 3</a:t>
            </a:r>
            <a:endParaRPr kumimoji="0" lang="en-GB" sz="1800" b="0" i="1" u="none" strike="noStrike" kern="0" cap="none" spc="0" normalizeH="0" baseline="0" noProof="0" dirty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6477097" y="2405158"/>
            <a:ext cx="5239414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</a:rPr>
              <a:t>PROCESS: Business Instruction, User Guides,</a:t>
            </a:r>
            <a:r>
              <a:rPr kumimoji="0" lang="en-US" sz="1800" b="0" i="0" u="none" strike="noStrike" kern="0" cap="none" spc="0" normalizeH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</a:rPr>
              <a:t> Modeling Requirements, etc.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800" i="1" kern="0" baseline="0" dirty="0">
                <a:solidFill>
                  <a:srgbClr val="FFFFFF"/>
                </a:solidFill>
              </a:rPr>
              <a:t> </a:t>
            </a:r>
            <a:r>
              <a:rPr lang="en-US" sz="1800" i="1" kern="0" baseline="0" dirty="0" smtClean="0">
                <a:solidFill>
                  <a:srgbClr val="FFFFFF"/>
                </a:solidFill>
              </a:rPr>
              <a:t>    EX: 2 BI, 5 UG, 2 MR = 9</a:t>
            </a:r>
            <a:endParaRPr kumimoji="0" lang="en-GB" sz="1800" b="0" i="1" u="none" strike="noStrike" kern="0" cap="none" spc="0" normalizeH="0" baseline="0" noProof="0" dirty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6463301" y="3408870"/>
            <a:ext cx="525321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</a:rPr>
              <a:t>DATA: [Used in STEP 2]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</a:rPr>
              <a:t>Modeling Requirements that define the format of the information artifacts in the applications that comply with the industry standard</a:t>
            </a:r>
            <a:endParaRPr kumimoji="0" lang="en-GB" sz="1800" b="0" i="0" u="none" strike="noStrike" kern="0" cap="none" spc="0" normalizeH="0" baseline="0" noProof="0" dirty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6463302" y="4765783"/>
            <a:ext cx="525321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</a:rPr>
              <a:t>TOOLS: [Used in STEP 3] 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</a:rPr>
              <a:t>Software Applications used to create, manage or consume the information in the form of the data standard format</a:t>
            </a:r>
            <a:endParaRPr kumimoji="0" lang="en-GB" sz="1800" b="0" i="0" u="none" strike="noStrike" kern="0" cap="none" spc="0" normalizeH="0" baseline="0" noProof="0" dirty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</a:endParaRPr>
          </a:p>
        </p:txBody>
      </p:sp>
      <p:graphicFrame>
        <p:nvGraphicFramePr>
          <p:cNvPr id="23" name="Object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12141419"/>
              </p:ext>
            </p:extLst>
          </p:nvPr>
        </p:nvGraphicFramePr>
        <p:xfrm>
          <a:off x="481790" y="1741008"/>
          <a:ext cx="5581553" cy="217060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6" name="Worksheet" r:id="rId3" imgW="6343916" imgH="2466748" progId="Excel.Sheet.12">
                  <p:embed/>
                </p:oleObj>
              </mc:Choice>
              <mc:Fallback>
                <p:oleObj name="Worksheet" r:id="rId3" imgW="6343916" imgH="2466748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81790" y="1741008"/>
                        <a:ext cx="5581553" cy="2170604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80104994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Identify the Tool Chain Requirements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5500672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Identify Industry/Supplier Requirements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2909365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FBD2C4-A698-3C44-9638-C5F19555F0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9D3325-E9F1-8547-9671-BDDB3A7EFA9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1F49C22-400B-734B-B34D-C2024534C830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165372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3C4B22F-BFF6-462B-943F-8596AA9B6F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29BC173-DD70-4F4B-9A84-56F2781ED5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0" y="1169988"/>
            <a:ext cx="11915192" cy="1799210"/>
          </a:xfrm>
        </p:spPr>
        <p:txBody>
          <a:bodyPr/>
          <a:lstStyle/>
          <a:p>
            <a:r>
              <a:rPr lang="en-US" sz="1200" dirty="0"/>
              <a:t>ISO/DIS 22549-1:2019, Automation Systems and Integration – Assessment on Convergence of Information and Industrialization for Industrial Enterprises Part 1: Framework and Reference Model</a:t>
            </a:r>
          </a:p>
          <a:p>
            <a:endParaRPr lang="en-US" sz="1200" dirty="0"/>
          </a:p>
          <a:p>
            <a:r>
              <a:rPr lang="en-US" sz="1200" dirty="0"/>
              <a:t>ISO/CD 22549-2:2019, Automation Systems and Integration – Assessment on Convergence of Information and Industrialization for Industrial Enterprises Part 2: Maturity Model and Evaluation Methodology</a:t>
            </a:r>
          </a:p>
          <a:p>
            <a:endParaRPr lang="en-US" sz="1200" dirty="0"/>
          </a:p>
          <a:p>
            <a:r>
              <a:rPr lang="en-US" sz="1200" dirty="0"/>
              <a:t>ISO 15704, Industrial Automation Systems – Requirements for Enterprise-Reference Architectures and Methodologies</a:t>
            </a:r>
          </a:p>
        </p:txBody>
      </p:sp>
    </p:spTree>
    <p:extLst>
      <p:ext uri="{BB962C8B-B14F-4D97-AF65-F5344CB8AC3E}">
        <p14:creationId xmlns:p14="http://schemas.microsoft.com/office/powerpoint/2010/main" val="3683577453"/>
      </p:ext>
    </p:extLst>
  </p:cSld>
  <p:clrMapOvr>
    <a:masterClrMapping/>
  </p:clrMapOvr>
</p:sld>
</file>

<file path=ppt/theme/theme1.xml><?xml version="1.0" encoding="utf-8"?>
<a:theme xmlns:a="http://schemas.openxmlformats.org/drawingml/2006/main" name="ssd4mt04">
  <a:themeElements>
    <a:clrScheme name="ssd4mt04 1">
      <a:dk1>
        <a:srgbClr val="000000"/>
      </a:dk1>
      <a:lt1>
        <a:srgbClr val="FFFFFF"/>
      </a:lt1>
      <a:dk2>
        <a:srgbClr val="006B3F"/>
      </a:dk2>
      <a:lt2>
        <a:srgbClr val="A6A49E"/>
      </a:lt2>
      <a:accent1>
        <a:srgbClr val="A32638"/>
      </a:accent1>
      <a:accent2>
        <a:srgbClr val="0038A8"/>
      </a:accent2>
      <a:accent3>
        <a:srgbClr val="FFFFFF"/>
      </a:accent3>
      <a:accent4>
        <a:srgbClr val="000000"/>
      </a:accent4>
      <a:accent5>
        <a:srgbClr val="CEACAE"/>
      </a:accent5>
      <a:accent6>
        <a:srgbClr val="003298"/>
      </a:accent6>
      <a:hlink>
        <a:srgbClr val="3A75C4"/>
      </a:hlink>
      <a:folHlink>
        <a:srgbClr val="7F6689"/>
      </a:folHlink>
    </a:clrScheme>
    <a:fontScheme name="ssd4mt04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solidFill>
            <a:srgbClr val="000000"/>
          </a:solidFill>
          <a:prstDash val="solid"/>
          <a:round/>
          <a:headEnd type="none" w="sm" len="sm"/>
          <a:tailEnd type="none" w="sm" len="sm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9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solidFill>
            <a:srgbClr val="000000"/>
          </a:solidFill>
          <a:prstDash val="solid"/>
          <a:round/>
          <a:headEnd type="none" w="sm" len="sm"/>
          <a:tailEnd type="none" w="sm" len="sm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9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ssd4mt04 1">
        <a:dk1>
          <a:srgbClr val="000000"/>
        </a:dk1>
        <a:lt1>
          <a:srgbClr val="FFFFFF"/>
        </a:lt1>
        <a:dk2>
          <a:srgbClr val="006B3F"/>
        </a:dk2>
        <a:lt2>
          <a:srgbClr val="A6A49E"/>
        </a:lt2>
        <a:accent1>
          <a:srgbClr val="A32638"/>
        </a:accent1>
        <a:accent2>
          <a:srgbClr val="0038A8"/>
        </a:accent2>
        <a:accent3>
          <a:srgbClr val="FFFFFF"/>
        </a:accent3>
        <a:accent4>
          <a:srgbClr val="000000"/>
        </a:accent4>
        <a:accent5>
          <a:srgbClr val="CEACAE"/>
        </a:accent5>
        <a:accent6>
          <a:srgbClr val="003298"/>
        </a:accent6>
        <a:hlink>
          <a:srgbClr val="3A75C4"/>
        </a:hlink>
        <a:folHlink>
          <a:srgbClr val="7F6689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F3FAACB45D5BC439EC1DFC57ECB12B0" ma:contentTypeVersion="0" ma:contentTypeDescription="Create a new document." ma:contentTypeScope="" ma:versionID="5c13edb67fa247ac7baf6d1e78167169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c64490b4aec6201516c3a874156f37b2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1B8C7F6B-4992-4AAE-AD38-5D4F5B814904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0259753E-307B-4C93-BBB6-F1AAD8AE0AB9}">
  <ds:schemaRefs>
    <ds:schemaRef ds:uri="http://purl.org/dc/terms/"/>
    <ds:schemaRef ds:uri="http://schemas.microsoft.com/office/2006/documentManagement/types"/>
    <ds:schemaRef ds:uri="http://purl.org/dc/elements/1.1/"/>
    <ds:schemaRef ds:uri="http://schemas.microsoft.com/office/infopath/2007/PartnerControls"/>
    <ds:schemaRef ds:uri="http://purl.org/dc/dcmitype/"/>
    <ds:schemaRef ds:uri="http://schemas.openxmlformats.org/package/2006/metadata/core-properties"/>
    <ds:schemaRef ds:uri="http://schemas.microsoft.com/office/2006/metadata/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EAC93E3E-CAB0-4A88-B8D1-160E772ACF8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BT_IT_Template</Template>
  <TotalTime>7864</TotalTime>
  <Words>1099</Words>
  <Application>Microsoft Office PowerPoint</Application>
  <PresentationFormat>Widescreen</PresentationFormat>
  <Paragraphs>242</Paragraphs>
  <Slides>19</Slides>
  <Notes>3</Notes>
  <HiddenSlides>0</HiddenSlides>
  <MMClips>0</MMClips>
  <ScaleCrop>false</ScaleCrop>
  <HeadingPairs>
    <vt:vector size="8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Arial</vt:lpstr>
      <vt:lpstr>Times New Roman</vt:lpstr>
      <vt:lpstr>ssd4mt04</vt:lpstr>
      <vt:lpstr>Microsoft Excel Worksheet</vt:lpstr>
      <vt:lpstr>A Framework for Data Standard Readiness  </vt:lpstr>
      <vt:lpstr>Bio?</vt:lpstr>
      <vt:lpstr>PowerPoint Presentation</vt:lpstr>
      <vt:lpstr>PowerPoint Presentation</vt:lpstr>
      <vt:lpstr>PowerPoint Presentation</vt:lpstr>
      <vt:lpstr>Industry Framework</vt:lpstr>
      <vt:lpstr>PowerPoint Presentation</vt:lpstr>
      <vt:lpstr>PowerPoint Presentation</vt:lpstr>
      <vt:lpstr>Maturity Model Definitions</vt:lpstr>
      <vt:lpstr>Assessment Method</vt:lpstr>
      <vt:lpstr>Breakdown of Activities and Sample Questions</vt:lpstr>
      <vt:lpstr>Modified Assessment Model</vt:lpstr>
      <vt:lpstr>Modified Assessment System</vt:lpstr>
      <vt:lpstr>Identify Business Processes</vt:lpstr>
      <vt:lpstr>Identify Information Requirements</vt:lpstr>
      <vt:lpstr>Identify the Tool Chain Requirements</vt:lpstr>
      <vt:lpstr>Identify Industry/Supplier Requirements</vt:lpstr>
      <vt:lpstr>Summary</vt:lpstr>
      <vt:lpstr>References</vt:lpstr>
    </vt:vector>
  </TitlesOfParts>
  <Company>The Boeing Company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Terrence J. McGowan</dc:creator>
  <cp:lastModifiedBy>Sapp (US), Brandon</cp:lastModifiedBy>
  <cp:revision>239</cp:revision>
  <dcterms:created xsi:type="dcterms:W3CDTF">2005-09-16T18:06:48Z</dcterms:created>
  <dcterms:modified xsi:type="dcterms:W3CDTF">2019-09-15T19:34:08Z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0x0101001F3FAACB45D5BC439EC1DFC57ECB12B0</vt:lpwstr>
  </property>
</Properties>
</file>