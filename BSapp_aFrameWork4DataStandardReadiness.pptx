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9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9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9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9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9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9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9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9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9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48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6" autoAdjust="0"/>
    <p:restoredTop sz="86716" autoAdjust="0"/>
  </p:normalViewPr>
  <p:slideViewPr>
    <p:cSldViewPr snapToGrid="0">
      <p:cViewPr varScale="1">
        <p:scale>
          <a:sx n="88" d="100"/>
          <a:sy n="88" d="100"/>
        </p:scale>
        <p:origin x="96" y="24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61" d="100"/>
          <a:sy n="61" d="100"/>
        </p:scale>
        <p:origin x="-1992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0" hangingPunct="0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0" hangingPunct="0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0AC8278F-E0F5-465C-9FE0-7A2C6BF635B1}" type="datetimeFigureOut">
              <a:rPr lang="en-US"/>
              <a:pPr>
                <a:defRPr/>
              </a:pPr>
              <a:t>7/31/2019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0" hangingPunct="0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0" hangingPunct="0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90C8B092-9789-463B-B611-E9473CC7ED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2498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24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smtClean="0"/>
              <a:t>Click to 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</a:p>
        </p:txBody>
      </p:sp>
      <p:sp>
        <p:nvSpPr>
          <p:cNvPr id="1024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4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F180046C-CA53-4229-907E-97AF4669782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76784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-22371" y="10963"/>
            <a:ext cx="12192000" cy="687070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9000">
                <a:schemeClr val="accent2">
                  <a:lumMod val="95000"/>
                  <a:lumOff val="5000"/>
                </a:schemeClr>
              </a:gs>
              <a:gs pos="90000">
                <a:schemeClr val="accent2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9525">
            <a:noFill/>
            <a:miter lim="800000"/>
            <a:headEnd type="none" w="sm" len="sm"/>
            <a:tailEnd type="none" w="sm" len="sm"/>
          </a:ln>
          <a:effectLst>
            <a:softEdge rad="0"/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900"/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4654550"/>
            <a:ext cx="12192000" cy="220345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45000">
                <a:schemeClr val="accent2">
                  <a:lumMod val="95000"/>
                  <a:lumOff val="5000"/>
                </a:schemeClr>
              </a:gs>
              <a:gs pos="90000">
                <a:schemeClr val="accent2">
                  <a:lumMod val="60000"/>
                </a:schemeClr>
              </a:gs>
            </a:gsLst>
            <a:lin ang="13500000" scaled="1"/>
            <a:tileRect/>
          </a:gradFill>
          <a:ln w="9525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900"/>
          </a:p>
        </p:txBody>
      </p:sp>
      <p:sp>
        <p:nvSpPr>
          <p:cNvPr id="6" name="Round Single Corner Rectangle 5"/>
          <p:cNvSpPr/>
          <p:nvPr userDrawn="1"/>
        </p:nvSpPr>
        <p:spPr bwMode="auto">
          <a:xfrm flipH="1" flipV="1">
            <a:off x="7247466" y="0"/>
            <a:ext cx="4944533" cy="6394450"/>
          </a:xfrm>
          <a:prstGeom prst="round1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900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ctrTitle" sz="quarter"/>
          </p:nvPr>
        </p:nvSpPr>
        <p:spPr>
          <a:xfrm>
            <a:off x="114587" y="234634"/>
            <a:ext cx="5729323" cy="2816156"/>
          </a:xfrm>
        </p:spPr>
        <p:txBody>
          <a:bodyPr tIns="457200" bIns="45720" anchor="t"/>
          <a:lstStyle>
            <a:lvl1pPr>
              <a:lnSpc>
                <a:spcPts val="6000"/>
              </a:lnSpc>
              <a:defRPr sz="60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0" y="5027614"/>
            <a:ext cx="5958496" cy="425758"/>
          </a:xfrm>
        </p:spPr>
        <p:txBody>
          <a:bodyPr tIns="45720" bIns="45720"/>
          <a:lstStyle>
            <a:lvl1pPr marL="0" indent="0">
              <a:lnSpc>
                <a:spcPts val="2600"/>
              </a:lnSpc>
              <a:buFontTx/>
              <a:buNone/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8041360" y="6398455"/>
            <a:ext cx="41167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 smtClean="0"/>
              <a:t>.</a:t>
            </a:r>
          </a:p>
          <a:p>
            <a:pPr algn="r">
              <a:defRPr/>
            </a:pPr>
            <a:r>
              <a:rPr lang="en-US" sz="600" dirty="0" smtClean="0"/>
              <a:t>GPDIS_2019.ppt | </a:t>
            </a:r>
            <a:fld id="{722087BA-F621-4EFD-97B4-BCAE5C7FA24B}" type="slidenum">
              <a:rPr lang="en-US" sz="600" smtClean="0"/>
              <a:pPr algn="r">
                <a:defRPr/>
              </a:pPr>
              <a:t>‹#›</a:t>
            </a:fld>
            <a:endParaRPr lang="en-US" sz="600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977" y="-20497"/>
            <a:ext cx="4922162" cy="3989362"/>
          </a:xfrm>
          <a:prstGeom prst="rect">
            <a:avLst/>
          </a:prstGeom>
          <a:effectLst>
            <a:reflection stA="47000" endPos="58000" dir="5400000" sy="-100000" algn="bl" rotWithShape="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2291653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56425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3592575"/>
            <a:ext cx="10363200" cy="81432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169988"/>
            <a:ext cx="5994400" cy="271022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69988"/>
            <a:ext cx="5994400" cy="271022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2"/>
          <p:cNvSpPr>
            <a:spLocks noChangeArrowheads="1"/>
          </p:cNvSpPr>
          <p:nvPr/>
        </p:nvSpPr>
        <p:spPr bwMode="auto">
          <a:xfrm>
            <a:off x="0" y="1"/>
            <a:ext cx="12192000" cy="1209675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46000">
                <a:schemeClr val="accent2">
                  <a:lumMod val="95000"/>
                  <a:lumOff val="5000"/>
                </a:schemeClr>
              </a:gs>
              <a:gs pos="100000">
                <a:schemeClr val="accent2">
                  <a:lumMod val="60000"/>
                </a:schemeClr>
              </a:gs>
            </a:gsLst>
            <a:lin ang="13500000" scaled="1"/>
            <a:tileRect/>
          </a:gradFill>
          <a:ln w="9525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eaLnBrk="0" hangingPunct="0">
              <a:defRPr/>
            </a:pPr>
            <a:endParaRPr lang="en-US" sz="900"/>
          </a:p>
        </p:txBody>
      </p:sp>
      <p:sp>
        <p:nvSpPr>
          <p:cNvPr id="1027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26349" y="1225594"/>
            <a:ext cx="12192000" cy="1552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457200" rIns="457200" bIns="4445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 smtClean="0"/>
              <a:t>Body Text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</p:txBody>
      </p:sp>
      <p:sp>
        <p:nvSpPr>
          <p:cNvPr id="12" name="Rectangle 11"/>
          <p:cNvSpPr/>
          <p:nvPr/>
        </p:nvSpPr>
        <p:spPr bwMode="auto">
          <a:xfrm>
            <a:off x="0" y="830237"/>
            <a:ext cx="12192000" cy="388938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88000">
                <a:schemeClr val="accent2">
                  <a:lumMod val="95000"/>
                  <a:lumOff val="5000"/>
                </a:schemeClr>
              </a:gs>
              <a:gs pos="100000">
                <a:schemeClr val="accent2">
                  <a:lumMod val="60000"/>
                </a:schemeClr>
              </a:gs>
            </a:gsLst>
            <a:lin ang="13500000" scaled="1"/>
            <a:tileRect/>
          </a:gradFill>
          <a:ln w="9525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900"/>
          </a:p>
        </p:txBody>
      </p:sp>
      <p:sp>
        <p:nvSpPr>
          <p:cNvPr id="1030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0" y="193329"/>
            <a:ext cx="12192000" cy="564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228600" rIns="45720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 smtClean="0"/>
              <a:t>Slide Title</a:t>
            </a:r>
          </a:p>
        </p:txBody>
      </p:sp>
      <p:sp>
        <p:nvSpPr>
          <p:cNvPr id="5127" name="Text Box 7"/>
          <p:cNvSpPr txBox="1">
            <a:spLocks noChangeArrowheads="1"/>
          </p:cNvSpPr>
          <p:nvPr/>
        </p:nvSpPr>
        <p:spPr bwMode="auto">
          <a:xfrm>
            <a:off x="0" y="852489"/>
            <a:ext cx="12192000" cy="274637"/>
          </a:xfrm>
          <a:prstGeom prst="rect">
            <a:avLst/>
          </a:prstGeom>
          <a:noFill/>
          <a:ln w="9525">
            <a:noFill/>
            <a:miter lim="800000"/>
            <a:headEnd type="none" w="sm" len="sm"/>
            <a:tailEnd type="none" w="sm" len="sm"/>
          </a:ln>
          <a:effectLst/>
        </p:spPr>
        <p:txBody>
          <a:bodyPr lIns="432000" rIns="457200">
            <a:spAutoFit/>
          </a:bodyPr>
          <a:lstStyle/>
          <a:p>
            <a:pPr eaLnBrk="0" hangingPunct="0">
              <a:spcBef>
                <a:spcPct val="50000"/>
              </a:spcBef>
              <a:defRPr/>
            </a:pPr>
            <a:r>
              <a:rPr lang="en-US" sz="1200" dirty="0">
                <a:solidFill>
                  <a:schemeClr val="bg1"/>
                </a:solidFill>
              </a:rPr>
              <a:t>Global Product Data Interoperability Summit | </a:t>
            </a:r>
            <a:r>
              <a:rPr lang="en-US" sz="1200" b="1" dirty="0" smtClean="0">
                <a:solidFill>
                  <a:schemeClr val="bg1"/>
                </a:solidFill>
              </a:rPr>
              <a:t>2019</a:t>
            </a:r>
            <a:endParaRPr lang="en-US" sz="1200" b="1" dirty="0">
              <a:solidFill>
                <a:schemeClr val="bg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493304" y="6334781"/>
            <a:ext cx="36986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 smtClean="0"/>
              <a:t>.</a:t>
            </a:r>
          </a:p>
          <a:p>
            <a:pPr algn="r">
              <a:defRPr/>
            </a:pPr>
            <a:r>
              <a:rPr lang="en-US" sz="600" dirty="0" smtClean="0"/>
              <a:t>GPDIS_2019.ppt | </a:t>
            </a:r>
            <a:fld id="{722087BA-F621-4EFD-97B4-BCAE5C7FA24B}" type="slidenum">
              <a:rPr lang="en-US" sz="600" smtClean="0"/>
              <a:pPr algn="r">
                <a:defRPr/>
              </a:pPr>
              <a:t>‹#›</a:t>
            </a:fld>
            <a:endParaRPr lang="en-US" sz="600" dirty="0"/>
          </a:p>
        </p:txBody>
      </p:sp>
      <p:cxnSp>
        <p:nvCxnSpPr>
          <p:cNvPr id="11" name="Straight Connector 10"/>
          <p:cNvCxnSpPr/>
          <p:nvPr/>
        </p:nvCxnSpPr>
        <p:spPr bwMode="auto">
          <a:xfrm>
            <a:off x="0" y="6345239"/>
            <a:ext cx="12192000" cy="1587"/>
          </a:xfrm>
          <a:prstGeom prst="line">
            <a:avLst/>
          </a:prstGeom>
          <a:ln w="635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88" y="6396264"/>
            <a:ext cx="2163605" cy="43103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2" r:id="rId3"/>
    <p:sldLayoutId id="2147483667" r:id="rId4"/>
    <p:sldLayoutId id="2147483663" r:id="rId5"/>
    <p:sldLayoutId id="2147483664" r:id="rId6"/>
  </p:sldLayoutIdLst>
  <p:timing>
    <p:tnLst>
      <p:par>
        <p:cTn id="1" dur="indefinite" restart="never" nodeType="tmRoot"/>
      </p:par>
    </p:tnLst>
  </p:timing>
  <p:hf hdr="0" dt="0"/>
  <p:txStyles>
    <p:titleStyle>
      <a:lvl1pPr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+mj-lt"/>
          <a:ea typeface="+mj-ea"/>
          <a:cs typeface="+mj-cs"/>
        </a:defRPr>
      </a:lvl1pPr>
      <a:lvl2pPr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2pPr>
      <a:lvl3pPr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3pPr>
      <a:lvl4pPr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4pPr>
      <a:lvl5pPr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5pPr>
      <a:lvl6pPr marL="457200"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6pPr>
      <a:lvl7pPr marL="914400"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7pPr>
      <a:lvl8pPr marL="1371600"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8pPr>
      <a:lvl9pPr marL="1828800"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9pPr>
    </p:titleStyle>
    <p:bodyStyle>
      <a:lvl1pPr marL="0" indent="0" algn="l" defTabSz="885825" rtl="0" eaLnBrk="0" fontAlgn="base" hangingPunct="0">
        <a:spcBef>
          <a:spcPct val="0"/>
        </a:spcBef>
        <a:spcAft>
          <a:spcPct val="0"/>
        </a:spcAft>
        <a:buClr>
          <a:schemeClr val="accent2"/>
        </a:buClr>
        <a:buFontTx/>
        <a:buNone/>
        <a:defRPr sz="2400" b="1">
          <a:solidFill>
            <a:schemeClr val="bg1"/>
          </a:solidFill>
          <a:latin typeface="+mn-lt"/>
          <a:ea typeface="+mn-ea"/>
          <a:cs typeface="+mn-cs"/>
        </a:defRPr>
      </a:lvl1pPr>
      <a:lvl2pPr marL="454025" indent="0" algn="l" defTabSz="885825" rtl="0" eaLnBrk="0" fontAlgn="base" hangingPunct="0">
        <a:spcBef>
          <a:spcPct val="0"/>
        </a:spcBef>
        <a:spcAft>
          <a:spcPct val="0"/>
        </a:spcAft>
        <a:buClr>
          <a:schemeClr val="accent2"/>
        </a:buClr>
        <a:buFontTx/>
        <a:buNone/>
        <a:defRPr sz="2000" b="1">
          <a:solidFill>
            <a:schemeClr val="bg1"/>
          </a:solidFill>
          <a:latin typeface="+mn-lt"/>
        </a:defRPr>
      </a:lvl2pPr>
      <a:lvl3pPr marL="922338" indent="0" algn="l" defTabSz="885825" rtl="0" eaLnBrk="0" fontAlgn="base" hangingPunct="0">
        <a:spcBef>
          <a:spcPct val="0"/>
        </a:spcBef>
        <a:spcAft>
          <a:spcPct val="0"/>
        </a:spcAft>
        <a:buClr>
          <a:schemeClr val="accent2"/>
        </a:buClr>
        <a:buFontTx/>
        <a:buNone/>
        <a:defRPr sz="2400" b="1">
          <a:solidFill>
            <a:schemeClr val="bg1"/>
          </a:solidFill>
          <a:latin typeface="+mn-lt"/>
        </a:defRPr>
      </a:lvl3pPr>
      <a:lvl4pPr marL="1712913" indent="-228600" algn="l" defTabSz="885825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18" charset="0"/>
        </a:defRPr>
      </a:lvl4pPr>
      <a:lvl5pPr marL="2057400" indent="-228600" algn="l" defTabSz="88582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imes New Roman" pitchFamily="18" charset="0"/>
        </a:defRPr>
      </a:lvl5pPr>
      <a:lvl6pPr marL="2514600" indent="-228600" algn="l" defTabSz="88582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imes New Roman" pitchFamily="18" charset="0"/>
        </a:defRPr>
      </a:lvl6pPr>
      <a:lvl7pPr marL="2971800" indent="-228600" algn="l" defTabSz="88582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imes New Roman" pitchFamily="18" charset="0"/>
        </a:defRPr>
      </a:lvl7pPr>
      <a:lvl8pPr marL="3429000" indent="-228600" algn="l" defTabSz="88582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imes New Roman" pitchFamily="18" charset="0"/>
        </a:defRPr>
      </a:lvl8pPr>
      <a:lvl9pPr marL="3886200" indent="-228600" algn="l" defTabSz="88582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imes New Roman" pitchFamily="18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>
          <a:xfrm>
            <a:off x="114587" y="234634"/>
            <a:ext cx="6692613" cy="3486660"/>
          </a:xfrm>
        </p:spPr>
        <p:txBody>
          <a:bodyPr/>
          <a:lstStyle/>
          <a:p>
            <a:r>
              <a:rPr lang="en-US" dirty="0" smtClean="0"/>
              <a:t>A Framework for Data Standard Readiness </a:t>
            </a:r>
            <a:br>
              <a:rPr lang="en-US" dirty="0" smtClean="0"/>
            </a:br>
            <a:r>
              <a:rPr lang="en-US" sz="3200" dirty="0" smtClean="0"/>
              <a:t>- </a:t>
            </a:r>
            <a:r>
              <a:rPr lang="en-US" sz="3200" i="1" dirty="0" smtClean="0"/>
              <a:t>using AP242 as a Case Study</a:t>
            </a:r>
            <a:endParaRPr lang="en-US" sz="3200" i="1" dirty="0"/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en-US" dirty="0" smtClean="0"/>
              <a:t>Brandon Sapp - Boeing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97360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-22810" y="262154"/>
            <a:ext cx="9144000" cy="564257"/>
          </a:xfrm>
        </p:spPr>
        <p:txBody>
          <a:bodyPr/>
          <a:lstStyle/>
          <a:p>
            <a:r>
              <a:rPr lang="en-US" dirty="0" smtClean="0"/>
              <a:t>Who am I??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2722540"/>
          </a:xfrm>
        </p:spPr>
        <p:txBody>
          <a:bodyPr/>
          <a:lstStyle/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smtClean="0"/>
              <a:t>Engineering Technical Specialist @ Boeing Commercial Airplanes</a:t>
            </a: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smtClean="0"/>
              <a:t>PDES Resource for development of STEP and </a:t>
            </a:r>
            <a:r>
              <a:rPr lang="en-US" dirty="0" err="1" smtClean="0"/>
              <a:t>MBx</a:t>
            </a:r>
            <a:r>
              <a:rPr lang="en-US" dirty="0" smtClean="0"/>
              <a:t> User Group Co-Leader</a:t>
            </a: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smtClean="0"/>
              <a:t>US TAG SME to ISO TC184/SC4</a:t>
            </a: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smtClean="0"/>
              <a:t>A&amp;D PAG MBD Leader</a:t>
            </a: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smtClean="0"/>
              <a:t>SME to ASME MBE Support Group</a:t>
            </a:r>
          </a:p>
          <a:p>
            <a:r>
              <a:rPr 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85914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1614545"/>
          </a:xfrm>
        </p:spPr>
        <p:txBody>
          <a:bodyPr/>
          <a:lstStyle/>
          <a:p>
            <a:r>
              <a:rPr lang="en-US" dirty="0" smtClean="0"/>
              <a:t>What is a data standard readiness assessment?</a:t>
            </a:r>
          </a:p>
          <a:p>
            <a:r>
              <a:rPr lang="en-US" dirty="0" smtClean="0"/>
              <a:t>Why do I need to assess my readiness to implement data standards?</a:t>
            </a:r>
          </a:p>
          <a:p>
            <a:r>
              <a:rPr lang="en-US" dirty="0" smtClean="0"/>
              <a:t>How do I assess my readiness to implement data standards?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 bwMode="auto">
          <a:xfrm>
            <a:off x="-22810" y="262154"/>
            <a:ext cx="9144000" cy="564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228600" rIns="457200" bIns="0" numCol="1" anchor="ctr" anchorCtr="0" compatLnSpc="1">
            <a:prstTxWarp prst="textNoShape">
              <a:avLst/>
            </a:prstTxWarp>
            <a:spAutoFit/>
          </a:bodyPr>
          <a:lstStyle>
            <a:lvl1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2pPr>
            <a:lvl3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3pPr>
            <a:lvl4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4pPr>
            <a:lvl5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5pPr>
            <a:lvl6pPr marL="4572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6pPr>
            <a:lvl7pPr marL="9144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7pPr>
            <a:lvl8pPr marL="13716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8pPr>
            <a:lvl9pPr marL="18288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9pPr>
          </a:lstStyle>
          <a:p>
            <a:r>
              <a:rPr lang="en-US" kern="0" dirty="0" smtClean="0"/>
              <a:t>Presentation Overview</a:t>
            </a:r>
            <a:endParaRPr lang="en-US" kern="0" dirty="0"/>
          </a:p>
        </p:txBody>
      </p:sp>
    </p:spTree>
    <p:extLst>
      <p:ext uri="{BB962C8B-B14F-4D97-AF65-F5344CB8AC3E}">
        <p14:creationId xmlns:p14="http://schemas.microsoft.com/office/powerpoint/2010/main" val="4123709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875881"/>
          </a:xfrm>
        </p:spPr>
        <p:txBody>
          <a:bodyPr/>
          <a:lstStyle/>
          <a:p>
            <a:r>
              <a:rPr lang="en-US" dirty="0" smtClean="0"/>
              <a:t>Enterprise Assessing System</a:t>
            </a:r>
            <a:endParaRPr lang="en-GB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0171" y="3362720"/>
            <a:ext cx="7125001" cy="286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215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875881"/>
          </a:xfrm>
        </p:spPr>
        <p:txBody>
          <a:bodyPr/>
          <a:lstStyle/>
          <a:p>
            <a:r>
              <a:rPr lang="en-US" dirty="0" smtClean="0"/>
              <a:t>Industrial Enterprise Assessment Framework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49" y="3331877"/>
            <a:ext cx="5772525" cy="235046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5570" y="3092281"/>
            <a:ext cx="3930515" cy="282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922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875881"/>
          </a:xfrm>
        </p:spPr>
        <p:txBody>
          <a:bodyPr/>
          <a:lstStyle/>
          <a:p>
            <a:r>
              <a:rPr lang="en-US" dirty="0" smtClean="0"/>
              <a:t>Enterprise Assessing System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57" y="2561860"/>
            <a:ext cx="3866566" cy="307693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4514" y="2646644"/>
            <a:ext cx="2405140" cy="290736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6345" y="3106146"/>
            <a:ext cx="2680627" cy="1498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958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875881"/>
          </a:xfrm>
        </p:spPr>
        <p:txBody>
          <a:bodyPr/>
          <a:lstStyle/>
          <a:p>
            <a:r>
              <a:rPr lang="en-US" dirty="0" smtClean="0"/>
              <a:t>Enterprise Assessing System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056" y="2587974"/>
            <a:ext cx="5082429" cy="297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963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875881"/>
          </a:xfrm>
        </p:spPr>
        <p:txBody>
          <a:bodyPr/>
          <a:lstStyle/>
          <a:p>
            <a:r>
              <a:rPr lang="en-US" dirty="0" smtClean="0"/>
              <a:t>Questionnaire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374" y="2823482"/>
            <a:ext cx="72199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289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761" y="1135516"/>
            <a:ext cx="7181850" cy="561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839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81" y="2569028"/>
            <a:ext cx="4272522" cy="292240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515" y="3079477"/>
            <a:ext cx="3874633" cy="2524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340897"/>
      </p:ext>
    </p:extLst>
  </p:cSld>
  <p:clrMapOvr>
    <a:masterClrMapping/>
  </p:clrMapOvr>
</p:sld>
</file>

<file path=ppt/theme/theme1.xml><?xml version="1.0" encoding="utf-8"?>
<a:theme xmlns:a="http://schemas.openxmlformats.org/drawingml/2006/main" name="ssd4mt04">
  <a:themeElements>
    <a:clrScheme name="ssd4mt04 1">
      <a:dk1>
        <a:srgbClr val="000000"/>
      </a:dk1>
      <a:lt1>
        <a:srgbClr val="FFFFFF"/>
      </a:lt1>
      <a:dk2>
        <a:srgbClr val="006B3F"/>
      </a:dk2>
      <a:lt2>
        <a:srgbClr val="A6A49E"/>
      </a:lt2>
      <a:accent1>
        <a:srgbClr val="A32638"/>
      </a:accent1>
      <a:accent2>
        <a:srgbClr val="0038A8"/>
      </a:accent2>
      <a:accent3>
        <a:srgbClr val="FFFFFF"/>
      </a:accent3>
      <a:accent4>
        <a:srgbClr val="000000"/>
      </a:accent4>
      <a:accent5>
        <a:srgbClr val="CEACAE"/>
      </a:accent5>
      <a:accent6>
        <a:srgbClr val="003298"/>
      </a:accent6>
      <a:hlink>
        <a:srgbClr val="3A75C4"/>
      </a:hlink>
      <a:folHlink>
        <a:srgbClr val="7F6689"/>
      </a:folHlink>
    </a:clrScheme>
    <a:fontScheme name="ssd4mt0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000000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9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000000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9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sd4mt04 1">
        <a:dk1>
          <a:srgbClr val="000000"/>
        </a:dk1>
        <a:lt1>
          <a:srgbClr val="FFFFFF"/>
        </a:lt1>
        <a:dk2>
          <a:srgbClr val="006B3F"/>
        </a:dk2>
        <a:lt2>
          <a:srgbClr val="A6A49E"/>
        </a:lt2>
        <a:accent1>
          <a:srgbClr val="A32638"/>
        </a:accent1>
        <a:accent2>
          <a:srgbClr val="0038A8"/>
        </a:accent2>
        <a:accent3>
          <a:srgbClr val="FFFFFF"/>
        </a:accent3>
        <a:accent4>
          <a:srgbClr val="000000"/>
        </a:accent4>
        <a:accent5>
          <a:srgbClr val="CEACAE"/>
        </a:accent5>
        <a:accent6>
          <a:srgbClr val="003298"/>
        </a:accent6>
        <a:hlink>
          <a:srgbClr val="3A75C4"/>
        </a:hlink>
        <a:folHlink>
          <a:srgbClr val="7F668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F3FAACB45D5BC439EC1DFC57ECB12B0" ma:contentTypeVersion="0" ma:contentTypeDescription="Create a new document." ma:contentTypeScope="" ma:versionID="5c13edb67fa247ac7baf6d1e78167169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64490b4aec6201516c3a874156f37b2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AC93E3E-CAB0-4A88-B8D1-160E772ACF8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0259753E-307B-4C93-BBB6-F1AAD8AE0AB9}">
  <ds:schemaRefs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1B8C7F6B-4992-4AAE-AD38-5D4F5B81490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BT_IT_Template</Template>
  <TotalTime>6659</TotalTime>
  <Words>97</Words>
  <Application>Microsoft Office PowerPoint</Application>
  <PresentationFormat>Widescreen</PresentationFormat>
  <Paragraphs>18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Times New Roman</vt:lpstr>
      <vt:lpstr>ssd4mt04</vt:lpstr>
      <vt:lpstr>A Framework for Data Standard Readiness  - using AP242 as a Case Study</vt:lpstr>
      <vt:lpstr>Who am I??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The Boeing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Terrence J. McGowan</dc:creator>
  <cp:lastModifiedBy>Sapp (US), Brandon</cp:lastModifiedBy>
  <cp:revision>194</cp:revision>
  <dcterms:created xsi:type="dcterms:W3CDTF">2005-09-16T18:06:48Z</dcterms:created>
  <dcterms:modified xsi:type="dcterms:W3CDTF">2019-07-31T22:01:37Z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0x0101001F3FAACB45D5BC439EC1DFC57ECB12B0</vt:lpwstr>
  </property>
</Properties>
</file>