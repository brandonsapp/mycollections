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7" r:id="rId6"/>
    <p:sldId id="258" r:id="rId7"/>
    <p:sldId id="267" r:id="rId8"/>
    <p:sldId id="268" r:id="rId9"/>
    <p:sldId id="269" r:id="rId10"/>
    <p:sldId id="261" r:id="rId11"/>
    <p:sldId id="264" r:id="rId12"/>
    <p:sldId id="265" r:id="rId13"/>
    <p:sldId id="271" r:id="rId14"/>
    <p:sldId id="270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9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9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9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9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48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6" autoAdjust="0"/>
    <p:restoredTop sz="86716" autoAdjust="0"/>
  </p:normalViewPr>
  <p:slideViewPr>
    <p:cSldViewPr snapToGrid="0">
      <p:cViewPr varScale="1">
        <p:scale>
          <a:sx n="95" d="100"/>
          <a:sy n="95" d="100"/>
        </p:scale>
        <p:origin x="96" y="14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41" d="100"/>
          <a:sy n="141" d="100"/>
        </p:scale>
        <p:origin x="5544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Product Design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radarChart>
        <c:radarStyle val="fill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cat>
            <c:strRef>
              <c:f>Sheet1!$A$1:$A$8</c:f>
              <c:strCache>
                <c:ptCount val="8"/>
                <c:pt idx="0">
                  <c:v>Product Design</c:v>
                </c:pt>
                <c:pt idx="1">
                  <c:v>Environment Analysis</c:v>
                </c:pt>
                <c:pt idx="2">
                  <c:v>Commodity Planning</c:v>
                </c:pt>
                <c:pt idx="3">
                  <c:v>Design Automation</c:v>
                </c:pt>
                <c:pt idx="4">
                  <c:v>BOM/Parts Management</c:v>
                </c:pt>
                <c:pt idx="5">
                  <c:v>Engineering Change Management</c:v>
                </c:pt>
                <c:pt idx="6">
                  <c:v>Prototyping</c:v>
                </c:pt>
                <c:pt idx="7">
                  <c:v>Advance Quality Management</c:v>
                </c:pt>
              </c:strCache>
            </c:strRef>
          </c:cat>
          <c:val>
            <c:numRef>
              <c:f>Sheet1!$B$1:$B$8</c:f>
              <c:numCache>
                <c:formatCode>General</c:formatCode>
                <c:ptCount val="8"/>
                <c:pt idx="1">
                  <c:v>3</c:v>
                </c:pt>
                <c:pt idx="2">
                  <c:v>3</c:v>
                </c:pt>
                <c:pt idx="3">
                  <c:v>4</c:v>
                </c:pt>
                <c:pt idx="4">
                  <c:v>3</c:v>
                </c:pt>
                <c:pt idx="5">
                  <c:v>4</c:v>
                </c:pt>
                <c:pt idx="6">
                  <c:v>3</c:v>
                </c:pt>
                <c:pt idx="7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94-45A2-8E91-99E58D6AF9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4673200"/>
        <c:axId val="114863344"/>
      </c:radarChart>
      <c:catAx>
        <c:axId val="1146732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863344"/>
        <c:crosses val="autoZero"/>
        <c:auto val="1"/>
        <c:lblAlgn val="ctr"/>
        <c:lblOffset val="100"/>
        <c:noMultiLvlLbl val="0"/>
      </c:catAx>
      <c:valAx>
        <c:axId val="114863344"/>
        <c:scaling>
          <c:orientation val="minMax"/>
          <c:max val="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6732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0" hangingPunct="0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0" hangingPunct="0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0AC8278F-E0F5-465C-9FE0-7A2C6BF635B1}" type="datetimeFigureOut">
              <a:rPr lang="en-US"/>
              <a:pPr>
                <a:defRPr/>
              </a:pPr>
              <a:t>9/2/2019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0" hangingPunct="0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0" hangingPunct="0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90C8B092-9789-463B-B611-E9473CC7ED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2498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24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2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F180046C-CA53-4229-907E-97AF4669782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76784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— for assessing the current situation of CII,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— for finding weakness within the CII,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— for identifying ways to improve CII.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180046C-CA53-4229-907E-97AF4669782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045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-22371" y="10963"/>
            <a:ext cx="12214370" cy="684703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9000">
                <a:schemeClr val="accent2">
                  <a:lumMod val="95000"/>
                  <a:lumOff val="5000"/>
                </a:schemeClr>
              </a:gs>
              <a:gs pos="9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9525">
            <a:noFill/>
            <a:miter lim="800000"/>
            <a:headEnd type="none" w="sm" len="sm"/>
            <a:tailEnd type="none" w="sm" len="sm"/>
          </a:ln>
          <a:effectLst>
            <a:softEdge rad="0"/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900"/>
          </a:p>
        </p:txBody>
      </p:sp>
      <p:sp>
        <p:nvSpPr>
          <p:cNvPr id="6" name="Round Single Corner Rectangle 5"/>
          <p:cNvSpPr/>
          <p:nvPr userDrawn="1"/>
        </p:nvSpPr>
        <p:spPr bwMode="auto">
          <a:xfrm flipH="1" flipV="1">
            <a:off x="7247466" y="0"/>
            <a:ext cx="4944533" cy="6394450"/>
          </a:xfrm>
          <a:prstGeom prst="round1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900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ctrTitle" sz="quarter"/>
          </p:nvPr>
        </p:nvSpPr>
        <p:spPr>
          <a:xfrm>
            <a:off x="114587" y="234634"/>
            <a:ext cx="5729323" cy="2816156"/>
          </a:xfrm>
        </p:spPr>
        <p:txBody>
          <a:bodyPr tIns="457200" bIns="45720" anchor="t"/>
          <a:lstStyle>
            <a:lvl1pPr>
              <a:lnSpc>
                <a:spcPts val="6000"/>
              </a:lnSpc>
              <a:defRPr sz="60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0" y="5027614"/>
            <a:ext cx="5958496" cy="425758"/>
          </a:xfrm>
        </p:spPr>
        <p:txBody>
          <a:bodyPr tIns="45720" bIns="45720"/>
          <a:lstStyle>
            <a:lvl1pPr marL="0" indent="0">
              <a:lnSpc>
                <a:spcPts val="2600"/>
              </a:lnSpc>
              <a:buFontTx/>
              <a:buNone/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838" y="0"/>
            <a:ext cx="4922162" cy="3989362"/>
          </a:xfrm>
          <a:prstGeom prst="rect">
            <a:avLst/>
          </a:prstGeom>
          <a:effectLst>
            <a:reflection stA="47000" endPos="44000" dir="5400000" sy="-100000" algn="bl" rotWithShape="0"/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DFE479C-6AD6-43BC-A39F-E167054FAD3C}"/>
              </a:ext>
            </a:extLst>
          </p:cNvPr>
          <p:cNvSpPr txBox="1"/>
          <p:nvPr userDrawn="1"/>
        </p:nvSpPr>
        <p:spPr>
          <a:xfrm>
            <a:off x="8493304" y="6622204"/>
            <a:ext cx="369869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/>
                </a:solidFill>
              </a:rPr>
              <a:t>Sapp-aFramework4DSreadiness.ppt | </a:t>
            </a:r>
            <a:fld id="{722087BA-F621-4EFD-97B4-BCAE5C7FA24B}" type="slidenum">
              <a:rPr lang="en-US" sz="600" smtClean="0">
                <a:solidFill>
                  <a:schemeClr val="bg1"/>
                </a:solidFill>
              </a:rPr>
              <a:pPr algn="r">
                <a:defRPr/>
              </a:pPr>
              <a:t>‹#›</a:t>
            </a:fld>
            <a:endParaRPr lang="en-US" sz="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229165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56425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3592575"/>
            <a:ext cx="10363200" cy="81432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169988"/>
            <a:ext cx="5994400" cy="271022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69988"/>
            <a:ext cx="5994400" cy="271022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2"/>
          <p:cNvSpPr>
            <a:spLocks noChangeArrowheads="1"/>
          </p:cNvSpPr>
          <p:nvPr/>
        </p:nvSpPr>
        <p:spPr bwMode="auto">
          <a:xfrm>
            <a:off x="0" y="1"/>
            <a:ext cx="12192000" cy="727709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46000">
                <a:schemeClr val="accent2">
                  <a:lumMod val="95000"/>
                  <a:lumOff val="5000"/>
                </a:schemeClr>
              </a:gs>
              <a:gs pos="100000">
                <a:schemeClr val="accent2">
                  <a:lumMod val="60000"/>
                </a:schemeClr>
              </a:gs>
            </a:gsLst>
            <a:lin ang="13500000" scaled="1"/>
            <a:tileRect/>
          </a:gradFill>
          <a:ln w="9525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eaLnBrk="0" hangingPunct="0">
              <a:defRPr/>
            </a:pPr>
            <a:endParaRPr lang="en-US" sz="900"/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6349" y="1225594"/>
            <a:ext cx="12192000" cy="1552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457200" rIns="457200" bIns="4445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Body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30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0" y="2829"/>
            <a:ext cx="12192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Slide Title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3304" y="6622204"/>
            <a:ext cx="369869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/>
                </a:solidFill>
              </a:rPr>
              <a:t>Sapp-aFramework4DSreadiness.ppt | </a:t>
            </a:r>
            <a:fld id="{722087BA-F621-4EFD-97B4-BCAE5C7FA24B}" type="slidenum">
              <a:rPr lang="en-US" sz="600" smtClean="0">
                <a:solidFill>
                  <a:schemeClr val="bg1"/>
                </a:solidFill>
              </a:rPr>
              <a:pPr algn="r">
                <a:defRPr/>
              </a:pPr>
              <a:t>‹#›</a:t>
            </a:fld>
            <a:endParaRPr lang="en-US" sz="600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2" r:id="rId3"/>
    <p:sldLayoutId id="2147483667" r:id="rId4"/>
    <p:sldLayoutId id="2147483663" r:id="rId5"/>
    <p:sldLayoutId id="2147483664" r:id="rId6"/>
  </p:sldLayoutIdLst>
  <p:hf hdr="0" dt="0"/>
  <p:txStyles>
    <p:titleStyle>
      <a:lvl1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+mj-lt"/>
          <a:ea typeface="+mj-ea"/>
          <a:cs typeface="+mj-cs"/>
        </a:defRPr>
      </a:lvl1pPr>
      <a:lvl2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2pPr>
      <a:lvl3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3pPr>
      <a:lvl4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4pPr>
      <a:lvl5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5pPr>
      <a:lvl6pPr marL="457200"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6pPr>
      <a:lvl7pPr marL="914400"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7pPr>
      <a:lvl8pPr marL="1371600"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8pPr>
      <a:lvl9pPr marL="1828800"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9pPr>
    </p:titleStyle>
    <p:bodyStyle>
      <a:lvl1pPr marL="0" indent="0" algn="l" defTabSz="885825" rtl="0" eaLnBrk="0" fontAlgn="base" hangingPunct="0">
        <a:spcBef>
          <a:spcPct val="0"/>
        </a:spcBef>
        <a:spcAft>
          <a:spcPct val="0"/>
        </a:spcAft>
        <a:buClr>
          <a:schemeClr val="accent2"/>
        </a:buClr>
        <a:buFontTx/>
        <a:buNone/>
        <a:defRPr sz="2400" b="1">
          <a:solidFill>
            <a:schemeClr val="bg1"/>
          </a:solidFill>
          <a:latin typeface="+mn-lt"/>
          <a:ea typeface="+mn-ea"/>
          <a:cs typeface="+mn-cs"/>
        </a:defRPr>
      </a:lvl1pPr>
      <a:lvl2pPr marL="454025" indent="0" algn="l" defTabSz="885825" rtl="0" eaLnBrk="0" fontAlgn="base" hangingPunct="0">
        <a:spcBef>
          <a:spcPct val="0"/>
        </a:spcBef>
        <a:spcAft>
          <a:spcPct val="0"/>
        </a:spcAft>
        <a:buClr>
          <a:schemeClr val="accent2"/>
        </a:buClr>
        <a:buFontTx/>
        <a:buNone/>
        <a:defRPr sz="2000" b="1">
          <a:solidFill>
            <a:schemeClr val="bg1"/>
          </a:solidFill>
          <a:latin typeface="+mn-lt"/>
        </a:defRPr>
      </a:lvl2pPr>
      <a:lvl3pPr marL="922338" indent="0" algn="l" defTabSz="885825" rtl="0" eaLnBrk="0" fontAlgn="base" hangingPunct="0">
        <a:spcBef>
          <a:spcPct val="0"/>
        </a:spcBef>
        <a:spcAft>
          <a:spcPct val="0"/>
        </a:spcAft>
        <a:buClr>
          <a:schemeClr val="accent2"/>
        </a:buClr>
        <a:buFontTx/>
        <a:buNone/>
        <a:defRPr sz="2400" b="1">
          <a:solidFill>
            <a:schemeClr val="bg1"/>
          </a:solidFill>
          <a:latin typeface="+mn-lt"/>
        </a:defRPr>
      </a:lvl3pPr>
      <a:lvl4pPr marL="1712913" indent="-228600" algn="l" defTabSz="885825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18" charset="0"/>
        </a:defRPr>
      </a:lvl4pPr>
      <a:lvl5pPr marL="20574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5pPr>
      <a:lvl6pPr marL="25146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6pPr>
      <a:lvl7pPr marL="29718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7pPr>
      <a:lvl8pPr marL="34290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8pPr>
      <a:lvl9pPr marL="38862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>
          <a:xfrm>
            <a:off x="114587" y="234634"/>
            <a:ext cx="6692613" cy="3486660"/>
          </a:xfrm>
        </p:spPr>
        <p:txBody>
          <a:bodyPr/>
          <a:lstStyle/>
          <a:p>
            <a:r>
              <a:rPr lang="en-US" dirty="0"/>
              <a:t>A Framework for Data Standard Readiness </a:t>
            </a:r>
            <a:br>
              <a:rPr lang="en-US" dirty="0"/>
            </a:br>
            <a:endParaRPr lang="en-US" sz="3200" i="1" dirty="0"/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en-US" dirty="0"/>
              <a:t>Brandon Sapp - Boeing</a:t>
            </a:r>
          </a:p>
        </p:txBody>
      </p:sp>
    </p:spTree>
    <p:extLst>
      <p:ext uri="{BB962C8B-B14F-4D97-AF65-F5344CB8AC3E}">
        <p14:creationId xmlns:p14="http://schemas.microsoft.com/office/powerpoint/2010/main" val="3519736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9144000" cy="564257"/>
          </a:xfrm>
        </p:spPr>
        <p:txBody>
          <a:bodyPr/>
          <a:lstStyle/>
          <a:p>
            <a:r>
              <a:rPr lang="en-US" dirty="0"/>
              <a:t>Who Dis 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3091872"/>
          </a:xfrm>
        </p:spPr>
        <p:txBody>
          <a:bodyPr/>
          <a:lstStyle/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Engineering Technical Specialist @ Boeing Commercial Airplanes</a:t>
            </a:r>
          </a:p>
          <a:p>
            <a:pPr marL="796925" lvl="1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18 Years @ Boeing / 3 years PLM Consultant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US TAG Designated Expert to ISO TC184/SC4 and SC5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PDES </a:t>
            </a:r>
            <a:r>
              <a:rPr lang="en-US" dirty="0" err="1"/>
              <a:t>MBx</a:t>
            </a:r>
            <a:r>
              <a:rPr lang="en-US" dirty="0"/>
              <a:t> User Group Co-Leader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A&amp;D PAG MBD Leader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ASME MBE Support Group</a:t>
            </a:r>
          </a:p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18591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1614545"/>
          </a:xfrm>
        </p:spPr>
        <p:txBody>
          <a:bodyPr/>
          <a:lstStyle/>
          <a:p>
            <a:r>
              <a:rPr lang="en-US" dirty="0"/>
              <a:t>Problem Statement</a:t>
            </a:r>
          </a:p>
          <a:p>
            <a:r>
              <a:rPr lang="en-US" dirty="0"/>
              <a:t>Causes/Effects</a:t>
            </a:r>
          </a:p>
          <a:p>
            <a:r>
              <a:rPr lang="en-US" dirty="0"/>
              <a:t>Solution – Framework for Assessing Readiness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 bwMode="auto">
          <a:xfrm>
            <a:off x="0" y="0"/>
            <a:ext cx="9144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>
            <a:lvl1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2pPr>
            <a:lvl3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3pPr>
            <a:lvl4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4pPr>
            <a:lvl5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5pPr>
            <a:lvl6pPr marL="4572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6pPr>
            <a:lvl7pPr marL="9144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7pPr>
            <a:lvl8pPr marL="13716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8pPr>
            <a:lvl9pPr marL="18288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9pPr>
          </a:lstStyle>
          <a:p>
            <a:r>
              <a:rPr lang="en-US" kern="0" dirty="0"/>
              <a:t>Presentation Overview</a:t>
            </a:r>
          </a:p>
        </p:txBody>
      </p:sp>
    </p:spTree>
    <p:extLst>
      <p:ext uri="{BB962C8B-B14F-4D97-AF65-F5344CB8AC3E}">
        <p14:creationId xmlns:p14="http://schemas.microsoft.com/office/powerpoint/2010/main" val="4123709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1983876"/>
          </a:xfrm>
        </p:spPr>
        <p:txBody>
          <a:bodyPr/>
          <a:lstStyle/>
          <a:p>
            <a:r>
              <a:rPr lang="en-US" dirty="0"/>
              <a:t>Many organizations fail to realize the full and complete benefits of using industry data standards because they have not or inappropriately implemented them.</a:t>
            </a:r>
          </a:p>
          <a:p>
            <a:endParaRPr lang="en-US" dirty="0"/>
          </a:p>
        </p:txBody>
      </p:sp>
      <p:sp>
        <p:nvSpPr>
          <p:cNvPr id="5" name="Title 1"/>
          <p:cNvSpPr txBox="1">
            <a:spLocks/>
          </p:cNvSpPr>
          <p:nvPr/>
        </p:nvSpPr>
        <p:spPr bwMode="auto">
          <a:xfrm>
            <a:off x="0" y="0"/>
            <a:ext cx="9144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>
            <a:lvl1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2pPr>
            <a:lvl3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3pPr>
            <a:lvl4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4pPr>
            <a:lvl5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5pPr>
            <a:lvl6pPr marL="4572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6pPr>
            <a:lvl7pPr marL="9144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7pPr>
            <a:lvl8pPr marL="13716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8pPr>
            <a:lvl9pPr marL="18288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9pPr>
          </a:lstStyle>
          <a:p>
            <a:r>
              <a:rPr lang="en-US" kern="0" dirty="0"/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811869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1614545"/>
          </a:xfrm>
        </p:spPr>
        <p:txBody>
          <a:bodyPr/>
          <a:lstStyle/>
          <a:p>
            <a:r>
              <a:rPr lang="en-US" sz="1800" dirty="0"/>
              <a:t>Cause 1: Knowledge of data standard’s intended use is lacking</a:t>
            </a:r>
          </a:p>
          <a:p>
            <a:r>
              <a:rPr lang="en-US" sz="1800" dirty="0"/>
              <a:t>Cause 2: Inadequate tools to create/consume the data standard</a:t>
            </a:r>
          </a:p>
          <a:p>
            <a:r>
              <a:rPr lang="en-US" sz="1800" dirty="0"/>
              <a:t>Cause 3: Data Standards do not support my business needs [usually a myth]</a:t>
            </a:r>
          </a:p>
          <a:p>
            <a:r>
              <a:rPr lang="en-US" sz="1800" dirty="0"/>
              <a:t>Cause n: …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 bwMode="auto">
          <a:xfrm>
            <a:off x="0" y="0"/>
            <a:ext cx="9144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>
            <a:lvl1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2pPr>
            <a:lvl3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3pPr>
            <a:lvl4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4pPr>
            <a:lvl5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5pPr>
            <a:lvl6pPr marL="4572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6pPr>
            <a:lvl7pPr marL="9144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7pPr>
            <a:lvl8pPr marL="13716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8pPr>
            <a:lvl9pPr marL="18288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9pPr>
          </a:lstStyle>
          <a:p>
            <a:r>
              <a:rPr lang="en-US" kern="0" dirty="0"/>
              <a:t>Causes/Effects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5F619A73-1F05-46E8-8F9C-9663DFF1609D}"/>
              </a:ext>
            </a:extLst>
          </p:cNvPr>
          <p:cNvSpPr txBox="1">
            <a:spLocks/>
          </p:cNvSpPr>
          <p:nvPr/>
        </p:nvSpPr>
        <p:spPr bwMode="auto">
          <a:xfrm>
            <a:off x="0" y="3210589"/>
            <a:ext cx="12192000" cy="13375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457200" rIns="457200" bIns="44450" numCol="1" anchor="t" anchorCtr="0" compatLnSpc="1">
            <a:prstTxWarp prst="textNoShape">
              <a:avLst/>
            </a:prstTxWarp>
            <a:spAutoFit/>
          </a:bodyPr>
          <a:lstStyle>
            <a:lvl1pPr marL="0" indent="0" algn="l" defTabSz="885825" rtl="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FontTx/>
              <a:buNone/>
              <a:defRPr sz="2400" b="1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4025" indent="0" algn="l" defTabSz="885825" rtl="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FontTx/>
              <a:buNone/>
              <a:defRPr sz="2000" b="1">
                <a:solidFill>
                  <a:schemeClr val="bg1"/>
                </a:solidFill>
                <a:latin typeface="+mn-lt"/>
              </a:defRPr>
            </a:lvl2pPr>
            <a:lvl3pPr marL="922338" indent="0" algn="l" defTabSz="885825" rtl="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FontTx/>
              <a:buNone/>
              <a:defRPr sz="2400" b="1">
                <a:solidFill>
                  <a:schemeClr val="bg1"/>
                </a:solidFill>
                <a:latin typeface="+mn-lt"/>
              </a:defRPr>
            </a:lvl3pPr>
            <a:lvl4pPr marL="1712913" indent="-228600" algn="l" defTabSz="885825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algn="l" defTabSz="885825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algn="l" defTabSz="885825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algn="l" defTabSz="885825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algn="l" defTabSz="885825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algn="l" defTabSz="885825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800" kern="0" dirty="0"/>
              <a:t>Effect 1: Missing data in exchange leading to bad decisions and rework</a:t>
            </a:r>
          </a:p>
          <a:p>
            <a:r>
              <a:rPr lang="en-US" sz="1800" kern="0" dirty="0"/>
              <a:t>Effect 2: Increase cost by mandating common processes and tools across supply chain</a:t>
            </a:r>
          </a:p>
          <a:p>
            <a:r>
              <a:rPr lang="en-US" sz="1800" kern="0" dirty="0"/>
              <a:t>Effect n: …</a:t>
            </a:r>
          </a:p>
        </p:txBody>
      </p:sp>
    </p:spTree>
    <p:extLst>
      <p:ext uri="{BB962C8B-B14F-4D97-AF65-F5344CB8AC3E}">
        <p14:creationId xmlns:p14="http://schemas.microsoft.com/office/powerpoint/2010/main" val="4104450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286470C9-1BDC-46D4-B6F4-C3D74A465943}"/>
              </a:ext>
            </a:extLst>
          </p:cNvPr>
          <p:cNvCxnSpPr>
            <a:cxnSpLocks/>
            <a:stCxn id="6" idx="0"/>
            <a:endCxn id="29" idx="0"/>
          </p:cNvCxnSpPr>
          <p:nvPr/>
        </p:nvCxnSpPr>
        <p:spPr bwMode="auto">
          <a:xfrm rot="16200000" flipH="1" flipV="1">
            <a:off x="5297931" y="498465"/>
            <a:ext cx="186266" cy="4079465"/>
          </a:xfrm>
          <a:prstGeom prst="bentConnector3">
            <a:avLst>
              <a:gd name="adj1" fmla="val -122728"/>
            </a:avLst>
          </a:prstGeom>
          <a:ln>
            <a:miter lim="800000"/>
            <a:headEnd type="none" w="sm" len="sm"/>
            <a:tailEnd type="oval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" name="Title 1"/>
          <p:cNvSpPr txBox="1">
            <a:spLocks/>
          </p:cNvSpPr>
          <p:nvPr/>
        </p:nvSpPr>
        <p:spPr bwMode="auto">
          <a:xfrm>
            <a:off x="0" y="0"/>
            <a:ext cx="9144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>
            <a:lvl1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2pPr>
            <a:lvl3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3pPr>
            <a:lvl4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4pPr>
            <a:lvl5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5pPr>
            <a:lvl6pPr marL="4572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6pPr>
            <a:lvl7pPr marL="9144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7pPr>
            <a:lvl8pPr marL="13716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8pPr>
            <a:lvl9pPr marL="18288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9pPr>
          </a:lstStyle>
          <a:p>
            <a:r>
              <a:rPr lang="en-US" kern="0" dirty="0"/>
              <a:t>Overview of Assessment Framework</a:t>
            </a: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A2ED2858-92D5-402E-98FF-AF6DA5E8C06F}"/>
              </a:ext>
            </a:extLst>
          </p:cNvPr>
          <p:cNvCxnSpPr>
            <a:cxnSpLocks/>
            <a:stCxn id="19" idx="3"/>
            <a:endCxn id="7" idx="3"/>
          </p:cNvCxnSpPr>
          <p:nvPr/>
        </p:nvCxnSpPr>
        <p:spPr bwMode="auto">
          <a:xfrm flipH="1">
            <a:off x="10007600" y="3566898"/>
            <a:ext cx="292101" cy="495300"/>
          </a:xfrm>
          <a:prstGeom prst="bentConnector3">
            <a:avLst>
              <a:gd name="adj1" fmla="val -78261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C7E070A7-C8EA-40FC-B28B-F4BE4D1B111C}"/>
              </a:ext>
            </a:extLst>
          </p:cNvPr>
          <p:cNvCxnSpPr>
            <a:cxnSpLocks/>
            <a:stCxn id="19" idx="3"/>
            <a:endCxn id="8" idx="3"/>
          </p:cNvCxnSpPr>
          <p:nvPr/>
        </p:nvCxnSpPr>
        <p:spPr bwMode="auto">
          <a:xfrm flipH="1">
            <a:off x="9118600" y="3566898"/>
            <a:ext cx="1181101" cy="990600"/>
          </a:xfrm>
          <a:prstGeom prst="bentConnector3">
            <a:avLst>
              <a:gd name="adj1" fmla="val -19355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4A74468C-B445-4411-A0F8-37C840059547}"/>
              </a:ext>
            </a:extLst>
          </p:cNvPr>
          <p:cNvSpPr/>
          <p:nvPr/>
        </p:nvSpPr>
        <p:spPr bwMode="auto">
          <a:xfrm>
            <a:off x="6362701" y="2445065"/>
            <a:ext cx="2136190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Industrial Enterprise Assessment Framework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D9AE46-E31C-4986-A351-E091629BE1AE}"/>
              </a:ext>
            </a:extLst>
          </p:cNvPr>
          <p:cNvSpPr/>
          <p:nvPr/>
        </p:nvSpPr>
        <p:spPr bwMode="auto">
          <a:xfrm>
            <a:off x="7675033" y="3858998"/>
            <a:ext cx="2332567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Evaluation Questionnaires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30616B-A5B9-44BF-889B-F93AF5115FA0}"/>
              </a:ext>
            </a:extLst>
          </p:cNvPr>
          <p:cNvSpPr/>
          <p:nvPr/>
        </p:nvSpPr>
        <p:spPr bwMode="auto">
          <a:xfrm>
            <a:off x="7675033" y="4354298"/>
            <a:ext cx="1443567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Maturity Model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ADBBA9-39D1-4E27-B82A-2F05C48421F2}"/>
              </a:ext>
            </a:extLst>
          </p:cNvPr>
          <p:cNvSpPr/>
          <p:nvPr/>
        </p:nvSpPr>
        <p:spPr bwMode="auto">
          <a:xfrm>
            <a:off x="7675033" y="3363698"/>
            <a:ext cx="2624668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Assessment Reference Model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D8C5DEE4-5A11-46F7-B982-7142F1D66A3D}"/>
              </a:ext>
            </a:extLst>
          </p:cNvPr>
          <p:cNvCxnSpPr>
            <a:cxnSpLocks/>
            <a:stCxn id="19" idx="1"/>
            <a:endCxn id="6" idx="2"/>
          </p:cNvCxnSpPr>
          <p:nvPr/>
        </p:nvCxnSpPr>
        <p:spPr bwMode="auto">
          <a:xfrm rot="10800000">
            <a:off x="7430797" y="3092766"/>
            <a:ext cx="244237" cy="474133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E171FDC-4C51-407D-AFA2-B29B52CBED59}"/>
              </a:ext>
            </a:extLst>
          </p:cNvPr>
          <p:cNvCxnSpPr>
            <a:cxnSpLocks/>
            <a:stCxn id="7" idx="1"/>
            <a:endCxn id="6" idx="2"/>
          </p:cNvCxnSpPr>
          <p:nvPr/>
        </p:nvCxnSpPr>
        <p:spPr bwMode="auto">
          <a:xfrm rot="10800000">
            <a:off x="7430797" y="3092766"/>
            <a:ext cx="244237" cy="969433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13EBA77D-7955-4C9D-81A5-BB0EA156A0C2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 bwMode="auto">
          <a:xfrm rot="10800000">
            <a:off x="7430797" y="3092766"/>
            <a:ext cx="244237" cy="1464733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E2B6593-DD91-4F8B-B83F-486236B39213}"/>
              </a:ext>
            </a:extLst>
          </p:cNvPr>
          <p:cNvSpPr/>
          <p:nvPr/>
        </p:nvSpPr>
        <p:spPr bwMode="auto">
          <a:xfrm>
            <a:off x="2333214" y="2631331"/>
            <a:ext cx="2036233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Enterprise Assessing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85E367F-4533-4CF4-8501-24FD57A1EB8A}"/>
              </a:ext>
            </a:extLst>
          </p:cNvPr>
          <p:cNvSpPr/>
          <p:nvPr/>
        </p:nvSpPr>
        <p:spPr bwMode="auto">
          <a:xfrm>
            <a:off x="394521" y="3539380"/>
            <a:ext cx="1353022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Infrastructure 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CII Level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AD12DBA-F547-4BD0-B4B7-6BA1D26CFD4A}"/>
              </a:ext>
            </a:extLst>
          </p:cNvPr>
          <p:cNvSpPr/>
          <p:nvPr/>
        </p:nvSpPr>
        <p:spPr bwMode="auto">
          <a:xfrm>
            <a:off x="1910055" y="3539380"/>
            <a:ext cx="1353022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Domain Application 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CII Level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B5502A3-582C-4F85-9753-13BBC9F98E15}"/>
              </a:ext>
            </a:extLst>
          </p:cNvPr>
          <p:cNvSpPr/>
          <p:nvPr/>
        </p:nvSpPr>
        <p:spPr bwMode="auto">
          <a:xfrm>
            <a:off x="3425589" y="3539380"/>
            <a:ext cx="1353022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Comprehensive CII Level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D7667C7-B728-4328-9A1C-698DFEC09D55}"/>
              </a:ext>
            </a:extLst>
          </p:cNvPr>
          <p:cNvSpPr/>
          <p:nvPr/>
        </p:nvSpPr>
        <p:spPr bwMode="auto">
          <a:xfrm>
            <a:off x="4941123" y="3539380"/>
            <a:ext cx="1353022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Collaborative Integration 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CII Level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C07DB42-05F3-4DFB-BF60-1351EA9DAD0B}"/>
              </a:ext>
            </a:extLst>
          </p:cNvPr>
          <p:cNvSpPr/>
          <p:nvPr/>
        </p:nvSpPr>
        <p:spPr bwMode="auto">
          <a:xfrm>
            <a:off x="2333213" y="4633695"/>
            <a:ext cx="2036233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Aggregating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BA49764-221F-42E0-A335-7B9D6C778FF6}"/>
              </a:ext>
            </a:extLst>
          </p:cNvPr>
          <p:cNvSpPr/>
          <p:nvPr/>
        </p:nvSpPr>
        <p:spPr bwMode="auto">
          <a:xfrm>
            <a:off x="2629545" y="5605247"/>
            <a:ext cx="1443567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Extend of CII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83422CD1-2B3F-4746-8049-3BF03D020A5E}"/>
              </a:ext>
            </a:extLst>
          </p:cNvPr>
          <p:cNvCxnSpPr>
            <a:cxnSpLocks/>
            <a:stCxn id="29" idx="1"/>
            <a:endCxn id="30" idx="0"/>
          </p:cNvCxnSpPr>
          <p:nvPr/>
        </p:nvCxnSpPr>
        <p:spPr bwMode="auto">
          <a:xfrm rot="10800000" flipV="1">
            <a:off x="1071032" y="2862048"/>
            <a:ext cx="1262182" cy="677332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40E26C69-8ECA-4F72-9549-A8D2926D8277}"/>
              </a:ext>
            </a:extLst>
          </p:cNvPr>
          <p:cNvCxnSpPr>
            <a:cxnSpLocks/>
            <a:stCxn id="29" idx="3"/>
            <a:endCxn id="35" idx="0"/>
          </p:cNvCxnSpPr>
          <p:nvPr/>
        </p:nvCxnSpPr>
        <p:spPr bwMode="auto">
          <a:xfrm>
            <a:off x="4369447" y="2862048"/>
            <a:ext cx="1248187" cy="677332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AB1F65B-9908-4162-84F9-4EA45014DE00}"/>
              </a:ext>
            </a:extLst>
          </p:cNvPr>
          <p:cNvCxnSpPr>
            <a:cxnSpLocks/>
            <a:endCxn id="33" idx="0"/>
          </p:cNvCxnSpPr>
          <p:nvPr/>
        </p:nvCxnSpPr>
        <p:spPr bwMode="auto">
          <a:xfrm rot="5400000">
            <a:off x="2366435" y="3319247"/>
            <a:ext cx="440265" cy="1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D239EAE-7452-4E7F-9A2F-BFA8BAB32C8C}"/>
              </a:ext>
            </a:extLst>
          </p:cNvPr>
          <p:cNvCxnSpPr>
            <a:cxnSpLocks/>
            <a:endCxn id="34" idx="0"/>
          </p:cNvCxnSpPr>
          <p:nvPr/>
        </p:nvCxnSpPr>
        <p:spPr bwMode="auto">
          <a:xfrm rot="16200000" flipH="1">
            <a:off x="3881967" y="3319246"/>
            <a:ext cx="440265" cy="1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C43AE401-BE53-47DE-9FBA-4377DDAC4FEF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 bwMode="auto">
          <a:xfrm rot="16200000" flipH="1">
            <a:off x="1363456" y="3894655"/>
            <a:ext cx="677332" cy="1262181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3F689B8-8DB5-4C5E-B5E4-8F9AF4DAA18F}"/>
              </a:ext>
            </a:extLst>
          </p:cNvPr>
          <p:cNvCxnSpPr>
            <a:cxnSpLocks/>
            <a:stCxn id="33" idx="2"/>
          </p:cNvCxnSpPr>
          <p:nvPr/>
        </p:nvCxnSpPr>
        <p:spPr bwMode="auto">
          <a:xfrm rot="5400000">
            <a:off x="2371138" y="4401336"/>
            <a:ext cx="429684" cy="1172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FC880DDF-7AB9-47C4-96B9-6D6E543D749B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 rot="16200000" flipH="1">
            <a:off x="3887257" y="4401922"/>
            <a:ext cx="429686" cy="1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0A0343F1-8891-4EB3-A88D-E7D982C4BB00}"/>
              </a:ext>
            </a:extLst>
          </p:cNvPr>
          <p:cNvCxnSpPr>
            <a:cxnSpLocks/>
            <a:stCxn id="35" idx="2"/>
            <a:endCxn id="36" idx="3"/>
          </p:cNvCxnSpPr>
          <p:nvPr/>
        </p:nvCxnSpPr>
        <p:spPr bwMode="auto">
          <a:xfrm rot="5400000">
            <a:off x="4654874" y="3901652"/>
            <a:ext cx="677332" cy="1248188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C42A447B-C155-4494-9BAA-8A2B0AA81B65}"/>
              </a:ext>
            </a:extLst>
          </p:cNvPr>
          <p:cNvCxnSpPr>
            <a:cxnSpLocks/>
            <a:stCxn id="36" idx="2"/>
            <a:endCxn id="37" idx="0"/>
          </p:cNvCxnSpPr>
          <p:nvPr/>
        </p:nvCxnSpPr>
        <p:spPr bwMode="auto">
          <a:xfrm rot="5400000">
            <a:off x="3096271" y="5350188"/>
            <a:ext cx="510118" cy="1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FD65F003-7511-4EC0-8277-0A94C4E9242D}"/>
              </a:ext>
            </a:extLst>
          </p:cNvPr>
          <p:cNvSpPr/>
          <p:nvPr/>
        </p:nvSpPr>
        <p:spPr bwMode="auto">
          <a:xfrm>
            <a:off x="9728200" y="2415426"/>
            <a:ext cx="1143001" cy="345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Infrastructure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F2C7E98-785E-40A1-B641-D2399110DCE4}"/>
              </a:ext>
            </a:extLst>
          </p:cNvPr>
          <p:cNvSpPr/>
          <p:nvPr/>
        </p:nvSpPr>
        <p:spPr bwMode="auto">
          <a:xfrm>
            <a:off x="9728200" y="2813363"/>
            <a:ext cx="1143001" cy="345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Comprehensive Integration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4A591D9-7472-4328-A832-7F6A15450E2C}"/>
              </a:ext>
            </a:extLst>
          </p:cNvPr>
          <p:cNvSpPr/>
          <p:nvPr/>
        </p:nvSpPr>
        <p:spPr bwMode="auto">
          <a:xfrm>
            <a:off x="10925587" y="2413311"/>
            <a:ext cx="1046269" cy="345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Domain Application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A366A3B-D9CD-47D5-81BD-A5D4C1D420BC}"/>
              </a:ext>
            </a:extLst>
          </p:cNvPr>
          <p:cNvSpPr/>
          <p:nvPr/>
        </p:nvSpPr>
        <p:spPr bwMode="auto">
          <a:xfrm>
            <a:off x="10925587" y="2811248"/>
            <a:ext cx="1046269" cy="345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Collaborative Integration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910DDD2-FD97-44DF-9F20-DA4DCDBD7667}"/>
              </a:ext>
            </a:extLst>
          </p:cNvPr>
          <p:cNvSpPr/>
          <p:nvPr/>
        </p:nvSpPr>
        <p:spPr bwMode="auto">
          <a:xfrm>
            <a:off x="9660466" y="2351930"/>
            <a:ext cx="2387600" cy="880534"/>
          </a:xfrm>
          <a:prstGeom prst="rect">
            <a:avLst/>
          </a:prstGeom>
          <a:noFill/>
          <a:ln w="9525" cap="flat" cmpd="sng" algn="ctr">
            <a:solidFill>
              <a:schemeClr val="bg1"/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9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0671CE9C-4621-4CFE-BCC4-1E0BD2ACDA74}"/>
              </a:ext>
            </a:extLst>
          </p:cNvPr>
          <p:cNvCxnSpPr>
            <a:cxnSpLocks/>
            <a:stCxn id="86" idx="1"/>
            <a:endCxn id="19" idx="0"/>
          </p:cNvCxnSpPr>
          <p:nvPr/>
        </p:nvCxnSpPr>
        <p:spPr bwMode="auto">
          <a:xfrm rot="10800000" flipV="1">
            <a:off x="8987368" y="2792196"/>
            <a:ext cx="673099" cy="571501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AE2E623F-695B-48C1-A239-C5F16C4F5C2D}"/>
              </a:ext>
            </a:extLst>
          </p:cNvPr>
          <p:cNvSpPr/>
          <p:nvPr/>
        </p:nvSpPr>
        <p:spPr bwMode="auto">
          <a:xfrm>
            <a:off x="479188" y="1287246"/>
            <a:ext cx="1353022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Enterprise Assessment Objective</a:t>
            </a:r>
            <a:endParaRPr kumimoji="0" 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F8DA864-0FEB-453B-AF87-E8D3A0FCCC0B}"/>
              </a:ext>
            </a:extLst>
          </p:cNvPr>
          <p:cNvSpPr/>
          <p:nvPr/>
        </p:nvSpPr>
        <p:spPr bwMode="auto">
          <a:xfrm>
            <a:off x="2457800" y="1287246"/>
            <a:ext cx="1353022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Assessment Expert Team</a:t>
            </a:r>
            <a:endParaRPr kumimoji="0" 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8594D1D1-64A1-47CD-8107-8108E5B4D25F}"/>
              </a:ext>
            </a:extLst>
          </p:cNvPr>
          <p:cNvCxnSpPr>
            <a:stCxn id="90" idx="3"/>
            <a:endCxn id="91" idx="1"/>
          </p:cNvCxnSpPr>
          <p:nvPr/>
        </p:nvCxnSpPr>
        <p:spPr bwMode="auto">
          <a:xfrm>
            <a:off x="1832210" y="1611096"/>
            <a:ext cx="625590" cy="0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996BD1D8-AF6D-49DF-AB2A-A84A6A2FA74E}"/>
              </a:ext>
            </a:extLst>
          </p:cNvPr>
          <p:cNvCxnSpPr>
            <a:cxnSpLocks/>
            <a:stCxn id="91" idx="2"/>
          </p:cNvCxnSpPr>
          <p:nvPr/>
        </p:nvCxnSpPr>
        <p:spPr bwMode="auto">
          <a:xfrm>
            <a:off x="3134311" y="1934946"/>
            <a:ext cx="0" cy="696385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62DB3F-82ED-4BC2-9F2C-16CC9402AA36}"/>
              </a:ext>
            </a:extLst>
          </p:cNvPr>
          <p:cNvSpPr txBox="1"/>
          <p:nvPr/>
        </p:nvSpPr>
        <p:spPr>
          <a:xfrm>
            <a:off x="9121190" y="6313217"/>
            <a:ext cx="3070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Reference: ISO/DIS 22549-1:2019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CII: Convergence of Information and Industrialization</a:t>
            </a:r>
          </a:p>
        </p:txBody>
      </p:sp>
    </p:spTree>
    <p:extLst>
      <p:ext uri="{BB962C8B-B14F-4D97-AF65-F5344CB8AC3E}">
        <p14:creationId xmlns:p14="http://schemas.microsoft.com/office/powerpoint/2010/main" val="4171596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0DDAC8B-35D2-46E8-92B7-F42385782B82}"/>
              </a:ext>
            </a:extLst>
          </p:cNvPr>
          <p:cNvSpPr txBox="1">
            <a:spLocks/>
          </p:cNvSpPr>
          <p:nvPr/>
        </p:nvSpPr>
        <p:spPr bwMode="auto">
          <a:xfrm>
            <a:off x="0" y="0"/>
            <a:ext cx="9144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>
            <a:lvl1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2pPr>
            <a:lvl3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3pPr>
            <a:lvl4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4pPr>
            <a:lvl5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5pPr>
            <a:lvl6pPr marL="4572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6pPr>
            <a:lvl7pPr marL="9144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7pPr>
            <a:lvl8pPr marL="13716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8pPr>
            <a:lvl9pPr marL="18288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9pPr>
          </a:lstStyle>
          <a:p>
            <a:r>
              <a:rPr lang="en-US" kern="0" dirty="0"/>
              <a:t>Breakdown of the Assessment Reference Model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D38C90-FFFA-451B-BF30-0683414A32BD}"/>
              </a:ext>
            </a:extLst>
          </p:cNvPr>
          <p:cNvSpPr/>
          <p:nvPr/>
        </p:nvSpPr>
        <p:spPr bwMode="auto">
          <a:xfrm>
            <a:off x="258981" y="1944451"/>
            <a:ext cx="1171812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Infrastructure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B0DB467-CA7E-49ED-890A-9C3DE2E167B6}"/>
              </a:ext>
            </a:extLst>
          </p:cNvPr>
          <p:cNvSpPr/>
          <p:nvPr/>
        </p:nvSpPr>
        <p:spPr bwMode="auto">
          <a:xfrm>
            <a:off x="1178261" y="2503170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Capital Investment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4F1B0A-86AE-4365-A461-645EA358BE65}"/>
              </a:ext>
            </a:extLst>
          </p:cNvPr>
          <p:cNvSpPr/>
          <p:nvPr/>
        </p:nvSpPr>
        <p:spPr bwMode="auto">
          <a:xfrm>
            <a:off x="1178261" y="2877226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Equipment &amp; Facilities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5D3CE8F-49A2-458F-A927-19B548909D39}"/>
              </a:ext>
            </a:extLst>
          </p:cNvPr>
          <p:cNvSpPr/>
          <p:nvPr/>
        </p:nvSpPr>
        <p:spPr bwMode="auto">
          <a:xfrm>
            <a:off x="1178261" y="3251282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Information Security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044804D-5509-4B49-B842-40040D7E756D}"/>
              </a:ext>
            </a:extLst>
          </p:cNvPr>
          <p:cNvSpPr/>
          <p:nvPr/>
        </p:nvSpPr>
        <p:spPr bwMode="auto">
          <a:xfrm>
            <a:off x="1178261" y="3625338"/>
            <a:ext cx="1882365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Organization &amp; Planning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934F526-259E-48A1-B9A4-972BEE404988}"/>
              </a:ext>
            </a:extLst>
          </p:cNvPr>
          <p:cNvSpPr/>
          <p:nvPr/>
        </p:nvSpPr>
        <p:spPr bwMode="auto">
          <a:xfrm>
            <a:off x="1178261" y="3999394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Information Resources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ABC814C4-2B2B-42F9-AF66-4E0263FCFC2C}"/>
              </a:ext>
            </a:extLst>
          </p:cNvPr>
          <p:cNvCxnSpPr>
            <a:cxnSpLocks/>
            <a:stCxn id="19" idx="1"/>
            <a:endCxn id="10" idx="2"/>
          </p:cNvCxnSpPr>
          <p:nvPr/>
        </p:nvCxnSpPr>
        <p:spPr bwMode="auto">
          <a:xfrm rot="10800000">
            <a:off x="844887" y="2257405"/>
            <a:ext cx="333374" cy="1898466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0E03362-D97A-4D1A-9709-1A6B560FEAF0}"/>
              </a:ext>
            </a:extLst>
          </p:cNvPr>
          <p:cNvCxnSpPr>
            <a:cxnSpLocks/>
            <a:stCxn id="18" idx="1"/>
            <a:endCxn id="10" idx="2"/>
          </p:cNvCxnSpPr>
          <p:nvPr/>
        </p:nvCxnSpPr>
        <p:spPr bwMode="auto">
          <a:xfrm rot="10800000">
            <a:off x="844887" y="2257405"/>
            <a:ext cx="333374" cy="1524410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ACA4DBB8-7F6D-4AE1-B066-818A0F9E7AC5}"/>
              </a:ext>
            </a:extLst>
          </p:cNvPr>
          <p:cNvCxnSpPr>
            <a:cxnSpLocks/>
            <a:stCxn id="17" idx="1"/>
            <a:endCxn id="10" idx="2"/>
          </p:cNvCxnSpPr>
          <p:nvPr/>
        </p:nvCxnSpPr>
        <p:spPr bwMode="auto">
          <a:xfrm rot="10800000">
            <a:off x="844887" y="2257405"/>
            <a:ext cx="333374" cy="1150354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7E736B84-E267-4B02-A31B-8D741307D46E}"/>
              </a:ext>
            </a:extLst>
          </p:cNvPr>
          <p:cNvCxnSpPr>
            <a:cxnSpLocks/>
            <a:stCxn id="16" idx="1"/>
            <a:endCxn id="10" idx="2"/>
          </p:cNvCxnSpPr>
          <p:nvPr/>
        </p:nvCxnSpPr>
        <p:spPr bwMode="auto">
          <a:xfrm rot="10800000">
            <a:off x="844887" y="2257405"/>
            <a:ext cx="333374" cy="776298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CC4B3F45-65F7-4595-9A1E-54A51961092F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 bwMode="auto">
          <a:xfrm rot="10800000">
            <a:off x="844887" y="2257405"/>
            <a:ext cx="333374" cy="402242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BC4965F3-4D88-429B-BDED-627F64ADEE80}"/>
              </a:ext>
            </a:extLst>
          </p:cNvPr>
          <p:cNvSpPr/>
          <p:nvPr/>
        </p:nvSpPr>
        <p:spPr bwMode="auto">
          <a:xfrm>
            <a:off x="5434083" y="1944451"/>
            <a:ext cx="1171812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Infrastructure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D620D8A-8658-4E5C-B663-FFE6CD767D2E}"/>
              </a:ext>
            </a:extLst>
          </p:cNvPr>
          <p:cNvSpPr/>
          <p:nvPr/>
        </p:nvSpPr>
        <p:spPr bwMode="auto">
          <a:xfrm>
            <a:off x="6353363" y="2503170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Product Design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772A38F-6ED2-4DFE-95D9-762DFB48E2B1}"/>
              </a:ext>
            </a:extLst>
          </p:cNvPr>
          <p:cNvSpPr/>
          <p:nvPr/>
        </p:nvSpPr>
        <p:spPr bwMode="auto">
          <a:xfrm>
            <a:off x="3838529" y="2500472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Process Design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A866ADF-F4D5-49A3-8424-65A89F3A3DE5}"/>
              </a:ext>
            </a:extLst>
          </p:cNvPr>
          <p:cNvSpPr/>
          <p:nvPr/>
        </p:nvSpPr>
        <p:spPr bwMode="auto">
          <a:xfrm>
            <a:off x="6353363" y="2938328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Production Management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B707D6F-F6F7-490F-A6B9-D7B89D871D3C}"/>
              </a:ext>
            </a:extLst>
          </p:cNvPr>
          <p:cNvSpPr/>
          <p:nvPr/>
        </p:nvSpPr>
        <p:spPr bwMode="auto">
          <a:xfrm>
            <a:off x="3838528" y="2931212"/>
            <a:ext cx="1882365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Materials Management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4FC7DE2-7D19-4F31-9ECF-D89647049857}"/>
              </a:ext>
            </a:extLst>
          </p:cNvPr>
          <p:cNvSpPr/>
          <p:nvPr/>
        </p:nvSpPr>
        <p:spPr bwMode="auto">
          <a:xfrm>
            <a:off x="6353363" y="3376038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Sales Management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81856ABE-6FE9-46BA-99EC-8EB60A2AC6A5}"/>
              </a:ext>
            </a:extLst>
          </p:cNvPr>
          <p:cNvCxnSpPr>
            <a:cxnSpLocks/>
            <a:stCxn id="40" idx="1"/>
            <a:endCxn id="35" idx="2"/>
          </p:cNvCxnSpPr>
          <p:nvPr/>
        </p:nvCxnSpPr>
        <p:spPr bwMode="auto">
          <a:xfrm rot="10800000">
            <a:off x="6019989" y="2257405"/>
            <a:ext cx="333374" cy="1275110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25C19A5B-4E0E-4C6A-842B-560075EF7569}"/>
              </a:ext>
            </a:extLst>
          </p:cNvPr>
          <p:cNvCxnSpPr>
            <a:cxnSpLocks/>
            <a:stCxn id="39" idx="3"/>
            <a:endCxn id="35" idx="2"/>
          </p:cNvCxnSpPr>
          <p:nvPr/>
        </p:nvCxnSpPr>
        <p:spPr bwMode="auto">
          <a:xfrm flipV="1">
            <a:off x="5720893" y="2257405"/>
            <a:ext cx="299096" cy="830284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DBC7BBA-770E-402B-ADC7-E7207446E12E}"/>
              </a:ext>
            </a:extLst>
          </p:cNvPr>
          <p:cNvCxnSpPr>
            <a:cxnSpLocks/>
            <a:stCxn id="38" idx="1"/>
            <a:endCxn id="35" idx="2"/>
          </p:cNvCxnSpPr>
          <p:nvPr/>
        </p:nvCxnSpPr>
        <p:spPr bwMode="auto">
          <a:xfrm rot="10800000">
            <a:off x="6019989" y="2257405"/>
            <a:ext cx="333374" cy="837400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FF24D61E-1287-427C-ACC9-FDA80B6C7042}"/>
              </a:ext>
            </a:extLst>
          </p:cNvPr>
          <p:cNvCxnSpPr>
            <a:cxnSpLocks/>
            <a:stCxn id="37" idx="3"/>
            <a:endCxn id="35" idx="2"/>
          </p:cNvCxnSpPr>
          <p:nvPr/>
        </p:nvCxnSpPr>
        <p:spPr bwMode="auto">
          <a:xfrm flipV="1">
            <a:off x="5720893" y="2257405"/>
            <a:ext cx="299096" cy="399544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80B0BAD5-780A-440D-97FE-47114E19A4FE}"/>
              </a:ext>
            </a:extLst>
          </p:cNvPr>
          <p:cNvCxnSpPr>
            <a:cxnSpLocks/>
            <a:stCxn id="36" idx="1"/>
            <a:endCxn id="35" idx="2"/>
          </p:cNvCxnSpPr>
          <p:nvPr/>
        </p:nvCxnSpPr>
        <p:spPr bwMode="auto">
          <a:xfrm rot="10800000">
            <a:off x="6019989" y="2257405"/>
            <a:ext cx="333374" cy="402242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ECDFF747-18AA-42D9-B0E7-72046305714A}"/>
              </a:ext>
            </a:extLst>
          </p:cNvPr>
          <p:cNvSpPr/>
          <p:nvPr/>
        </p:nvSpPr>
        <p:spPr bwMode="auto">
          <a:xfrm>
            <a:off x="3838529" y="3377146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Financial Management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50FB88D-D7D6-40F6-B43A-60B9F0C03300}"/>
              </a:ext>
            </a:extLst>
          </p:cNvPr>
          <p:cNvSpPr/>
          <p:nvPr/>
        </p:nvSpPr>
        <p:spPr bwMode="auto">
          <a:xfrm>
            <a:off x="6353363" y="3823427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Security Management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C1B7D43-2F75-4D1E-A2BF-6F22DF5E31F0}"/>
              </a:ext>
            </a:extLst>
          </p:cNvPr>
          <p:cNvSpPr/>
          <p:nvPr/>
        </p:nvSpPr>
        <p:spPr bwMode="auto">
          <a:xfrm>
            <a:off x="3838529" y="3823080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Project Management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BE98982-4537-4DE7-B507-88E45B830025}"/>
              </a:ext>
            </a:extLst>
          </p:cNvPr>
          <p:cNvSpPr/>
          <p:nvPr/>
        </p:nvSpPr>
        <p:spPr bwMode="auto">
          <a:xfrm>
            <a:off x="6353363" y="4267906"/>
            <a:ext cx="1882365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Maintenance Management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AC6933E-6843-4CD4-B6F7-0B8D1A544E5F}"/>
              </a:ext>
            </a:extLst>
          </p:cNvPr>
          <p:cNvSpPr/>
          <p:nvPr/>
        </p:nvSpPr>
        <p:spPr bwMode="auto">
          <a:xfrm>
            <a:off x="3838528" y="4269014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Human Resource Management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4DD064C-7A22-4EC1-A5AD-C1308CC0C6C9}"/>
              </a:ext>
            </a:extLst>
          </p:cNvPr>
          <p:cNvSpPr/>
          <p:nvPr/>
        </p:nvSpPr>
        <p:spPr bwMode="auto">
          <a:xfrm>
            <a:off x="6353363" y="4719217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Document Management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259722E-E76F-42D4-A000-175411FF368E}"/>
              </a:ext>
            </a:extLst>
          </p:cNvPr>
          <p:cNvSpPr/>
          <p:nvPr/>
        </p:nvSpPr>
        <p:spPr bwMode="auto">
          <a:xfrm>
            <a:off x="3838528" y="4711856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Quality Management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5B72D85-5A47-481D-9ED4-23B71074251D}"/>
              </a:ext>
            </a:extLst>
          </p:cNvPr>
          <p:cNvSpPr/>
          <p:nvPr/>
        </p:nvSpPr>
        <p:spPr bwMode="auto">
          <a:xfrm>
            <a:off x="6353362" y="5162059"/>
            <a:ext cx="1882365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Environment, Health, and Safety (EHS) Management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670FE41-7C5A-4DBE-9369-E2A4F09DAD00}"/>
              </a:ext>
            </a:extLst>
          </p:cNvPr>
          <p:cNvSpPr/>
          <p:nvPr/>
        </p:nvSpPr>
        <p:spPr bwMode="auto">
          <a:xfrm>
            <a:off x="3838528" y="5162059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Energy Management</a:t>
            </a:r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B7867A7C-4F42-4434-B769-716B3E96494E}"/>
              </a:ext>
            </a:extLst>
          </p:cNvPr>
          <p:cNvCxnSpPr>
            <a:cxnSpLocks/>
            <a:stCxn id="46" idx="3"/>
            <a:endCxn id="35" idx="2"/>
          </p:cNvCxnSpPr>
          <p:nvPr/>
        </p:nvCxnSpPr>
        <p:spPr bwMode="auto">
          <a:xfrm flipV="1">
            <a:off x="5720893" y="2257405"/>
            <a:ext cx="299096" cy="1276218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76D4371B-99B4-4106-9686-A962C6606A88}"/>
              </a:ext>
            </a:extLst>
          </p:cNvPr>
          <p:cNvCxnSpPr>
            <a:cxnSpLocks/>
            <a:stCxn id="47" idx="1"/>
            <a:endCxn id="35" idx="2"/>
          </p:cNvCxnSpPr>
          <p:nvPr/>
        </p:nvCxnSpPr>
        <p:spPr bwMode="auto">
          <a:xfrm rot="10800000">
            <a:off x="6019989" y="2257406"/>
            <a:ext cx="333374" cy="1722499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1E8E678C-5AC0-4E01-9A32-0D969DDE6799}"/>
              </a:ext>
            </a:extLst>
          </p:cNvPr>
          <p:cNvCxnSpPr>
            <a:cxnSpLocks/>
            <a:stCxn id="48" idx="3"/>
            <a:endCxn id="35" idx="2"/>
          </p:cNvCxnSpPr>
          <p:nvPr/>
        </p:nvCxnSpPr>
        <p:spPr bwMode="auto">
          <a:xfrm flipV="1">
            <a:off x="5720893" y="2257405"/>
            <a:ext cx="299096" cy="1722152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C8AFCED0-7214-4A28-AC00-9108BA21DA1D}"/>
              </a:ext>
            </a:extLst>
          </p:cNvPr>
          <p:cNvCxnSpPr>
            <a:cxnSpLocks/>
            <a:stCxn id="49" idx="1"/>
            <a:endCxn id="35" idx="2"/>
          </p:cNvCxnSpPr>
          <p:nvPr/>
        </p:nvCxnSpPr>
        <p:spPr bwMode="auto">
          <a:xfrm rot="10800000">
            <a:off x="6019989" y="2257405"/>
            <a:ext cx="333374" cy="2166978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DCD28463-8125-4623-ACEB-523161CE7ECA}"/>
              </a:ext>
            </a:extLst>
          </p:cNvPr>
          <p:cNvCxnSpPr>
            <a:cxnSpLocks/>
            <a:stCxn id="50" idx="3"/>
            <a:endCxn id="35" idx="2"/>
          </p:cNvCxnSpPr>
          <p:nvPr/>
        </p:nvCxnSpPr>
        <p:spPr bwMode="auto">
          <a:xfrm flipV="1">
            <a:off x="5720892" y="2257405"/>
            <a:ext cx="299097" cy="2168086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A65EB42B-B91E-4753-AB62-83E77273A506}"/>
              </a:ext>
            </a:extLst>
          </p:cNvPr>
          <p:cNvCxnSpPr>
            <a:cxnSpLocks/>
            <a:stCxn id="51" idx="1"/>
            <a:endCxn id="35" idx="2"/>
          </p:cNvCxnSpPr>
          <p:nvPr/>
        </p:nvCxnSpPr>
        <p:spPr bwMode="auto">
          <a:xfrm rot="10800000">
            <a:off x="6019989" y="2257406"/>
            <a:ext cx="333374" cy="2618289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CDEB1BF1-3D01-4FDE-BFD9-B17D7FD604DC}"/>
              </a:ext>
            </a:extLst>
          </p:cNvPr>
          <p:cNvCxnSpPr>
            <a:cxnSpLocks/>
            <a:stCxn id="52" idx="3"/>
            <a:endCxn id="35" idx="2"/>
          </p:cNvCxnSpPr>
          <p:nvPr/>
        </p:nvCxnSpPr>
        <p:spPr bwMode="auto">
          <a:xfrm flipV="1">
            <a:off x="5720892" y="2257405"/>
            <a:ext cx="299097" cy="2610928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5DA50C8E-1CC0-4EF5-870B-A1A6BE547D1B}"/>
              </a:ext>
            </a:extLst>
          </p:cNvPr>
          <p:cNvCxnSpPr>
            <a:cxnSpLocks/>
            <a:stCxn id="53" idx="1"/>
            <a:endCxn id="35" idx="2"/>
          </p:cNvCxnSpPr>
          <p:nvPr/>
        </p:nvCxnSpPr>
        <p:spPr bwMode="auto">
          <a:xfrm rot="10800000">
            <a:off x="6019990" y="2257406"/>
            <a:ext cx="333373" cy="3061131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F19D0EFB-73BB-4E61-9320-F7817CE2DFF7}"/>
              </a:ext>
            </a:extLst>
          </p:cNvPr>
          <p:cNvCxnSpPr>
            <a:cxnSpLocks/>
            <a:stCxn id="54" idx="3"/>
            <a:endCxn id="35" idx="2"/>
          </p:cNvCxnSpPr>
          <p:nvPr/>
        </p:nvCxnSpPr>
        <p:spPr bwMode="auto">
          <a:xfrm flipV="1">
            <a:off x="5720892" y="2257405"/>
            <a:ext cx="299097" cy="3061131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05252D39-DEB7-4131-91F2-86C76C1D5242}"/>
              </a:ext>
            </a:extLst>
          </p:cNvPr>
          <p:cNvSpPr/>
          <p:nvPr/>
        </p:nvSpPr>
        <p:spPr bwMode="auto">
          <a:xfrm>
            <a:off x="8971182" y="1945802"/>
            <a:ext cx="1171812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Comprehensive Integration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E49CCF0-6E8B-430C-BEA6-DB4DF63642A6}"/>
              </a:ext>
            </a:extLst>
          </p:cNvPr>
          <p:cNvSpPr/>
          <p:nvPr/>
        </p:nvSpPr>
        <p:spPr bwMode="auto">
          <a:xfrm>
            <a:off x="9890462" y="2504521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Product Design &amp; Manufacturing Integration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D0FD8A57-70F6-4CE4-9EF7-B9BF0E0E001C}"/>
              </a:ext>
            </a:extLst>
          </p:cNvPr>
          <p:cNvSpPr/>
          <p:nvPr/>
        </p:nvSpPr>
        <p:spPr bwMode="auto">
          <a:xfrm>
            <a:off x="9890462" y="2878577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Production Management &amp; Control Integration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13FD7866-46E6-4397-A12A-B52199703068}"/>
              </a:ext>
            </a:extLst>
          </p:cNvPr>
          <p:cNvSpPr/>
          <p:nvPr/>
        </p:nvSpPr>
        <p:spPr bwMode="auto">
          <a:xfrm>
            <a:off x="9890462" y="3252633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Production, Supply &amp; Marketing Integration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DA92939-9306-43D1-B9DC-C99ECDACE287}"/>
              </a:ext>
            </a:extLst>
          </p:cNvPr>
          <p:cNvSpPr/>
          <p:nvPr/>
        </p:nvSpPr>
        <p:spPr bwMode="auto">
          <a:xfrm>
            <a:off x="9890462" y="3626689"/>
            <a:ext cx="1882365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Operation Decision Support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1F2F514E-1FE5-4576-8616-AEE905175141}"/>
              </a:ext>
            </a:extLst>
          </p:cNvPr>
          <p:cNvCxnSpPr>
            <a:cxnSpLocks/>
            <a:stCxn id="100" idx="1"/>
            <a:endCxn id="96" idx="2"/>
          </p:cNvCxnSpPr>
          <p:nvPr/>
        </p:nvCxnSpPr>
        <p:spPr bwMode="auto">
          <a:xfrm rot="10800000">
            <a:off x="9557088" y="2258756"/>
            <a:ext cx="333374" cy="1524410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4302EAC8-B0BA-4736-9FB1-8E4F5FE60BA2}"/>
              </a:ext>
            </a:extLst>
          </p:cNvPr>
          <p:cNvCxnSpPr>
            <a:cxnSpLocks/>
            <a:stCxn id="99" idx="1"/>
            <a:endCxn id="96" idx="2"/>
          </p:cNvCxnSpPr>
          <p:nvPr/>
        </p:nvCxnSpPr>
        <p:spPr bwMode="auto">
          <a:xfrm rot="10800000">
            <a:off x="9557088" y="2258756"/>
            <a:ext cx="333374" cy="1150354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B586ABDB-3DFB-4F0C-BDF9-094B4FD43698}"/>
              </a:ext>
            </a:extLst>
          </p:cNvPr>
          <p:cNvCxnSpPr>
            <a:cxnSpLocks/>
            <a:stCxn id="98" idx="1"/>
            <a:endCxn id="96" idx="2"/>
          </p:cNvCxnSpPr>
          <p:nvPr/>
        </p:nvCxnSpPr>
        <p:spPr bwMode="auto">
          <a:xfrm rot="10800000">
            <a:off x="9557088" y="2258756"/>
            <a:ext cx="333374" cy="776298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AE3C759F-5F23-4176-BE33-07DB9607EDD1}"/>
              </a:ext>
            </a:extLst>
          </p:cNvPr>
          <p:cNvCxnSpPr>
            <a:cxnSpLocks/>
            <a:stCxn id="97" idx="1"/>
            <a:endCxn id="96" idx="2"/>
          </p:cNvCxnSpPr>
          <p:nvPr/>
        </p:nvCxnSpPr>
        <p:spPr bwMode="auto">
          <a:xfrm rot="10800000">
            <a:off x="9557088" y="2258756"/>
            <a:ext cx="333374" cy="402242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9585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279A1B2-9A58-4E86-8C5D-3D95A5A2C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Maturity Model Definitions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BE5F6DDF-50CB-4AB2-8457-948871B6867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33478717"/>
              </p:ext>
            </p:extLst>
          </p:nvPr>
        </p:nvGraphicFramePr>
        <p:xfrm>
          <a:off x="334432" y="1104900"/>
          <a:ext cx="11523135" cy="464820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2510367">
                  <a:extLst>
                    <a:ext uri="{9D8B030D-6E8A-4147-A177-3AD203B41FA5}">
                      <a16:colId xmlns:a16="http://schemas.microsoft.com/office/drawing/2014/main" val="1775843032"/>
                    </a:ext>
                  </a:extLst>
                </a:gridCol>
                <a:gridCol w="1917700">
                  <a:extLst>
                    <a:ext uri="{9D8B030D-6E8A-4147-A177-3AD203B41FA5}">
                      <a16:colId xmlns:a16="http://schemas.microsoft.com/office/drawing/2014/main" val="348442702"/>
                    </a:ext>
                  </a:extLst>
                </a:gridCol>
                <a:gridCol w="7095068">
                  <a:extLst>
                    <a:ext uri="{9D8B030D-6E8A-4147-A177-3AD203B41FA5}">
                      <a16:colId xmlns:a16="http://schemas.microsoft.com/office/drawing/2014/main" val="401104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Maturity Level Indicator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Descriptive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Characteristics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841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Level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Unidentified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Little or no systematic documentation available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577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Level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Tracking and traceability of materials, data and etc.</a:t>
                      </a:r>
                    </a:p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Registration and management of data using information collection devices and systems.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8654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Level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Real time data acquisition of materials, machinery, process and human roles, and data integration.</a:t>
                      </a:r>
                    </a:p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Measurement, aggregation, classification and management of data using information collection devices and systems.</a:t>
                      </a:r>
                    </a:p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Synchronous history of data for the same time, same lot and same product.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7920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Level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Analyzed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Data analysis and optimized decision making using aggregated data.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744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Level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Optimized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Automation of processes according to optimized decision making throughout the intra-enterprise and/or the inter-enterprises.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4181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Level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Customized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Self-diagnosis and self-healing through cyber-physical system [CPS], Internet of Things [IoT], artificial intelligence [AI], etc.</a:t>
                      </a:r>
                    </a:p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Flexible production of customized products through autonomous control.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536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0839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16E12E7-B44B-4466-B6D8-34BFFE74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Assessment Method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4187C9-936F-4724-9AD6-3ABEFD5A6DC6}"/>
              </a:ext>
            </a:extLst>
          </p:cNvPr>
          <p:cNvSpPr/>
          <p:nvPr/>
        </p:nvSpPr>
        <p:spPr bwMode="auto">
          <a:xfrm>
            <a:off x="411623" y="1876970"/>
            <a:ext cx="1262170" cy="437151"/>
          </a:xfrm>
          <a:prstGeom prst="rect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Evaluate Level 1 Questions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F68958-9DE7-45E1-863E-98FF8143B791}"/>
              </a:ext>
            </a:extLst>
          </p:cNvPr>
          <p:cNvSpPr/>
          <p:nvPr/>
        </p:nvSpPr>
        <p:spPr bwMode="auto">
          <a:xfrm>
            <a:off x="2043711" y="2617009"/>
            <a:ext cx="1262170" cy="437151"/>
          </a:xfrm>
          <a:prstGeom prst="rect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Evaluate Level 2 Questions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982B3AB-52EA-40D5-A13E-F0CBC3C2BE2A}"/>
              </a:ext>
            </a:extLst>
          </p:cNvPr>
          <p:cNvSpPr/>
          <p:nvPr/>
        </p:nvSpPr>
        <p:spPr bwMode="auto">
          <a:xfrm>
            <a:off x="3676449" y="3325954"/>
            <a:ext cx="1262170" cy="437151"/>
          </a:xfrm>
          <a:prstGeom prst="rect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Evaluate Level 3 Questions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3DA4185-AECB-46DC-85C4-312CA19B8BE5}"/>
              </a:ext>
            </a:extLst>
          </p:cNvPr>
          <p:cNvSpPr/>
          <p:nvPr/>
        </p:nvSpPr>
        <p:spPr bwMode="auto">
          <a:xfrm>
            <a:off x="5364738" y="4052237"/>
            <a:ext cx="1262170" cy="437151"/>
          </a:xfrm>
          <a:prstGeom prst="rect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Evaluate Level 4 Questions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A6B6D8E-1610-4FA6-862B-D26343A1A8A2}"/>
              </a:ext>
            </a:extLst>
          </p:cNvPr>
          <p:cNvSpPr/>
          <p:nvPr/>
        </p:nvSpPr>
        <p:spPr bwMode="auto">
          <a:xfrm>
            <a:off x="6952831" y="4787505"/>
            <a:ext cx="1262170" cy="437151"/>
          </a:xfrm>
          <a:prstGeom prst="rect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Evaluate Level 5 Questions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8" name="Flowchart: Decision 27">
            <a:extLst>
              <a:ext uri="{FF2B5EF4-FFF2-40B4-BE49-F238E27FC236}">
                <a16:creationId xmlns:a16="http://schemas.microsoft.com/office/drawing/2014/main" id="{19566EA7-8C29-4F2B-A82F-B2EC0FC3AE2B}"/>
              </a:ext>
            </a:extLst>
          </p:cNvPr>
          <p:cNvSpPr/>
          <p:nvPr/>
        </p:nvSpPr>
        <p:spPr bwMode="auto">
          <a:xfrm>
            <a:off x="461594" y="2617009"/>
            <a:ext cx="1162228" cy="437151"/>
          </a:xfrm>
          <a:prstGeom prst="flowChartDecision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All YES</a:t>
            </a:r>
          </a:p>
        </p:txBody>
      </p:sp>
      <p:sp>
        <p:nvSpPr>
          <p:cNvPr id="29" name="Flowchart: Decision 28">
            <a:extLst>
              <a:ext uri="{FF2B5EF4-FFF2-40B4-BE49-F238E27FC236}">
                <a16:creationId xmlns:a16="http://schemas.microsoft.com/office/drawing/2014/main" id="{BD4ED6D0-93D6-419F-9F8D-D5463B85BFD1}"/>
              </a:ext>
            </a:extLst>
          </p:cNvPr>
          <p:cNvSpPr/>
          <p:nvPr/>
        </p:nvSpPr>
        <p:spPr bwMode="auto">
          <a:xfrm>
            <a:off x="2093682" y="3325954"/>
            <a:ext cx="1162228" cy="437151"/>
          </a:xfrm>
          <a:prstGeom prst="flowChartDecision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All YES</a:t>
            </a:r>
          </a:p>
        </p:txBody>
      </p:sp>
      <p:sp>
        <p:nvSpPr>
          <p:cNvPr id="30" name="Flowchart: Decision 29">
            <a:extLst>
              <a:ext uri="{FF2B5EF4-FFF2-40B4-BE49-F238E27FC236}">
                <a16:creationId xmlns:a16="http://schemas.microsoft.com/office/drawing/2014/main" id="{40038E56-ACC4-4C12-87C0-77D1CA266011}"/>
              </a:ext>
            </a:extLst>
          </p:cNvPr>
          <p:cNvSpPr/>
          <p:nvPr/>
        </p:nvSpPr>
        <p:spPr bwMode="auto">
          <a:xfrm>
            <a:off x="3726420" y="4052237"/>
            <a:ext cx="1162228" cy="437151"/>
          </a:xfrm>
          <a:prstGeom prst="flowChartDecision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All YES</a:t>
            </a:r>
          </a:p>
        </p:txBody>
      </p:sp>
      <p:sp>
        <p:nvSpPr>
          <p:cNvPr id="31" name="Flowchart: Decision 30">
            <a:extLst>
              <a:ext uri="{FF2B5EF4-FFF2-40B4-BE49-F238E27FC236}">
                <a16:creationId xmlns:a16="http://schemas.microsoft.com/office/drawing/2014/main" id="{22FDC482-3A9B-4B0F-8983-FFDCBC44140C}"/>
              </a:ext>
            </a:extLst>
          </p:cNvPr>
          <p:cNvSpPr/>
          <p:nvPr/>
        </p:nvSpPr>
        <p:spPr bwMode="auto">
          <a:xfrm>
            <a:off x="5414709" y="4787505"/>
            <a:ext cx="1162228" cy="437151"/>
          </a:xfrm>
          <a:prstGeom prst="flowChartDecision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All YES</a:t>
            </a:r>
          </a:p>
        </p:txBody>
      </p:sp>
      <p:sp>
        <p:nvSpPr>
          <p:cNvPr id="32" name="Flowchart: Decision 31">
            <a:extLst>
              <a:ext uri="{FF2B5EF4-FFF2-40B4-BE49-F238E27FC236}">
                <a16:creationId xmlns:a16="http://schemas.microsoft.com/office/drawing/2014/main" id="{DD4ACBEE-4707-4DFE-8F9E-3A132A8B871C}"/>
              </a:ext>
            </a:extLst>
          </p:cNvPr>
          <p:cNvSpPr/>
          <p:nvPr/>
        </p:nvSpPr>
        <p:spPr bwMode="auto">
          <a:xfrm>
            <a:off x="7002802" y="5523635"/>
            <a:ext cx="1162228" cy="437151"/>
          </a:xfrm>
          <a:prstGeom prst="flowChartDecision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All YES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5C94096-B1A1-4A6D-B74B-671FE02D1715}"/>
              </a:ext>
            </a:extLst>
          </p:cNvPr>
          <p:cNvSpPr/>
          <p:nvPr/>
        </p:nvSpPr>
        <p:spPr bwMode="auto">
          <a:xfrm>
            <a:off x="414412" y="3313812"/>
            <a:ext cx="1256592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tx1"/>
                </a:solidFill>
                <a:latin typeface="Arial" charset="0"/>
              </a:rPr>
              <a:t>Maturity Level 0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2A8741D-2431-40C1-BE02-101035BB7D44}"/>
              </a:ext>
            </a:extLst>
          </p:cNvPr>
          <p:cNvSpPr/>
          <p:nvPr/>
        </p:nvSpPr>
        <p:spPr bwMode="auto">
          <a:xfrm>
            <a:off x="2046500" y="4040095"/>
            <a:ext cx="1256592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tx1"/>
                </a:solidFill>
                <a:latin typeface="Arial" charset="0"/>
              </a:rPr>
              <a:t>Maturity Level 1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DA37281-6158-4C91-BDCC-C0878112DCAA}"/>
              </a:ext>
            </a:extLst>
          </p:cNvPr>
          <p:cNvSpPr/>
          <p:nvPr/>
        </p:nvSpPr>
        <p:spPr bwMode="auto">
          <a:xfrm>
            <a:off x="3679238" y="4775363"/>
            <a:ext cx="1256592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tx1"/>
                </a:solidFill>
                <a:latin typeface="Arial" charset="0"/>
              </a:rPr>
              <a:t>Maturity Level 2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1295CE9D-CCF7-419E-99E5-44655995E087}"/>
              </a:ext>
            </a:extLst>
          </p:cNvPr>
          <p:cNvSpPr/>
          <p:nvPr/>
        </p:nvSpPr>
        <p:spPr bwMode="auto">
          <a:xfrm>
            <a:off x="5367527" y="5511493"/>
            <a:ext cx="1256592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tx1"/>
                </a:solidFill>
                <a:latin typeface="Arial" charset="0"/>
              </a:rPr>
              <a:t>Maturity Level 3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6AF774-AC3D-4FFF-8DB0-B0A84D74C25A}"/>
              </a:ext>
            </a:extLst>
          </p:cNvPr>
          <p:cNvSpPr/>
          <p:nvPr/>
        </p:nvSpPr>
        <p:spPr bwMode="auto">
          <a:xfrm>
            <a:off x="6955620" y="6213693"/>
            <a:ext cx="1256592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tx1"/>
                </a:solidFill>
                <a:latin typeface="Arial" charset="0"/>
              </a:rPr>
              <a:t>Maturity Level 4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60F2F8B-FC99-4D53-8AEA-E56DF19EC1F7}"/>
              </a:ext>
            </a:extLst>
          </p:cNvPr>
          <p:cNvCxnSpPr>
            <a:cxnSpLocks/>
            <a:stCxn id="13" idx="2"/>
            <a:endCxn id="28" idx="0"/>
          </p:cNvCxnSpPr>
          <p:nvPr/>
        </p:nvCxnSpPr>
        <p:spPr bwMode="auto">
          <a:xfrm>
            <a:off x="1042708" y="2314121"/>
            <a:ext cx="0" cy="302888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59A7669-4798-44FB-95CB-E2C3D14966BE}"/>
              </a:ext>
            </a:extLst>
          </p:cNvPr>
          <p:cNvCxnSpPr>
            <a:cxnSpLocks/>
            <a:stCxn id="28" idx="2"/>
            <a:endCxn id="33" idx="0"/>
          </p:cNvCxnSpPr>
          <p:nvPr/>
        </p:nvCxnSpPr>
        <p:spPr bwMode="auto">
          <a:xfrm>
            <a:off x="1042708" y="3054160"/>
            <a:ext cx="0" cy="259652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0F2E8AB8-8C25-4435-85E5-48A870D282A2}"/>
              </a:ext>
            </a:extLst>
          </p:cNvPr>
          <p:cNvCxnSpPr>
            <a:cxnSpLocks/>
            <a:stCxn id="32" idx="2"/>
            <a:endCxn id="37" idx="0"/>
          </p:cNvCxnSpPr>
          <p:nvPr/>
        </p:nvCxnSpPr>
        <p:spPr bwMode="auto">
          <a:xfrm>
            <a:off x="7583916" y="5960786"/>
            <a:ext cx="0" cy="252907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B919AC31-3DCD-481A-A81A-63A72A5F168A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 bwMode="auto">
          <a:xfrm>
            <a:off x="7583916" y="5224656"/>
            <a:ext cx="0" cy="298979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20093DE1-369D-4570-B285-C22D957BD140}"/>
              </a:ext>
            </a:extLst>
          </p:cNvPr>
          <p:cNvCxnSpPr>
            <a:cxnSpLocks/>
            <a:stCxn id="26" idx="2"/>
            <a:endCxn id="31" idx="0"/>
          </p:cNvCxnSpPr>
          <p:nvPr/>
        </p:nvCxnSpPr>
        <p:spPr bwMode="auto">
          <a:xfrm>
            <a:off x="5995823" y="4489388"/>
            <a:ext cx="0" cy="298117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36E34CE9-8146-4353-8719-2082E25045E4}"/>
              </a:ext>
            </a:extLst>
          </p:cNvPr>
          <p:cNvCxnSpPr>
            <a:cxnSpLocks/>
            <a:stCxn id="31" idx="2"/>
            <a:endCxn id="36" idx="0"/>
          </p:cNvCxnSpPr>
          <p:nvPr/>
        </p:nvCxnSpPr>
        <p:spPr bwMode="auto">
          <a:xfrm>
            <a:off x="5995823" y="5224656"/>
            <a:ext cx="0" cy="286837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B1C0995A-43D5-40DA-91C1-636592D3426C}"/>
              </a:ext>
            </a:extLst>
          </p:cNvPr>
          <p:cNvCxnSpPr>
            <a:cxnSpLocks/>
            <a:stCxn id="25" idx="2"/>
            <a:endCxn id="30" idx="0"/>
          </p:cNvCxnSpPr>
          <p:nvPr/>
        </p:nvCxnSpPr>
        <p:spPr bwMode="auto">
          <a:xfrm>
            <a:off x="4307534" y="3763105"/>
            <a:ext cx="0" cy="289132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F6197BBE-DF75-48CD-AB5E-B5A55FC00319}"/>
              </a:ext>
            </a:extLst>
          </p:cNvPr>
          <p:cNvCxnSpPr>
            <a:cxnSpLocks/>
            <a:stCxn id="30" idx="2"/>
            <a:endCxn id="35" idx="0"/>
          </p:cNvCxnSpPr>
          <p:nvPr/>
        </p:nvCxnSpPr>
        <p:spPr bwMode="auto">
          <a:xfrm>
            <a:off x="4307534" y="4489388"/>
            <a:ext cx="0" cy="285975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E1889E20-453D-4670-A136-795C7232D8FB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 bwMode="auto">
          <a:xfrm>
            <a:off x="2674796" y="3054160"/>
            <a:ext cx="0" cy="271794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91DA2378-E390-4548-8581-24A6439B0033}"/>
              </a:ext>
            </a:extLst>
          </p:cNvPr>
          <p:cNvCxnSpPr>
            <a:cxnSpLocks/>
            <a:stCxn id="29" idx="2"/>
            <a:endCxn id="34" idx="0"/>
          </p:cNvCxnSpPr>
          <p:nvPr/>
        </p:nvCxnSpPr>
        <p:spPr bwMode="auto">
          <a:xfrm>
            <a:off x="2674796" y="3763105"/>
            <a:ext cx="0" cy="276990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2579403-CEFD-48C4-A02B-0BEDD327CFA8}"/>
              </a:ext>
            </a:extLst>
          </p:cNvPr>
          <p:cNvCxnSpPr>
            <a:cxnSpLocks/>
            <a:stCxn id="28" idx="3"/>
            <a:endCxn id="24" idx="1"/>
          </p:cNvCxnSpPr>
          <p:nvPr/>
        </p:nvCxnSpPr>
        <p:spPr bwMode="auto">
          <a:xfrm>
            <a:off x="1623822" y="2835585"/>
            <a:ext cx="419889" cy="0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1D38EDB9-902C-478A-82A3-69D163B4901C}"/>
              </a:ext>
            </a:extLst>
          </p:cNvPr>
          <p:cNvCxnSpPr>
            <a:cxnSpLocks/>
            <a:stCxn id="29" idx="3"/>
            <a:endCxn id="25" idx="1"/>
          </p:cNvCxnSpPr>
          <p:nvPr/>
        </p:nvCxnSpPr>
        <p:spPr bwMode="auto">
          <a:xfrm>
            <a:off x="3255910" y="3544530"/>
            <a:ext cx="420539" cy="0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14515E34-0AFF-4948-951F-E5EE57B937B3}"/>
              </a:ext>
            </a:extLst>
          </p:cNvPr>
          <p:cNvCxnSpPr>
            <a:cxnSpLocks/>
            <a:stCxn id="30" idx="3"/>
            <a:endCxn id="26" idx="1"/>
          </p:cNvCxnSpPr>
          <p:nvPr/>
        </p:nvCxnSpPr>
        <p:spPr bwMode="auto">
          <a:xfrm>
            <a:off x="4888648" y="4270813"/>
            <a:ext cx="476090" cy="0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4EA5AD7A-D247-45E3-A357-E8A32F6A686D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 bwMode="auto">
          <a:xfrm>
            <a:off x="6576937" y="5006081"/>
            <a:ext cx="375894" cy="0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B46AA925-88BD-42DC-A6C5-C271043C951F}"/>
              </a:ext>
            </a:extLst>
          </p:cNvPr>
          <p:cNvSpPr/>
          <p:nvPr/>
        </p:nvSpPr>
        <p:spPr bwMode="auto">
          <a:xfrm>
            <a:off x="8496530" y="5511493"/>
            <a:ext cx="1256592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tx1"/>
                </a:solidFill>
                <a:latin typeface="Arial" charset="0"/>
              </a:rPr>
              <a:t>Maturity Level 4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A91CCC50-16BB-4921-B700-EF6811384AF5}"/>
              </a:ext>
            </a:extLst>
          </p:cNvPr>
          <p:cNvCxnSpPr>
            <a:cxnSpLocks/>
            <a:stCxn id="32" idx="3"/>
            <a:endCxn id="123" idx="1"/>
          </p:cNvCxnSpPr>
          <p:nvPr/>
        </p:nvCxnSpPr>
        <p:spPr bwMode="auto">
          <a:xfrm flipV="1">
            <a:off x="8165030" y="5742210"/>
            <a:ext cx="331500" cy="1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129" name="Table 129">
            <a:extLst>
              <a:ext uri="{FF2B5EF4-FFF2-40B4-BE49-F238E27FC236}">
                <a16:creationId xmlns:a16="http://schemas.microsoft.com/office/drawing/2014/main" id="{599C1500-77C7-454C-8CB6-1AF8B45EFB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580687"/>
              </p:ext>
            </p:extLst>
          </p:nvPr>
        </p:nvGraphicFramePr>
        <p:xfrm>
          <a:off x="5626311" y="1160474"/>
          <a:ext cx="6173469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53580">
                  <a:extLst>
                    <a:ext uri="{9D8B030D-6E8A-4147-A177-3AD203B41FA5}">
                      <a16:colId xmlns:a16="http://schemas.microsoft.com/office/drawing/2014/main" val="1269394511"/>
                    </a:ext>
                  </a:extLst>
                </a:gridCol>
                <a:gridCol w="2595965">
                  <a:extLst>
                    <a:ext uri="{9D8B030D-6E8A-4147-A177-3AD203B41FA5}">
                      <a16:colId xmlns:a16="http://schemas.microsoft.com/office/drawing/2014/main" val="3817600966"/>
                    </a:ext>
                  </a:extLst>
                </a:gridCol>
                <a:gridCol w="2223924">
                  <a:extLst>
                    <a:ext uri="{9D8B030D-6E8A-4147-A177-3AD203B41FA5}">
                      <a16:colId xmlns:a16="http://schemas.microsoft.com/office/drawing/2014/main" val="38754998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Maturity Level Indicator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020223"/>
                  </a:ext>
                </a:extLst>
              </a:tr>
              <a:tr h="370840">
                <a:tc rowSpan="5"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Activity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Questions for maturity level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883176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Questions for maturity level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18136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Questions for maturity level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154991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Questions for maturity level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24155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Questions for maturity level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0673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7340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16E12E7-B44B-4466-B6D8-34BFFE74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Breakdown of Activities and Sample Questions</a:t>
            </a: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F34C023F-4929-4904-9670-7572F7C00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084024"/>
              </p:ext>
            </p:extLst>
          </p:nvPr>
        </p:nvGraphicFramePr>
        <p:xfrm>
          <a:off x="263021" y="950402"/>
          <a:ext cx="6001046" cy="2610061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52134">
                  <a:extLst>
                    <a:ext uri="{9D8B030D-6E8A-4147-A177-3AD203B41FA5}">
                      <a16:colId xmlns:a16="http://schemas.microsoft.com/office/drawing/2014/main" val="3269073705"/>
                    </a:ext>
                  </a:extLst>
                </a:gridCol>
                <a:gridCol w="4648912">
                  <a:extLst>
                    <a:ext uri="{9D8B030D-6E8A-4147-A177-3AD203B41FA5}">
                      <a16:colId xmlns:a16="http://schemas.microsoft.com/office/drawing/2014/main" val="1490858791"/>
                    </a:ext>
                  </a:extLst>
                </a:gridCol>
              </a:tblGrid>
              <a:tr h="263101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Activity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377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Environment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IT systems and applications for environment analysis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0865655"/>
                  </a:ext>
                </a:extLst>
              </a:tr>
              <a:tr h="2532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Commodity Planning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IT systems and applications supporting commodity planning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892599"/>
                  </a:ext>
                </a:extLst>
              </a:tr>
              <a:tr h="26492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Design Automation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designing software systems and smart connected technology for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647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BOM/Parts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BOM/Part management system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65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Engineering Change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engineering change management systems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3914373"/>
                  </a:ext>
                </a:extLst>
              </a:tr>
              <a:tr h="241561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Prototyping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IT systems and applications for prototyping and its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4278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Advance Quality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IT systems and applications for advance quality management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0815487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B6F1F550-C5D2-4172-AFE5-D377FEC258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2669369"/>
              </p:ext>
            </p:extLst>
          </p:nvPr>
        </p:nvGraphicFramePr>
        <p:xfrm>
          <a:off x="6460621" y="950401"/>
          <a:ext cx="5468359" cy="2401781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88762">
                  <a:extLst>
                    <a:ext uri="{9D8B030D-6E8A-4147-A177-3AD203B41FA5}">
                      <a16:colId xmlns:a16="http://schemas.microsoft.com/office/drawing/2014/main" val="3269073705"/>
                    </a:ext>
                  </a:extLst>
                </a:gridCol>
                <a:gridCol w="3931066">
                  <a:extLst>
                    <a:ext uri="{9D8B030D-6E8A-4147-A177-3AD203B41FA5}">
                      <a16:colId xmlns:a16="http://schemas.microsoft.com/office/drawing/2014/main" val="1490858791"/>
                    </a:ext>
                  </a:extLst>
                </a:gridCol>
                <a:gridCol w="648531">
                  <a:extLst>
                    <a:ext uri="{9D8B030D-6E8A-4147-A177-3AD203B41FA5}">
                      <a16:colId xmlns:a16="http://schemas.microsoft.com/office/drawing/2014/main" val="1901612911"/>
                    </a:ext>
                  </a:extLst>
                </a:gridCol>
              </a:tblGrid>
              <a:tr h="263101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Activity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Level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377880"/>
                  </a:ext>
                </a:extLst>
              </a:tr>
              <a:tr h="370840">
                <a:tc rowSpan="5"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Design Automation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design with 2D CAD?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0865655"/>
                  </a:ext>
                </a:extLst>
              </a:tr>
              <a:tr h="25324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design with 3D CAD?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892599"/>
                  </a:ext>
                </a:extLst>
              </a:tr>
              <a:tr h="26492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analyze and validate with CAE?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64788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design automatically with optimization solutions as one of the following?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Model-Based Parametric Design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Engineering-based Parametric design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Integrated parametrical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65963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design a product by using smart connected technology such as IoT, AR/VR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3914373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9FF1729E-B2E4-4100-B40B-045D3B6DB97B}"/>
              </a:ext>
            </a:extLst>
          </p:cNvPr>
          <p:cNvCxnSpPr>
            <a:cxnSpLocks/>
            <a:endCxn id="7" idx="1"/>
          </p:cNvCxnSpPr>
          <p:nvPr/>
        </p:nvCxnSpPr>
        <p:spPr bwMode="auto">
          <a:xfrm>
            <a:off x="6264069" y="1982624"/>
            <a:ext cx="196552" cy="168667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12" name="Table 2">
            <a:extLst>
              <a:ext uri="{FF2B5EF4-FFF2-40B4-BE49-F238E27FC236}">
                <a16:creationId xmlns:a16="http://schemas.microsoft.com/office/drawing/2014/main" id="{65CDD097-0DF6-4B08-9B1B-E2C7DEDCE7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8510299"/>
              </p:ext>
            </p:extLst>
          </p:nvPr>
        </p:nvGraphicFramePr>
        <p:xfrm>
          <a:off x="6460620" y="3553961"/>
          <a:ext cx="5468359" cy="2523701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31492">
                  <a:extLst>
                    <a:ext uri="{9D8B030D-6E8A-4147-A177-3AD203B41FA5}">
                      <a16:colId xmlns:a16="http://schemas.microsoft.com/office/drawing/2014/main" val="3269073705"/>
                    </a:ext>
                  </a:extLst>
                </a:gridCol>
                <a:gridCol w="3888336">
                  <a:extLst>
                    <a:ext uri="{9D8B030D-6E8A-4147-A177-3AD203B41FA5}">
                      <a16:colId xmlns:a16="http://schemas.microsoft.com/office/drawing/2014/main" val="1490858791"/>
                    </a:ext>
                  </a:extLst>
                </a:gridCol>
                <a:gridCol w="648531">
                  <a:extLst>
                    <a:ext uri="{9D8B030D-6E8A-4147-A177-3AD203B41FA5}">
                      <a16:colId xmlns:a16="http://schemas.microsoft.com/office/drawing/2014/main" val="1901612911"/>
                    </a:ext>
                  </a:extLst>
                </a:gridCol>
              </a:tblGrid>
              <a:tr h="263101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Activity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Level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377880"/>
                  </a:ext>
                </a:extLst>
              </a:tr>
              <a:tr h="370840">
                <a:tc rowSpan="5"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BOM/Parts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upload the engineering BOM [E-BOM] to the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0865655"/>
                  </a:ext>
                </a:extLst>
              </a:tr>
              <a:tr h="25324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integrate the E-BOM with 3D CAD?</a:t>
                      </a:r>
                    </a:p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generate the E-BOM automatically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892599"/>
                  </a:ext>
                </a:extLst>
              </a:tr>
              <a:tr h="26492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generate the manufacturing BOM [M-BOM] automatically in PLM?</a:t>
                      </a:r>
                    </a:p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manage the software configuration in PLM?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64788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configure the BOM according to the purpose of use such as procurement, process cost, production, and customer service for warranty, 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</a:rPr>
                        <a:t>etc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65963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improve business through preliminary simulation using the BOM data according to the purpose of use?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3914373"/>
                  </a:ext>
                </a:extLst>
              </a:tr>
            </a:tbl>
          </a:graphicData>
        </a:graphic>
      </p:graphicFrame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753ED6B-B761-402F-A975-403F036005E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 bwMode="auto">
          <a:xfrm>
            <a:off x="6264067" y="2255432"/>
            <a:ext cx="196553" cy="2560379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827F37D9-A4A5-4F45-B5AE-795EFEED55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13512430"/>
              </p:ext>
            </p:extLst>
          </p:nvPr>
        </p:nvGraphicFramePr>
        <p:xfrm>
          <a:off x="689362" y="3943779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055151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3C4B22F-BFF6-462B-943F-8596AA9B6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BC173-DD70-4F4B-9A84-56F2781ED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169988"/>
            <a:ext cx="11915192" cy="1799210"/>
          </a:xfrm>
        </p:spPr>
        <p:txBody>
          <a:bodyPr/>
          <a:lstStyle/>
          <a:p>
            <a:r>
              <a:rPr lang="en-US" sz="1200" dirty="0"/>
              <a:t>ISO/DIS 22549-1:2019, Automation Systems and Integration – Assessment on Convergence of Information and Industrialization for Industrial Enterprises Part 1: Framework and Reference Model</a:t>
            </a:r>
          </a:p>
          <a:p>
            <a:endParaRPr lang="en-US" sz="1200" dirty="0"/>
          </a:p>
          <a:p>
            <a:r>
              <a:rPr lang="en-US" sz="1200" dirty="0"/>
              <a:t>ISO/CD 22549-2:2019, Automation Systems and Integration – Assessment on Convergence of Information and Industrialization for Industrial Enterprises Part 2: Maturity Model and Evaluation Methodology</a:t>
            </a:r>
          </a:p>
          <a:p>
            <a:endParaRPr lang="en-US" sz="1200" dirty="0"/>
          </a:p>
          <a:p>
            <a:r>
              <a:rPr lang="en-US" sz="1200" dirty="0"/>
              <a:t>ISO 15704, Industrial Automation Systems – Requirements for Enterprise-Reference Architectures and Methodologies</a:t>
            </a:r>
          </a:p>
        </p:txBody>
      </p:sp>
    </p:spTree>
    <p:extLst>
      <p:ext uri="{BB962C8B-B14F-4D97-AF65-F5344CB8AC3E}">
        <p14:creationId xmlns:p14="http://schemas.microsoft.com/office/powerpoint/2010/main" val="3683577453"/>
      </p:ext>
    </p:extLst>
  </p:cSld>
  <p:clrMapOvr>
    <a:masterClrMapping/>
  </p:clrMapOvr>
</p:sld>
</file>

<file path=ppt/theme/theme1.xml><?xml version="1.0" encoding="utf-8"?>
<a:theme xmlns:a="http://schemas.openxmlformats.org/drawingml/2006/main" name="ssd4mt04">
  <a:themeElements>
    <a:clrScheme name="ssd4mt04 1">
      <a:dk1>
        <a:srgbClr val="000000"/>
      </a:dk1>
      <a:lt1>
        <a:srgbClr val="FFFFFF"/>
      </a:lt1>
      <a:dk2>
        <a:srgbClr val="006B3F"/>
      </a:dk2>
      <a:lt2>
        <a:srgbClr val="A6A49E"/>
      </a:lt2>
      <a:accent1>
        <a:srgbClr val="A32638"/>
      </a:accent1>
      <a:accent2>
        <a:srgbClr val="0038A8"/>
      </a:accent2>
      <a:accent3>
        <a:srgbClr val="FFFFFF"/>
      </a:accent3>
      <a:accent4>
        <a:srgbClr val="000000"/>
      </a:accent4>
      <a:accent5>
        <a:srgbClr val="CEACAE"/>
      </a:accent5>
      <a:accent6>
        <a:srgbClr val="003298"/>
      </a:accent6>
      <a:hlink>
        <a:srgbClr val="3A75C4"/>
      </a:hlink>
      <a:folHlink>
        <a:srgbClr val="7F6689"/>
      </a:folHlink>
    </a:clrScheme>
    <a:fontScheme name="ssd4mt0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00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00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sd4mt04 1">
        <a:dk1>
          <a:srgbClr val="000000"/>
        </a:dk1>
        <a:lt1>
          <a:srgbClr val="FFFFFF"/>
        </a:lt1>
        <a:dk2>
          <a:srgbClr val="006B3F"/>
        </a:dk2>
        <a:lt2>
          <a:srgbClr val="A6A49E"/>
        </a:lt2>
        <a:accent1>
          <a:srgbClr val="A32638"/>
        </a:accent1>
        <a:accent2>
          <a:srgbClr val="0038A8"/>
        </a:accent2>
        <a:accent3>
          <a:srgbClr val="FFFFFF"/>
        </a:accent3>
        <a:accent4>
          <a:srgbClr val="000000"/>
        </a:accent4>
        <a:accent5>
          <a:srgbClr val="CEACAE"/>
        </a:accent5>
        <a:accent6>
          <a:srgbClr val="003298"/>
        </a:accent6>
        <a:hlink>
          <a:srgbClr val="3A75C4"/>
        </a:hlink>
        <a:folHlink>
          <a:srgbClr val="7F668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F3FAACB45D5BC439EC1DFC57ECB12B0" ma:contentTypeVersion="0" ma:contentTypeDescription="Create a new document." ma:contentTypeScope="" ma:versionID="5c13edb67fa247ac7baf6d1e78167169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64490b4aec6201516c3a874156f37b2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C93E3E-CAB0-4A88-B8D1-160E772ACF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0259753E-307B-4C93-BBB6-F1AAD8AE0AB9}">
  <ds:schemaRefs>
    <ds:schemaRef ds:uri="http://purl.org/dc/terms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B8C7F6B-4992-4AAE-AD38-5D4F5B81490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BT_IT_Template</Template>
  <TotalTime>7706</TotalTime>
  <Words>917</Words>
  <Application>Microsoft Office PowerPoint</Application>
  <PresentationFormat>Widescreen</PresentationFormat>
  <Paragraphs>191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Times New Roman</vt:lpstr>
      <vt:lpstr>ssd4mt04</vt:lpstr>
      <vt:lpstr>A Framework for Data Standard Readiness  </vt:lpstr>
      <vt:lpstr>Who Dis Be?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Maturity Model Definitions</vt:lpstr>
      <vt:lpstr>Assessment Method</vt:lpstr>
      <vt:lpstr>Breakdown of Activities and Sample Questions</vt:lpstr>
      <vt:lpstr>References</vt:lpstr>
    </vt:vector>
  </TitlesOfParts>
  <Company>The Boeing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Terrence J. McGowan</dc:creator>
  <cp:lastModifiedBy>Brandon Sapp</cp:lastModifiedBy>
  <cp:revision>218</cp:revision>
  <dcterms:created xsi:type="dcterms:W3CDTF">2005-09-16T18:06:48Z</dcterms:created>
  <dcterms:modified xsi:type="dcterms:W3CDTF">2019-09-03T17:23:00Z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0x0101001F3FAACB45D5BC439EC1DFC57ECB12B0</vt:lpwstr>
  </property>
</Properties>
</file>