
<file path=[Content_Types].xml><?xml version="1.0" encoding="utf-8"?>
<Types xmlns="http://schemas.openxmlformats.org/package/2006/content-types">
  <Default Extension="bin" ContentType="application/vnd.ms-office.activeX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activeX/activeX1.xml" ContentType="application/vnd.ms-office.activeX+xml"/>
  <Override PartName="/ppt/activeX/activeX2.xml" ContentType="application/vnd.ms-office.activeX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7" r:id="rId3"/>
    <p:sldId id="278" r:id="rId4"/>
    <p:sldId id="280" r:id="rId5"/>
    <p:sldId id="281" r:id="rId6"/>
    <p:sldId id="282" r:id="rId7"/>
    <p:sldId id="25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36" autoAdjust="0"/>
    <p:restoredTop sz="94660"/>
  </p:normalViewPr>
  <p:slideViewPr>
    <p:cSldViewPr snapToGrid="0">
      <p:cViewPr varScale="1">
        <p:scale>
          <a:sx n="128" d="100"/>
          <a:sy n="128" d="100"/>
        </p:scale>
        <p:origin x="32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activeX/_rels/activeX1.xml.rels><?xml version="1.0" encoding="UTF-8" standalone="yes"?>
<Relationships xmlns="http://schemas.openxmlformats.org/package/2006/relationships"><Relationship Id="rId1" Type="http://schemas.microsoft.com/office/2006/relationships/activeXControlBinary" Target="activeX1.bin"/></Relationships>
</file>

<file path=ppt/activeX/_rels/activeX2.xml.rels><?xml version="1.0" encoding="UTF-8" standalone="yes"?>
<Relationships xmlns="http://schemas.openxmlformats.org/package/2006/relationships"><Relationship Id="rId1" Type="http://schemas.microsoft.com/office/2006/relationships/activeXControlBinary" Target="activeX2.bin"/></Relationships>
</file>

<file path=ppt/activeX/activeX1.xml><?xml version="1.0" encoding="utf-8"?>
<ax:ocx xmlns:ax="http://schemas.microsoft.com/office/2006/activeX" xmlns:r="http://schemas.openxmlformats.org/officeDocument/2006/relationships" ax:classid="{4C599241-6926-101B-9992-00000B65C6F9}" ax:persistence="persistStorage" r:id="rId1"/>
</file>

<file path=ppt/activeX/activeX2.xml><?xml version="1.0" encoding="utf-8"?>
<ax:ocx xmlns:ax="http://schemas.microsoft.com/office/2006/activeX" xmlns:r="http://schemas.openxmlformats.org/officeDocument/2006/relationships" ax:classid="{4C599241-6926-101B-9992-00000B65C6F9}" ax:persistence="persistStorage" r:id="rId1"/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5A553-0190-49B3-BADD-32298FC94B27}" type="datetimeFigureOut">
              <a:rPr lang="en-US" smtClean="0"/>
              <a:t>9/12/19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212C5-E03B-492D-BED9-519DC41A48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3583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5A553-0190-49B3-BADD-32298FC94B27}" type="datetimeFigureOut">
              <a:rPr lang="en-US" smtClean="0"/>
              <a:t>9/12/19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212C5-E03B-492D-BED9-519DC41A48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3377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5A553-0190-49B3-BADD-32298FC94B27}" type="datetimeFigureOut">
              <a:rPr lang="en-US" smtClean="0"/>
              <a:t>9/12/19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212C5-E03B-492D-BED9-519DC41A48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0425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5A553-0190-49B3-BADD-32298FC94B27}" type="datetimeFigureOut">
              <a:rPr lang="en-US" smtClean="0"/>
              <a:t>9/12/19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212C5-E03B-492D-BED9-519DC41A48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7006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5A553-0190-49B3-BADD-32298FC94B27}" type="datetimeFigureOut">
              <a:rPr lang="en-US" smtClean="0"/>
              <a:t>9/12/19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212C5-E03B-492D-BED9-519DC41A48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2938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5A553-0190-49B3-BADD-32298FC94B27}" type="datetimeFigureOut">
              <a:rPr lang="en-US" smtClean="0"/>
              <a:t>9/12/19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212C5-E03B-492D-BED9-519DC41A48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6524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5A553-0190-49B3-BADD-32298FC94B27}" type="datetimeFigureOut">
              <a:rPr lang="en-US" smtClean="0"/>
              <a:t>9/12/19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212C5-E03B-492D-BED9-519DC41A48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9866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5A553-0190-49B3-BADD-32298FC94B27}" type="datetimeFigureOut">
              <a:rPr lang="en-US" smtClean="0"/>
              <a:t>9/12/19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212C5-E03B-492D-BED9-519DC41A48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2598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5A553-0190-49B3-BADD-32298FC94B27}" type="datetimeFigureOut">
              <a:rPr lang="en-US" smtClean="0"/>
              <a:t>9/12/19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212C5-E03B-492D-BED9-519DC41A48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6598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5A553-0190-49B3-BADD-32298FC94B27}" type="datetimeFigureOut">
              <a:rPr lang="en-US" smtClean="0"/>
              <a:t>9/12/19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212C5-E03B-492D-BED9-519DC41A48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68227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5A553-0190-49B3-BADD-32298FC94B27}" type="datetimeFigureOut">
              <a:rPr lang="en-US" smtClean="0"/>
              <a:t>9/12/19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212C5-E03B-492D-BED9-519DC41A48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6380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vmlDrawing" Target="../drawings/vmlDrawing1.v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image" Target="../media/image2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w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control" Target="../activeX/activeX2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control" Target="../activeX/activeX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45A553-0190-49B3-BADD-32298FC94B27}" type="datetimeFigureOut">
              <a:rPr lang="en-US" smtClean="0"/>
              <a:t>9/12/19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1212C5-E03B-492D-BED9-519DC41A48C7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 userDrawn="1"/>
        </p:nvSpPr>
        <p:spPr>
          <a:xfrm>
            <a:off x="10287000" y="117475"/>
            <a:ext cx="190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ISO TC184/SC</a:t>
            </a:r>
            <a:r>
              <a:rPr lang="en-US" baseline="0" dirty="0"/>
              <a:t>4</a:t>
            </a:r>
            <a:endParaRPr lang="en-US" dirty="0"/>
          </a:p>
        </p:txBody>
      </p:sp>
    </p:spTree>
    <p:controls>
      <mc:AlternateContent xmlns:mc="http://schemas.openxmlformats.org/markup-compatibility/2006">
        <mc:Choice xmlns:v="urn:schemas-microsoft-com:vml" Requires="v">
          <p:control spid="1142" r:id="rId14" imgW="12192120" imgH="114480"/>
        </mc:Choice>
        <mc:Fallback>
          <p:control r:id="rId14" imgW="12192120" imgH="114480">
            <p:pic>
              <p:nvPicPr>
                <p:cNvPr id="8" name="Image1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16"/>
                <a:srcRect/>
                <a:stretch>
                  <a:fillRect/>
                </a:stretch>
              </p:blipFill>
              <p:spPr bwMode="auto">
                <a:xfrm>
                  <a:off x="-1" y="0"/>
                  <a:ext cx="12192001" cy="11747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1143" r:id="rId15" imgW="552600" imgH="504720"/>
        </mc:Choice>
        <mc:Fallback>
          <p:control r:id="rId15" imgW="552600" imgH="504720">
            <p:pic>
              <p:nvPicPr>
                <p:cNvPr id="10" name="Image3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17"/>
                <a:srcRect/>
                <a:stretch>
                  <a:fillRect/>
                </a:stretch>
              </p:blipFill>
              <p:spPr bwMode="auto">
                <a:xfrm>
                  <a:off x="575933" y="40097"/>
                  <a:ext cx="555955" cy="50509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control>
        </mc:Fallback>
      </mc:AlternateContent>
    </p:controls>
    <p:extLst>
      <p:ext uri="{BB962C8B-B14F-4D97-AF65-F5344CB8AC3E}">
        <p14:creationId xmlns:p14="http://schemas.microsoft.com/office/powerpoint/2010/main" val="19381654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49" r:id="rId2"/>
    <p:sldLayoutId id="2147483650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4.tiff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boost-conseil.com/" TargetMode="External"/><Relationship Id="rId2" Type="http://schemas.openxmlformats.org/officeDocument/2006/relationships/hyperlink" Target="mailto:kevin.letutour@boost-conseil.com" TargetMode="External"/><Relationship Id="rId1" Type="http://schemas.openxmlformats.org/officeDocument/2006/relationships/slideLayout" Target="../slideLayouts/slideLayout3.xml"/><Relationship Id="rId4" Type="http://schemas.openxmlformats.org/officeDocument/2006/relationships/hyperlink" Target="http://www.iso.org/iso/contact_iso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MetaPro-Light"/>
              </a:rPr>
              <a:t>Source code management with Jira and GIT</a:t>
            </a:r>
            <a:br>
              <a:rPr lang="en-US" sz="4000" dirty="0">
                <a:latin typeface="MetaPro-Light"/>
              </a:rPr>
            </a:br>
            <a:br>
              <a:rPr lang="en-US" sz="4000" dirty="0">
                <a:latin typeface="MetaPro-Light"/>
              </a:rPr>
            </a:br>
            <a:r>
              <a:rPr lang="en-US" sz="3600" dirty="0">
                <a:latin typeface="MetaPro-Light"/>
              </a:rPr>
              <a:t>ISO/TC 184/SC 4: </a:t>
            </a:r>
            <a:r>
              <a:rPr lang="en-US" sz="3600" i="1" dirty="0">
                <a:latin typeface="MetaPro-Light"/>
              </a:rPr>
              <a:t>Industrial Data </a:t>
            </a:r>
            <a:r>
              <a:rPr lang="en-US" sz="3600" dirty="0">
                <a:latin typeface="MetaPro-Light"/>
              </a:rPr>
              <a:t>Living Lab</a:t>
            </a:r>
            <a:br>
              <a:rPr lang="en-US" sz="3600" dirty="0">
                <a:latin typeface="MetaPro-Light"/>
              </a:rPr>
            </a:br>
            <a:endParaRPr lang="en-US" sz="4800" dirty="0">
              <a:latin typeface="MetaPro-Light"/>
            </a:endParaRPr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MetaPro-Light"/>
              </a:rPr>
              <a:t>Brandon Sapp - Boeing</a:t>
            </a:r>
          </a:p>
          <a:p>
            <a:r>
              <a:rPr lang="en-US" dirty="0">
                <a:latin typeface="MetaPro-Light"/>
              </a:rPr>
              <a:t>Melissa Harvey - Boeing</a:t>
            </a:r>
          </a:p>
          <a:p>
            <a:r>
              <a:rPr lang="en-US" dirty="0">
                <a:latin typeface="MetaPro-Light"/>
              </a:rPr>
              <a:t>Kevin Le </a:t>
            </a:r>
            <a:r>
              <a:rPr lang="en-US" dirty="0" err="1">
                <a:latin typeface="MetaPro-Light"/>
              </a:rPr>
              <a:t>Tutour</a:t>
            </a:r>
            <a:r>
              <a:rPr lang="en-US" dirty="0">
                <a:latin typeface="MetaPro-Light"/>
              </a:rPr>
              <a:t> - Boost</a:t>
            </a:r>
          </a:p>
        </p:txBody>
      </p:sp>
    </p:spTree>
    <p:extLst>
      <p:ext uri="{BB962C8B-B14F-4D97-AF65-F5344CB8AC3E}">
        <p14:creationId xmlns:p14="http://schemas.microsoft.com/office/powerpoint/2010/main" val="32919139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Adopt Agile Workflow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7258" y="3591054"/>
            <a:ext cx="1543050" cy="14573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157" y="3681041"/>
            <a:ext cx="3005555" cy="1731649"/>
          </a:xfrm>
          <a:prstGeom prst="rect">
            <a:avLst/>
          </a:prstGeom>
        </p:spPr>
      </p:pic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229850" cy="4351338"/>
          </a:xfrm>
        </p:spPr>
        <p:txBody>
          <a:bodyPr>
            <a:normAutofit/>
          </a:bodyPr>
          <a:lstStyle/>
          <a:p>
            <a:r>
              <a:rPr lang="en-US" sz="2400" dirty="0"/>
              <a:t>Project goal to use agile development methods to accelerate development and publication of standards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53997" y="3154254"/>
            <a:ext cx="2324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u="sng" dirty="0"/>
              <a:t>JIRA Objects for Agile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4810" y="3777293"/>
            <a:ext cx="3759066" cy="2302428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4382150" y="3154254"/>
            <a:ext cx="37351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u="sng" dirty="0"/>
              <a:t>Existing ISO Development Terms and Team Structure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92608" y="3176772"/>
            <a:ext cx="2324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u="sng" dirty="0" err="1"/>
              <a:t>SAFe</a:t>
            </a:r>
            <a:r>
              <a:rPr lang="en-US" u="sng" dirty="0"/>
              <a:t> Agile Framework</a:t>
            </a:r>
          </a:p>
        </p:txBody>
      </p:sp>
    </p:spTree>
    <p:extLst>
      <p:ext uri="{BB962C8B-B14F-4D97-AF65-F5344CB8AC3E}">
        <p14:creationId xmlns:p14="http://schemas.microsoft.com/office/powerpoint/2010/main" val="11953194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Adopt Agile Workflow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7536" y="2936677"/>
            <a:ext cx="600075" cy="2381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6734" y="2921726"/>
            <a:ext cx="581025" cy="2667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1316" y="3345151"/>
            <a:ext cx="1076325" cy="28575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98437" y="3653583"/>
            <a:ext cx="1495425" cy="2667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16336" y="3409029"/>
            <a:ext cx="628650" cy="23812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7535" y="3155237"/>
            <a:ext cx="600075" cy="23812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5211" y="2923744"/>
            <a:ext cx="600075" cy="238125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7534" y="3372592"/>
            <a:ext cx="600075" cy="238125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5210" y="3134228"/>
            <a:ext cx="600075" cy="238125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7537" y="2719322"/>
            <a:ext cx="600075" cy="238125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7533" y="3590733"/>
            <a:ext cx="600075" cy="23812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070573" y="1870994"/>
            <a:ext cx="23830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Overall Backlog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5212" y="2719561"/>
            <a:ext cx="600075" cy="23812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644662" y="1852020"/>
            <a:ext cx="33174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u="sng" dirty="0"/>
              <a:t>All ISO Work items will be an EPIC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62284" y="2369555"/>
            <a:ext cx="21306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u="sng" dirty="0"/>
              <a:t>Bugs from Bugzilla</a:t>
            </a: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7494" y="4441374"/>
            <a:ext cx="600075" cy="238125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5169" y="4428441"/>
            <a:ext cx="600075" cy="238125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5168" y="4638925"/>
            <a:ext cx="600075" cy="238125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7495" y="4224019"/>
            <a:ext cx="600075" cy="238125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5170" y="4224258"/>
            <a:ext cx="600075" cy="238125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127841" y="3854867"/>
            <a:ext cx="21306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u="sng" dirty="0"/>
              <a:t>New Bugs/Features</a:t>
            </a:r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43717" y="4222110"/>
            <a:ext cx="1114425" cy="257175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56773" y="4444178"/>
            <a:ext cx="1114425" cy="257175"/>
          </a:xfrm>
          <a:prstGeom prst="rect">
            <a:avLst/>
          </a:prstGeom>
        </p:spPr>
      </p:pic>
      <p:pic>
        <p:nvPicPr>
          <p:cNvPr id="33" name="Picture 3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5822" y="4683331"/>
            <a:ext cx="1076325" cy="285750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64239" y="4924136"/>
            <a:ext cx="628650" cy="238125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24566" y="4129987"/>
            <a:ext cx="1673180" cy="170202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9" name="TextBox 38"/>
          <p:cNvSpPr txBox="1"/>
          <p:nvPr/>
        </p:nvSpPr>
        <p:spPr>
          <a:xfrm>
            <a:off x="8962141" y="3685549"/>
            <a:ext cx="2360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u="sng" dirty="0"/>
              <a:t>Standard Workflow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743688" y="3275700"/>
            <a:ext cx="1114425" cy="710403"/>
          </a:xfrm>
          <a:prstGeom prst="roundRect">
            <a:avLst>
              <a:gd name="adj" fmla="val 7036"/>
            </a:avLst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Curved Connector 42"/>
          <p:cNvCxnSpPr>
            <a:stCxn id="11" idx="1"/>
            <a:endCxn id="27" idx="1"/>
          </p:cNvCxnSpPr>
          <p:nvPr/>
        </p:nvCxnSpPr>
        <p:spPr>
          <a:xfrm rot="10800000" flipV="1">
            <a:off x="1327495" y="3274300"/>
            <a:ext cx="300040" cy="1068782"/>
          </a:xfrm>
          <a:prstGeom prst="curvedConnector3">
            <a:avLst>
              <a:gd name="adj1" fmla="val 22698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6" name="Picture 5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44514" y="2264583"/>
            <a:ext cx="6600278" cy="371444"/>
          </a:xfrm>
          <a:prstGeom prst="rect">
            <a:avLst/>
          </a:prstGeom>
        </p:spPr>
      </p:pic>
      <p:sp>
        <p:nvSpPr>
          <p:cNvPr id="40" name="Rounded Rectangle 39"/>
          <p:cNvSpPr/>
          <p:nvPr/>
        </p:nvSpPr>
        <p:spPr>
          <a:xfrm>
            <a:off x="6912789" y="3275700"/>
            <a:ext cx="1681073" cy="710403"/>
          </a:xfrm>
          <a:prstGeom prst="roundRect">
            <a:avLst>
              <a:gd name="adj" fmla="val 7036"/>
            </a:avLst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ounded Rectangle 43"/>
          <p:cNvSpPr/>
          <p:nvPr/>
        </p:nvSpPr>
        <p:spPr>
          <a:xfrm>
            <a:off x="5689012" y="2808116"/>
            <a:ext cx="2992351" cy="1321871"/>
          </a:xfrm>
          <a:prstGeom prst="roundRect">
            <a:avLst>
              <a:gd name="adj" fmla="val 7036"/>
            </a:avLst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6" name="Curved Connector 45"/>
          <p:cNvCxnSpPr>
            <a:cxnSpLocks/>
            <a:stCxn id="32" idx="3"/>
            <a:endCxn id="44" idx="1"/>
          </p:cNvCxnSpPr>
          <p:nvPr/>
        </p:nvCxnSpPr>
        <p:spPr>
          <a:xfrm flipV="1">
            <a:off x="3471198" y="3469052"/>
            <a:ext cx="2217814" cy="1103714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urved Connector 48"/>
          <p:cNvCxnSpPr>
            <a:stCxn id="36" idx="1"/>
            <a:endCxn id="40" idx="2"/>
          </p:cNvCxnSpPr>
          <p:nvPr/>
        </p:nvCxnSpPr>
        <p:spPr>
          <a:xfrm rot="10800000">
            <a:off x="7753326" y="3986103"/>
            <a:ext cx="1471240" cy="994898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urved Connector 51"/>
          <p:cNvCxnSpPr>
            <a:cxnSpLocks/>
            <a:stCxn id="36" idx="1"/>
            <a:endCxn id="41" idx="2"/>
          </p:cNvCxnSpPr>
          <p:nvPr/>
        </p:nvCxnSpPr>
        <p:spPr>
          <a:xfrm rot="10800000">
            <a:off x="6300902" y="3986103"/>
            <a:ext cx="2923665" cy="994898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0BB664E9-1403-A944-B4D6-407CF1A3D6E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64239" y="5188316"/>
            <a:ext cx="685800" cy="285750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4698F455-223A-EA41-959E-E4969EAB7CF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91240" y="3554864"/>
            <a:ext cx="623851" cy="259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4387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Clean Up Bugzilla 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838200" y="1825625"/>
            <a:ext cx="11057238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u="sng" dirty="0"/>
              <a:t>Bugzilla Projects</a:t>
            </a:r>
          </a:p>
          <a:p>
            <a:pPr marL="0" indent="0">
              <a:buNone/>
            </a:pPr>
            <a:r>
              <a:rPr lang="en-US" sz="1100" dirty="0"/>
              <a:t>10303 Recommended Practices		: 114 Bugs 	: Recommend DELETION [Confirmed by Jochen]</a:t>
            </a:r>
          </a:p>
          <a:p>
            <a:pPr marL="0" indent="0">
              <a:buNone/>
            </a:pPr>
            <a:r>
              <a:rPr lang="en-US" sz="1100" dirty="0"/>
              <a:t>P210 IS1			: 1105 Bugs	: Recommend ARCHIVAL [zip on SC4 Dropbox]</a:t>
            </a:r>
          </a:p>
          <a:p>
            <a:pPr marL="0" indent="0">
              <a:buNone/>
            </a:pPr>
            <a:r>
              <a:rPr lang="en-US" sz="1100" dirty="0"/>
              <a:t>Express Engine			: 66 Bugs	: Recommend MIGRATION to ISO Living Lab TC 184 SC 4 Utilities Project</a:t>
            </a:r>
          </a:p>
          <a:p>
            <a:pPr marL="0" indent="0">
              <a:buNone/>
            </a:pPr>
            <a:r>
              <a:rPr lang="en-US" sz="1100" dirty="0"/>
              <a:t>ISO 10303			: 5208 Bugs	: Recommend MIGRATION to ISO Living Lab TC 184 SC 4 WG12</a:t>
            </a:r>
          </a:p>
          <a:p>
            <a:pPr marL="0" indent="0">
              <a:buNone/>
            </a:pPr>
            <a:r>
              <a:rPr lang="en-US" sz="1100" dirty="0"/>
              <a:t>ISO 14306			: 14 Bugs	: Recommend ARCHIVAL [zip on SC4 Dropbox]</a:t>
            </a:r>
          </a:p>
          <a:p>
            <a:pPr marL="0" indent="0">
              <a:buNone/>
            </a:pPr>
            <a:r>
              <a:rPr lang="en-US" sz="1100" dirty="0"/>
              <a:t>ISO 29002			: 0 Bugs	: Recommend DELETION</a:t>
            </a:r>
          </a:p>
          <a:p>
            <a:pPr marL="0" indent="0">
              <a:buNone/>
            </a:pPr>
            <a:r>
              <a:rPr lang="en-US" sz="1100" dirty="0"/>
              <a:t>SC4 Standing documents		: 27 Bugs	: Recommend MIGRATION to ISO Living Lab TC 184 SC 4 Standing Documents Development and Management Project</a:t>
            </a:r>
          </a:p>
          <a:p>
            <a:pPr marL="0" indent="0">
              <a:buNone/>
            </a:pPr>
            <a:r>
              <a:rPr lang="en-US" sz="1100" dirty="0" err="1"/>
              <a:t>stepmod</a:t>
            </a:r>
            <a:r>
              <a:rPr lang="en-US" sz="1100" dirty="0"/>
              <a:t> environment and Utilities 	: 490 Bugs	: Recommend MIGRATION to ISO Living Lab TC 184 SC 4 Utilities Project</a:t>
            </a:r>
          </a:p>
          <a:p>
            <a:pPr marL="0" indent="0">
              <a:buNone/>
            </a:pPr>
            <a:r>
              <a:rPr lang="en-US" sz="1100" dirty="0"/>
              <a:t>test			: 1 Bugs 	: Recommend DELETION</a:t>
            </a:r>
          </a:p>
          <a:p>
            <a:pPr marL="0" indent="0">
              <a:buNone/>
            </a:pPr>
            <a:r>
              <a:rPr lang="en-US" sz="1100" dirty="0"/>
              <a:t>WG12 Policy			: 2 Bugs 	: Recommend MIGRATION to ISO Living Lab TC 184 SC 4 Standing Documents Development and Management Project</a:t>
            </a:r>
          </a:p>
        </p:txBody>
      </p:sp>
    </p:spTree>
    <p:extLst>
      <p:ext uri="{BB962C8B-B14F-4D97-AF65-F5344CB8AC3E}">
        <p14:creationId xmlns:p14="http://schemas.microsoft.com/office/powerpoint/2010/main" val="16318485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Attribute Analysis and Mapping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10 Custom attributes that need to be reviewed</a:t>
            </a:r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r>
              <a:rPr lang="en-US" sz="2400" dirty="0"/>
              <a:t>Bugzilla &gt; JIRA Bugzilla Backlog Project &gt; JIRA Agile Project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4979" y="4137652"/>
            <a:ext cx="7491664" cy="239570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4072" y="1370246"/>
            <a:ext cx="4716234" cy="2023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58023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2E2B2D-5605-2F48-8434-DED20A2EE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CEF191-12AF-144F-B650-567B6ABDE6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Confirm with WG leaders their impacts:</a:t>
            </a:r>
          </a:p>
          <a:p>
            <a:pPr lvl="1"/>
            <a:r>
              <a:rPr lang="en-US" sz="1800" dirty="0"/>
              <a:t>Using JIRA and Scaled Agile [</a:t>
            </a:r>
            <a:r>
              <a:rPr lang="en-US" sz="1800" dirty="0" err="1"/>
              <a:t>SAFe</a:t>
            </a:r>
            <a:r>
              <a:rPr lang="en-US" sz="1800" dirty="0"/>
              <a:t> Requirements model, Project Management]</a:t>
            </a:r>
          </a:p>
          <a:p>
            <a:pPr lvl="1"/>
            <a:r>
              <a:rPr lang="en-US" sz="1800" dirty="0"/>
              <a:t>Agreement on Recommendation for Bugzilla historical data</a:t>
            </a:r>
          </a:p>
          <a:p>
            <a:pPr lvl="1"/>
            <a:r>
              <a:rPr lang="en-US" sz="1800" dirty="0"/>
              <a:t>Cutover date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By request of SC4 Chair – Plan for implementation/cutover, by WG, to be approved at the November ISO TC 184/SC4 meeting in November.</a:t>
            </a:r>
          </a:p>
        </p:txBody>
      </p:sp>
    </p:spTree>
    <p:extLst>
      <p:ext uri="{BB962C8B-B14F-4D97-AF65-F5344CB8AC3E}">
        <p14:creationId xmlns:p14="http://schemas.microsoft.com/office/powerpoint/2010/main" val="42403214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  <a:latin typeface="MetaPro-Light"/>
              </a:rPr>
              <a:t>ISO/TC 184/SC 4 - Industrial Data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199" y="1825625"/>
            <a:ext cx="6048375" cy="4351338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200" b="1" dirty="0">
                <a:latin typeface="MetaPro-Light"/>
              </a:rPr>
              <a:t>Brandon Sapp </a:t>
            </a:r>
            <a:r>
              <a:rPr lang="en-US" sz="1200" dirty="0">
                <a:latin typeface="MetaPro-Light"/>
              </a:rPr>
              <a:t>|</a:t>
            </a:r>
            <a:r>
              <a:rPr lang="en-US" sz="1200" b="1" dirty="0">
                <a:latin typeface="MetaPro-Light"/>
              </a:rPr>
              <a:t> </a:t>
            </a:r>
            <a:r>
              <a:rPr lang="en-US" sz="1200" i="1" dirty="0">
                <a:latin typeface="MetaPro-Light"/>
              </a:rPr>
              <a:t>The Boeing Company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b="1" dirty="0">
                <a:latin typeface="MetaPro-Light"/>
              </a:rPr>
              <a:t>Address</a:t>
            </a:r>
            <a:r>
              <a:rPr lang="en-US" sz="1200" dirty="0">
                <a:latin typeface="MetaPro-Light"/>
              </a:rPr>
              <a:t>: 9902 24</a:t>
            </a:r>
            <a:r>
              <a:rPr lang="en-US" sz="1200" baseline="30000" dirty="0">
                <a:latin typeface="MetaPro-Light"/>
              </a:rPr>
              <a:t>th</a:t>
            </a:r>
            <a:r>
              <a:rPr lang="en-US" sz="1200" dirty="0">
                <a:latin typeface="MetaPro-Light"/>
              </a:rPr>
              <a:t> Place W., Everett, WA 98204-1404</a:t>
            </a:r>
            <a:endParaRPr lang="en-US" sz="1200" b="1" dirty="0">
              <a:latin typeface="MetaPro-Light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200" b="1" dirty="0">
                <a:latin typeface="MetaPro-Light"/>
              </a:rPr>
              <a:t>Mobile</a:t>
            </a:r>
            <a:r>
              <a:rPr lang="en-US" sz="1200" dirty="0">
                <a:latin typeface="MetaPro-Light"/>
              </a:rPr>
              <a:t>: 425.471.9712 | </a:t>
            </a:r>
            <a:r>
              <a:rPr lang="en-US" sz="1200" b="1" dirty="0">
                <a:latin typeface="MetaPro-Light"/>
              </a:rPr>
              <a:t>Desk</a:t>
            </a:r>
            <a:r>
              <a:rPr lang="en-US" sz="1200" dirty="0">
                <a:latin typeface="MetaPro-Light"/>
              </a:rPr>
              <a:t>: 425-865-3111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b="1" dirty="0">
                <a:latin typeface="MetaPro-Light"/>
              </a:rPr>
              <a:t>Email</a:t>
            </a:r>
            <a:r>
              <a:rPr lang="en-US" sz="1200" dirty="0">
                <a:latin typeface="MetaPro-Light"/>
              </a:rPr>
              <a:t>: brandon.sapp@boeing.com </a:t>
            </a:r>
          </a:p>
          <a:p>
            <a:pPr marL="0" indent="0">
              <a:spcBef>
                <a:spcPts val="0"/>
              </a:spcBef>
              <a:buNone/>
            </a:pPr>
            <a:endParaRPr lang="en-US" sz="1200" dirty="0">
              <a:latin typeface="MetaPro-Light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200" b="1" dirty="0">
                <a:latin typeface="MetaPro-Light"/>
              </a:rPr>
              <a:t>Melissa Harvey Sapp </a:t>
            </a:r>
            <a:r>
              <a:rPr lang="en-US" sz="1200" dirty="0">
                <a:latin typeface="MetaPro-Light"/>
              </a:rPr>
              <a:t>|</a:t>
            </a:r>
            <a:r>
              <a:rPr lang="en-US" sz="1200" b="1" dirty="0">
                <a:latin typeface="MetaPro-Light"/>
              </a:rPr>
              <a:t> </a:t>
            </a:r>
            <a:r>
              <a:rPr lang="en-US" sz="1200" i="1" dirty="0">
                <a:latin typeface="MetaPro-Light"/>
              </a:rPr>
              <a:t>The Boeing Company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b="1" dirty="0">
                <a:latin typeface="MetaPro-Light"/>
              </a:rPr>
              <a:t>Address</a:t>
            </a:r>
            <a:r>
              <a:rPr lang="en-US" sz="1200" dirty="0">
                <a:latin typeface="MetaPro-Light"/>
              </a:rPr>
              <a:t>: 9902 24</a:t>
            </a:r>
            <a:r>
              <a:rPr lang="en-US" sz="1200" baseline="30000" dirty="0">
                <a:latin typeface="MetaPro-Light"/>
              </a:rPr>
              <a:t>th</a:t>
            </a:r>
            <a:r>
              <a:rPr lang="en-US" sz="1200" dirty="0">
                <a:latin typeface="MetaPro-Light"/>
              </a:rPr>
              <a:t> Place W., Everett, WA 98204-1404</a:t>
            </a:r>
            <a:endParaRPr lang="en-US" sz="1200" b="1" dirty="0">
              <a:latin typeface="MetaPro-Light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200" b="1" dirty="0">
                <a:latin typeface="MetaPro-Light"/>
              </a:rPr>
              <a:t>Phone</a:t>
            </a:r>
            <a:r>
              <a:rPr lang="en-US" sz="1200" dirty="0">
                <a:latin typeface="MetaPro-Light"/>
              </a:rPr>
              <a:t>: 425-234-5422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b="1" dirty="0">
                <a:latin typeface="MetaPro-Light"/>
              </a:rPr>
              <a:t>Email</a:t>
            </a:r>
            <a:r>
              <a:rPr lang="en-US" sz="1200" dirty="0">
                <a:latin typeface="MetaPro-Light"/>
              </a:rPr>
              <a:t>: Melissa.K.Harvey@boeing.com </a:t>
            </a:r>
          </a:p>
          <a:p>
            <a:pPr marL="0" indent="0">
              <a:spcBef>
                <a:spcPts val="0"/>
              </a:spcBef>
              <a:buNone/>
            </a:pPr>
            <a:endParaRPr lang="en-US" sz="1200" b="1" dirty="0">
              <a:latin typeface="MetaPro-Light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200" b="1" dirty="0">
                <a:latin typeface="MetaPro-Light"/>
              </a:rPr>
              <a:t>Kevin Le Tutour</a:t>
            </a:r>
            <a:r>
              <a:rPr lang="en-US" sz="1200" dirty="0">
                <a:latin typeface="MetaPro-Light"/>
              </a:rPr>
              <a:t> | </a:t>
            </a:r>
            <a:r>
              <a:rPr lang="en-US" sz="1200" i="1" dirty="0">
                <a:latin typeface="MetaPro-Light"/>
              </a:rPr>
              <a:t>Boost Conseil</a:t>
            </a:r>
            <a:br>
              <a:rPr lang="en-US" sz="1200" dirty="0">
                <a:latin typeface="MetaPro-Light"/>
              </a:rPr>
            </a:br>
            <a:r>
              <a:rPr lang="en-US" sz="1200" b="1" dirty="0">
                <a:latin typeface="MetaPro-Light"/>
              </a:rPr>
              <a:t>Address</a:t>
            </a:r>
            <a:r>
              <a:rPr lang="en-US" sz="1200" dirty="0">
                <a:latin typeface="MetaPro-Light"/>
              </a:rPr>
              <a:t>: 30 rue de </a:t>
            </a:r>
            <a:r>
              <a:rPr lang="en-US" sz="1200" dirty="0" err="1">
                <a:latin typeface="MetaPro-Light"/>
              </a:rPr>
              <a:t>Miromesnil</a:t>
            </a:r>
            <a:r>
              <a:rPr lang="en-US" sz="1200" dirty="0">
                <a:latin typeface="MetaPro-Light"/>
              </a:rPr>
              <a:t> 75008 Paris</a:t>
            </a:r>
            <a:br>
              <a:rPr lang="en-US" sz="1200" dirty="0">
                <a:latin typeface="MetaPro-Light"/>
              </a:rPr>
            </a:br>
            <a:r>
              <a:rPr lang="en-US" sz="1200" dirty="0" err="1">
                <a:latin typeface="MetaPro-Light"/>
              </a:rPr>
              <a:t>tel</a:t>
            </a:r>
            <a:r>
              <a:rPr lang="en-US" sz="1200" dirty="0">
                <a:latin typeface="MetaPro-Light"/>
              </a:rPr>
              <a:t>: +33 144 568 750 | </a:t>
            </a:r>
            <a:r>
              <a:rPr lang="en-US" sz="1200" dirty="0" err="1">
                <a:latin typeface="MetaPro-Light"/>
              </a:rPr>
              <a:t>gsm</a:t>
            </a:r>
            <a:r>
              <a:rPr lang="en-US" sz="1200" dirty="0">
                <a:latin typeface="MetaPro-Light"/>
              </a:rPr>
              <a:t>: +33 663 591 281</a:t>
            </a:r>
            <a:br>
              <a:rPr lang="en-US" sz="1200" dirty="0">
                <a:latin typeface="MetaPro-Light"/>
              </a:rPr>
            </a:br>
            <a:r>
              <a:rPr lang="en-US" sz="1200" u="sng" dirty="0">
                <a:latin typeface="MetaPro-Light"/>
                <a:hlinkClick r:id="rId2"/>
              </a:rPr>
              <a:t>kevin.letutour@boost-conseil.com</a:t>
            </a:r>
            <a:r>
              <a:rPr lang="en-US" sz="1200" dirty="0">
                <a:latin typeface="MetaPro-Light"/>
              </a:rPr>
              <a:t> | </a:t>
            </a:r>
            <a:r>
              <a:rPr lang="en-US" sz="1200" u="sng" dirty="0">
                <a:latin typeface="MetaPro-Light"/>
                <a:hlinkClick r:id="rId3"/>
              </a:rPr>
              <a:t>www.boost-conseil.com</a:t>
            </a:r>
            <a:endParaRPr lang="en-US" sz="1200" u="sng" dirty="0">
              <a:latin typeface="MetaPro-Light"/>
            </a:endParaRPr>
          </a:p>
          <a:p>
            <a:pPr marL="0" indent="0">
              <a:spcBef>
                <a:spcPts val="0"/>
              </a:spcBef>
              <a:buNone/>
            </a:pPr>
            <a:endParaRPr lang="en-US" sz="1200" u="sng" dirty="0">
              <a:latin typeface="MetaPro-Light"/>
            </a:endParaRPr>
          </a:p>
          <a:p>
            <a:pPr marL="0" indent="0">
              <a:spcBef>
                <a:spcPts val="0"/>
              </a:spcBef>
              <a:buNone/>
            </a:pPr>
            <a:endParaRPr lang="en-US" sz="1200" u="sng" dirty="0">
              <a:latin typeface="MetaPro-Light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200" b="1" dirty="0">
                <a:latin typeface="MetaPro-Light"/>
              </a:rPr>
              <a:t>Stéphane </a:t>
            </a:r>
            <a:r>
              <a:rPr lang="en-US" sz="1200" b="1" dirty="0" err="1">
                <a:latin typeface="MetaPro-Light"/>
              </a:rPr>
              <a:t>Châtelet</a:t>
            </a:r>
            <a:r>
              <a:rPr lang="en-US" sz="1200" dirty="0">
                <a:latin typeface="MetaPro-Light"/>
              </a:rPr>
              <a:t> | ISO director  information technology services | </a:t>
            </a:r>
            <a:r>
              <a:rPr lang="en-US" sz="1200" u="sng" dirty="0" err="1">
                <a:latin typeface="MetaPro-Light"/>
                <a:hlinkClick r:id="rId4"/>
              </a:rPr>
              <a:t>iso</a:t>
            </a:r>
            <a:r>
              <a:rPr lang="en-US" sz="1200" u="sng" dirty="0">
                <a:latin typeface="MetaPro-Light"/>
                <a:hlinkClick r:id="rId4"/>
              </a:rPr>
              <a:t> central secretariat</a:t>
            </a:r>
            <a:r>
              <a:rPr lang="en-US" sz="1200" dirty="0">
                <a:latin typeface="MetaPro-Light"/>
              </a:rPr>
              <a:t> | phone: +41 22 749 02 39 | mobile: +41 78 881 24 43</a:t>
            </a:r>
          </a:p>
          <a:p>
            <a:pPr marL="0" indent="0">
              <a:spcBef>
                <a:spcPts val="0"/>
              </a:spcBef>
              <a:buNone/>
            </a:pPr>
            <a:endParaRPr lang="en-US" sz="1200" u="sng" dirty="0">
              <a:latin typeface="MetaPro-Light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MetaPro-Light"/>
              </a:rPr>
              <a:t> </a:t>
            </a:r>
          </a:p>
        </p:txBody>
      </p:sp>
      <p:sp>
        <p:nvSpPr>
          <p:cNvPr id="6" name="object 2"/>
          <p:cNvSpPr txBox="1">
            <a:spLocks/>
          </p:cNvSpPr>
          <p:nvPr/>
        </p:nvSpPr>
        <p:spPr>
          <a:xfrm>
            <a:off x="7553324" y="4333875"/>
            <a:ext cx="4295775" cy="236219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065" marR="13335" indent="0" algn="r">
              <a:lnSpc>
                <a:spcPct val="100000"/>
              </a:lnSpc>
              <a:buNone/>
            </a:pPr>
            <a:r>
              <a:rPr lang="en-US" sz="1100" spc="25" dirty="0">
                <a:solidFill>
                  <a:srgbClr val="231F20"/>
                </a:solidFill>
                <a:latin typeface="MetaPro-Light"/>
              </a:rPr>
              <a:t>In</a:t>
            </a:r>
            <a:r>
              <a:rPr lang="en-US" sz="1100" dirty="0">
                <a:solidFill>
                  <a:srgbClr val="231F20"/>
                </a:solidFill>
                <a:latin typeface="MetaPro-Light"/>
              </a:rPr>
              <a:t>t</a:t>
            </a:r>
            <a:r>
              <a:rPr lang="en-US" sz="1100" spc="-10" dirty="0">
                <a:solidFill>
                  <a:srgbClr val="231F20"/>
                </a:solidFill>
                <a:latin typeface="MetaPro-Light"/>
              </a:rPr>
              <a:t>er</a:t>
            </a:r>
            <a:r>
              <a:rPr lang="en-US" sz="1100" spc="-25" dirty="0">
                <a:solidFill>
                  <a:srgbClr val="231F20"/>
                </a:solidFill>
                <a:latin typeface="MetaPro-Light"/>
              </a:rPr>
              <a:t>n</a:t>
            </a:r>
            <a:r>
              <a:rPr lang="en-US" sz="1100" spc="10" dirty="0">
                <a:solidFill>
                  <a:srgbClr val="231F20"/>
                </a:solidFill>
                <a:latin typeface="MetaPro-Light"/>
              </a:rPr>
              <a:t>atio</a:t>
            </a:r>
            <a:r>
              <a:rPr lang="en-US" sz="1100" spc="5" dirty="0">
                <a:solidFill>
                  <a:srgbClr val="231F20"/>
                </a:solidFill>
                <a:latin typeface="MetaPro-Light"/>
              </a:rPr>
              <a:t>n</a:t>
            </a:r>
            <a:r>
              <a:rPr lang="en-US" sz="1100" spc="-45" dirty="0">
                <a:solidFill>
                  <a:srgbClr val="231F20"/>
                </a:solidFill>
                <a:latin typeface="MetaPro-Light"/>
              </a:rPr>
              <a:t>a</a:t>
            </a:r>
            <a:r>
              <a:rPr lang="en-US" sz="1100" spc="55" dirty="0">
                <a:solidFill>
                  <a:srgbClr val="231F20"/>
                </a:solidFill>
                <a:latin typeface="MetaPro-Light"/>
              </a:rPr>
              <a:t>l</a:t>
            </a:r>
            <a:r>
              <a:rPr lang="en-US" sz="1100" spc="-65" dirty="0">
                <a:solidFill>
                  <a:srgbClr val="231F20"/>
                </a:solidFill>
                <a:latin typeface="MetaPro-Light"/>
              </a:rPr>
              <a:t> </a:t>
            </a:r>
            <a:r>
              <a:rPr lang="en-US" sz="1100" spc="-55" dirty="0">
                <a:solidFill>
                  <a:srgbClr val="231F20"/>
                </a:solidFill>
                <a:latin typeface="MetaPro-Light"/>
              </a:rPr>
              <a:t>O</a:t>
            </a:r>
            <a:r>
              <a:rPr lang="en-US" sz="1100" spc="-40" dirty="0">
                <a:solidFill>
                  <a:srgbClr val="231F20"/>
                </a:solidFill>
                <a:latin typeface="MetaPro-Light"/>
              </a:rPr>
              <a:t>r</a:t>
            </a:r>
            <a:r>
              <a:rPr lang="en-US" sz="1100" spc="-25" dirty="0">
                <a:solidFill>
                  <a:srgbClr val="231F20"/>
                </a:solidFill>
                <a:latin typeface="MetaPro-Light"/>
              </a:rPr>
              <a:t>g</a:t>
            </a:r>
            <a:r>
              <a:rPr lang="en-US" sz="1100" spc="-5" dirty="0">
                <a:solidFill>
                  <a:srgbClr val="231F20"/>
                </a:solidFill>
                <a:latin typeface="MetaPro-Light"/>
              </a:rPr>
              <a:t>ani</a:t>
            </a:r>
            <a:r>
              <a:rPr lang="en-US" sz="1100" spc="-20" dirty="0">
                <a:solidFill>
                  <a:srgbClr val="231F20"/>
                </a:solidFill>
                <a:latin typeface="MetaPro-Light"/>
              </a:rPr>
              <a:t>z</a:t>
            </a:r>
            <a:r>
              <a:rPr lang="en-US" sz="1100" spc="10" dirty="0">
                <a:solidFill>
                  <a:srgbClr val="231F20"/>
                </a:solidFill>
                <a:latin typeface="MetaPro-Light"/>
              </a:rPr>
              <a:t>ation</a:t>
            </a:r>
            <a:r>
              <a:rPr lang="en-US" sz="1100" spc="5" dirty="0">
                <a:solidFill>
                  <a:srgbClr val="231F20"/>
                </a:solidFill>
                <a:latin typeface="MetaPro-Light"/>
              </a:rPr>
              <a:t> </a:t>
            </a:r>
            <a:r>
              <a:rPr lang="en-US" sz="1100" spc="25" dirty="0">
                <a:solidFill>
                  <a:srgbClr val="231F20"/>
                </a:solidFill>
                <a:latin typeface="MetaPro-Light"/>
              </a:rPr>
              <a:t>f</a:t>
            </a:r>
            <a:r>
              <a:rPr lang="en-US" sz="1100" dirty="0">
                <a:solidFill>
                  <a:srgbClr val="231F20"/>
                </a:solidFill>
                <a:latin typeface="MetaPro-Light"/>
              </a:rPr>
              <a:t>or</a:t>
            </a:r>
            <a:r>
              <a:rPr lang="en-US" sz="1100" spc="-75" dirty="0">
                <a:solidFill>
                  <a:srgbClr val="231F20"/>
                </a:solidFill>
                <a:latin typeface="MetaPro-Light"/>
              </a:rPr>
              <a:t> </a:t>
            </a:r>
            <a:r>
              <a:rPr lang="en-US" sz="1100" spc="-10" dirty="0">
                <a:solidFill>
                  <a:srgbClr val="231F20"/>
                </a:solidFill>
                <a:latin typeface="MetaPro-Light"/>
              </a:rPr>
              <a:t>S</a:t>
            </a:r>
            <a:r>
              <a:rPr lang="en-US" sz="1100" spc="-20" dirty="0">
                <a:solidFill>
                  <a:srgbClr val="231F20"/>
                </a:solidFill>
                <a:latin typeface="MetaPro-Light"/>
              </a:rPr>
              <a:t>t</a:t>
            </a:r>
            <a:r>
              <a:rPr lang="en-US" sz="1100" spc="-15" dirty="0">
                <a:solidFill>
                  <a:srgbClr val="231F20"/>
                </a:solidFill>
                <a:latin typeface="MetaPro-Light"/>
              </a:rPr>
              <a:t>an</a:t>
            </a:r>
            <a:r>
              <a:rPr lang="en-US" sz="1100" spc="-20" dirty="0">
                <a:solidFill>
                  <a:srgbClr val="231F20"/>
                </a:solidFill>
                <a:latin typeface="MetaPro-Light"/>
              </a:rPr>
              <a:t>d</a:t>
            </a:r>
            <a:r>
              <a:rPr lang="en-US" sz="1100" spc="-15" dirty="0">
                <a:solidFill>
                  <a:srgbClr val="231F20"/>
                </a:solidFill>
                <a:latin typeface="MetaPro-Light"/>
              </a:rPr>
              <a:t>a</a:t>
            </a:r>
            <a:r>
              <a:rPr lang="en-US" sz="1100" spc="-25" dirty="0">
                <a:solidFill>
                  <a:srgbClr val="231F20"/>
                </a:solidFill>
                <a:latin typeface="MetaPro-Light"/>
              </a:rPr>
              <a:t>r</a:t>
            </a:r>
            <a:r>
              <a:rPr lang="en-US" sz="1100" spc="5" dirty="0">
                <a:solidFill>
                  <a:srgbClr val="231F20"/>
                </a:solidFill>
                <a:latin typeface="MetaPro-Light"/>
              </a:rPr>
              <a:t>di</a:t>
            </a:r>
            <a:r>
              <a:rPr lang="en-US" sz="1100" spc="-5" dirty="0">
                <a:solidFill>
                  <a:srgbClr val="231F20"/>
                </a:solidFill>
                <a:latin typeface="MetaPro-Light"/>
              </a:rPr>
              <a:t>z</a:t>
            </a:r>
            <a:r>
              <a:rPr lang="en-US" sz="1100" spc="10" dirty="0">
                <a:solidFill>
                  <a:srgbClr val="231F20"/>
                </a:solidFill>
                <a:latin typeface="MetaPro-Light"/>
              </a:rPr>
              <a:t>ation</a:t>
            </a:r>
            <a:endParaRPr lang="en-US" sz="1100" dirty="0">
              <a:latin typeface="MetaPro-Light"/>
            </a:endParaRPr>
          </a:p>
          <a:p>
            <a:pPr marL="457200" marR="12700" indent="0" algn="r">
              <a:lnSpc>
                <a:spcPct val="114599"/>
              </a:lnSpc>
              <a:spcBef>
                <a:spcPts val="240"/>
              </a:spcBef>
              <a:buNone/>
            </a:pPr>
            <a:r>
              <a:rPr lang="en-US" sz="1100" spc="-90" dirty="0">
                <a:solidFill>
                  <a:srgbClr val="231F20"/>
                </a:solidFill>
                <a:latin typeface="MetaPro-Light"/>
              </a:rPr>
              <a:t>ISO</a:t>
            </a:r>
            <a:r>
              <a:rPr lang="en-US" sz="1100" spc="-40" dirty="0">
                <a:solidFill>
                  <a:srgbClr val="231F20"/>
                </a:solidFill>
                <a:latin typeface="MetaPro-Light"/>
              </a:rPr>
              <a:t> </a:t>
            </a:r>
            <a:r>
              <a:rPr lang="en-US" sz="1100" spc="-70" dirty="0">
                <a:solidFill>
                  <a:srgbClr val="231F20"/>
                </a:solidFill>
                <a:latin typeface="MetaPro-Light"/>
              </a:rPr>
              <a:t>Cen</a:t>
            </a:r>
            <a:r>
              <a:rPr lang="en-US" sz="1100" spc="-45" dirty="0">
                <a:solidFill>
                  <a:srgbClr val="231F20"/>
                </a:solidFill>
                <a:latin typeface="MetaPro-Light"/>
              </a:rPr>
              <a:t>t</a:t>
            </a:r>
            <a:r>
              <a:rPr lang="en-US" sz="1100" spc="-40" dirty="0">
                <a:solidFill>
                  <a:srgbClr val="231F20"/>
                </a:solidFill>
                <a:latin typeface="MetaPro-Light"/>
              </a:rPr>
              <a:t>r</a:t>
            </a:r>
            <a:r>
              <a:rPr lang="en-US" sz="1100" spc="-25" dirty="0">
                <a:solidFill>
                  <a:srgbClr val="231F20"/>
                </a:solidFill>
                <a:latin typeface="MetaPro-Light"/>
              </a:rPr>
              <a:t>al</a:t>
            </a:r>
            <a:r>
              <a:rPr lang="en-US" sz="1100" spc="-65" dirty="0">
                <a:solidFill>
                  <a:srgbClr val="231F20"/>
                </a:solidFill>
                <a:latin typeface="MetaPro-Light"/>
              </a:rPr>
              <a:t> </a:t>
            </a:r>
            <a:r>
              <a:rPr lang="en-US" sz="1100" spc="-85" dirty="0">
                <a:solidFill>
                  <a:srgbClr val="231F20"/>
                </a:solidFill>
                <a:latin typeface="MetaPro-Light"/>
              </a:rPr>
              <a:t>Se</a:t>
            </a:r>
            <a:r>
              <a:rPr lang="en-US" sz="1100" spc="-80" dirty="0">
                <a:solidFill>
                  <a:srgbClr val="231F20"/>
                </a:solidFill>
                <a:latin typeface="MetaPro-Light"/>
              </a:rPr>
              <a:t>c</a:t>
            </a:r>
            <a:r>
              <a:rPr lang="en-US" sz="1100" spc="-30" dirty="0">
                <a:solidFill>
                  <a:srgbClr val="231F20"/>
                </a:solidFill>
                <a:latin typeface="MetaPro-Light"/>
              </a:rPr>
              <a:t>retar</a:t>
            </a:r>
            <a:r>
              <a:rPr lang="en-US" sz="1100" spc="-20" dirty="0">
                <a:solidFill>
                  <a:srgbClr val="231F20"/>
                </a:solidFill>
                <a:latin typeface="MetaPro-Light"/>
              </a:rPr>
              <a:t>iat</a:t>
            </a:r>
            <a:r>
              <a:rPr lang="en-US" sz="1100" spc="-15" dirty="0">
                <a:solidFill>
                  <a:srgbClr val="231F20"/>
                </a:solidFill>
                <a:latin typeface="MetaPro-Light"/>
              </a:rPr>
              <a:t> </a:t>
            </a:r>
            <a:r>
              <a:rPr lang="en-US" sz="1100" spc="-180" dirty="0" err="1">
                <a:solidFill>
                  <a:srgbClr val="231F20"/>
                </a:solidFill>
                <a:latin typeface="MetaPro-Light"/>
              </a:rPr>
              <a:t>C</a:t>
            </a:r>
            <a:r>
              <a:rPr lang="en-US" sz="1100" spc="-35" dirty="0" err="1">
                <a:solidFill>
                  <a:srgbClr val="231F20"/>
                </a:solidFill>
                <a:latin typeface="MetaPro-Light"/>
              </a:rPr>
              <a:t>hemin</a:t>
            </a:r>
            <a:r>
              <a:rPr lang="en-US" sz="1100" spc="-40" dirty="0">
                <a:solidFill>
                  <a:srgbClr val="231F20"/>
                </a:solidFill>
                <a:latin typeface="MetaPro-Light"/>
              </a:rPr>
              <a:t> </a:t>
            </a:r>
            <a:r>
              <a:rPr lang="en-US" sz="1100" spc="-30" dirty="0">
                <a:solidFill>
                  <a:srgbClr val="231F20"/>
                </a:solidFill>
                <a:latin typeface="MetaPro-Light"/>
              </a:rPr>
              <a:t>d</a:t>
            </a:r>
            <a:r>
              <a:rPr lang="en-US" sz="1100" spc="-60" dirty="0">
                <a:solidFill>
                  <a:srgbClr val="231F20"/>
                </a:solidFill>
                <a:latin typeface="MetaPro-Light"/>
              </a:rPr>
              <a:t>e</a:t>
            </a:r>
            <a:r>
              <a:rPr lang="en-US" sz="1100" spc="-40" dirty="0">
                <a:solidFill>
                  <a:srgbClr val="231F20"/>
                </a:solidFill>
                <a:latin typeface="MetaPro-Light"/>
              </a:rPr>
              <a:t> </a:t>
            </a:r>
            <a:r>
              <a:rPr lang="en-US" sz="1100" spc="-55" dirty="0" err="1">
                <a:solidFill>
                  <a:srgbClr val="231F20"/>
                </a:solidFill>
                <a:latin typeface="MetaPro-Light"/>
              </a:rPr>
              <a:t>B</a:t>
            </a:r>
            <a:r>
              <a:rPr lang="en-US" sz="1100" spc="-30" dirty="0" err="1">
                <a:solidFill>
                  <a:srgbClr val="231F20"/>
                </a:solidFill>
                <a:latin typeface="MetaPro-Light"/>
              </a:rPr>
              <a:t>l</a:t>
            </a:r>
            <a:r>
              <a:rPr lang="en-US" sz="1100" spc="-35" dirty="0" err="1">
                <a:solidFill>
                  <a:srgbClr val="231F20"/>
                </a:solidFill>
                <a:latin typeface="MetaPro-Light"/>
              </a:rPr>
              <a:t>andonnet</a:t>
            </a:r>
            <a:r>
              <a:rPr lang="en-US" sz="1100" spc="-50" dirty="0">
                <a:solidFill>
                  <a:srgbClr val="231F20"/>
                </a:solidFill>
                <a:latin typeface="MetaPro-Light"/>
              </a:rPr>
              <a:t> </a:t>
            </a:r>
            <a:r>
              <a:rPr lang="en-US" sz="1100" spc="5" dirty="0">
                <a:solidFill>
                  <a:srgbClr val="231F20"/>
                </a:solidFill>
                <a:latin typeface="MetaPro-Light"/>
              </a:rPr>
              <a:t>8</a:t>
            </a:r>
            <a:r>
              <a:rPr lang="en-US" sz="1100" dirty="0">
                <a:solidFill>
                  <a:srgbClr val="231F20"/>
                </a:solidFill>
                <a:latin typeface="MetaPro-Light"/>
              </a:rPr>
              <a:t> </a:t>
            </a:r>
            <a:r>
              <a:rPr lang="en-US" sz="1100" spc="-180" dirty="0">
                <a:solidFill>
                  <a:srgbClr val="231F20"/>
                </a:solidFill>
                <a:latin typeface="MetaPro-Light"/>
              </a:rPr>
              <a:t>C</a:t>
            </a:r>
            <a:r>
              <a:rPr lang="en-US" sz="1100" spc="-65" dirty="0">
                <a:solidFill>
                  <a:srgbClr val="231F20"/>
                </a:solidFill>
                <a:latin typeface="MetaPro-Light"/>
              </a:rPr>
              <a:t>a</a:t>
            </a:r>
            <a:r>
              <a:rPr lang="en-US" sz="1100" spc="-60" dirty="0">
                <a:solidFill>
                  <a:srgbClr val="231F20"/>
                </a:solidFill>
                <a:latin typeface="MetaPro-Light"/>
              </a:rPr>
              <a:t>se</a:t>
            </a:r>
            <a:r>
              <a:rPr lang="en-US" sz="1100" spc="-40" dirty="0">
                <a:solidFill>
                  <a:srgbClr val="231F20"/>
                </a:solidFill>
                <a:latin typeface="MetaPro-Light"/>
              </a:rPr>
              <a:t> </a:t>
            </a:r>
            <a:r>
              <a:rPr lang="en-US" sz="1100" spc="-135" dirty="0" err="1">
                <a:solidFill>
                  <a:srgbClr val="231F20"/>
                </a:solidFill>
                <a:latin typeface="MetaPro-Light"/>
              </a:rPr>
              <a:t>P</a:t>
            </a:r>
            <a:r>
              <a:rPr lang="en-US" sz="1100" spc="-40" dirty="0" err="1">
                <a:solidFill>
                  <a:srgbClr val="231F20"/>
                </a:solidFill>
                <a:latin typeface="MetaPro-Light"/>
              </a:rPr>
              <a:t>o</a:t>
            </a:r>
            <a:r>
              <a:rPr lang="en-US" sz="1100" spc="-65" dirty="0" err="1">
                <a:solidFill>
                  <a:srgbClr val="231F20"/>
                </a:solidFill>
                <a:latin typeface="MetaPro-Light"/>
              </a:rPr>
              <a:t>s</a:t>
            </a:r>
            <a:r>
              <a:rPr lang="en-US" sz="1100" spc="-5" dirty="0" err="1">
                <a:solidFill>
                  <a:srgbClr val="231F20"/>
                </a:solidFill>
                <a:latin typeface="MetaPro-Light"/>
              </a:rPr>
              <a:t>t</a:t>
            </a:r>
            <a:r>
              <a:rPr lang="en-US" sz="1100" spc="-35" dirty="0" err="1">
                <a:solidFill>
                  <a:srgbClr val="231F20"/>
                </a:solidFill>
                <a:latin typeface="MetaPro-Light"/>
              </a:rPr>
              <a:t>a</a:t>
            </a:r>
            <a:r>
              <a:rPr lang="en-US" sz="1100" spc="-20" dirty="0" err="1">
                <a:solidFill>
                  <a:srgbClr val="231F20"/>
                </a:solidFill>
                <a:latin typeface="MetaPro-Light"/>
              </a:rPr>
              <a:t>l</a:t>
            </a:r>
            <a:r>
              <a:rPr lang="en-US" sz="1100" spc="-60" dirty="0" err="1">
                <a:solidFill>
                  <a:srgbClr val="231F20"/>
                </a:solidFill>
                <a:latin typeface="MetaPro-Light"/>
              </a:rPr>
              <a:t>e</a:t>
            </a:r>
            <a:r>
              <a:rPr lang="en-US" sz="1100" spc="-40" dirty="0">
                <a:solidFill>
                  <a:srgbClr val="231F20"/>
                </a:solidFill>
                <a:latin typeface="MetaPro-Light"/>
              </a:rPr>
              <a:t> </a:t>
            </a:r>
            <a:r>
              <a:rPr lang="en-US" sz="1100" spc="5" dirty="0">
                <a:solidFill>
                  <a:srgbClr val="231F20"/>
                </a:solidFill>
                <a:latin typeface="MetaPro-Light"/>
              </a:rPr>
              <a:t>401</a:t>
            </a:r>
            <a:endParaRPr lang="en-US" sz="1100" dirty="0">
              <a:latin typeface="MetaPro-Light"/>
            </a:endParaRPr>
          </a:p>
          <a:p>
            <a:pPr marL="0" marR="13335" indent="0" algn="r">
              <a:lnSpc>
                <a:spcPct val="100000"/>
              </a:lnSpc>
              <a:spcBef>
                <a:spcPts val="140"/>
              </a:spcBef>
              <a:buNone/>
            </a:pPr>
            <a:r>
              <a:rPr lang="en-US" sz="1100" spc="-170" dirty="0">
                <a:solidFill>
                  <a:srgbClr val="231F20"/>
                </a:solidFill>
                <a:latin typeface="MetaPro-Light"/>
              </a:rPr>
              <a:t>C</a:t>
            </a:r>
            <a:r>
              <a:rPr lang="en-US" sz="1100" spc="-95" dirty="0">
                <a:solidFill>
                  <a:srgbClr val="231F20"/>
                </a:solidFill>
                <a:latin typeface="MetaPro-Light"/>
              </a:rPr>
              <a:t>H</a:t>
            </a:r>
            <a:r>
              <a:rPr lang="en-US" sz="1100" spc="-40" dirty="0">
                <a:solidFill>
                  <a:srgbClr val="231F20"/>
                </a:solidFill>
                <a:latin typeface="MetaPro-Light"/>
              </a:rPr>
              <a:t> </a:t>
            </a:r>
            <a:r>
              <a:rPr lang="en-US" sz="1100" spc="20" dirty="0">
                <a:solidFill>
                  <a:srgbClr val="231F20"/>
                </a:solidFill>
                <a:latin typeface="MetaPro-Light"/>
              </a:rPr>
              <a:t>–</a:t>
            </a:r>
            <a:r>
              <a:rPr lang="en-US" sz="1100" spc="-40" dirty="0">
                <a:solidFill>
                  <a:srgbClr val="231F20"/>
                </a:solidFill>
                <a:latin typeface="MetaPro-Light"/>
              </a:rPr>
              <a:t> </a:t>
            </a:r>
            <a:r>
              <a:rPr lang="en-US" sz="1100" spc="-35" dirty="0">
                <a:solidFill>
                  <a:srgbClr val="231F20"/>
                </a:solidFill>
                <a:latin typeface="MetaPro-Light"/>
              </a:rPr>
              <a:t>12</a:t>
            </a:r>
            <a:r>
              <a:rPr lang="en-US" sz="1100" spc="-75" dirty="0">
                <a:solidFill>
                  <a:srgbClr val="231F20"/>
                </a:solidFill>
                <a:latin typeface="MetaPro-Light"/>
              </a:rPr>
              <a:t>1</a:t>
            </a:r>
            <a:r>
              <a:rPr lang="en-US" sz="1100" spc="5" dirty="0">
                <a:solidFill>
                  <a:srgbClr val="231F20"/>
                </a:solidFill>
                <a:latin typeface="MetaPro-Light"/>
              </a:rPr>
              <a:t>4</a:t>
            </a:r>
            <a:r>
              <a:rPr lang="en-US" sz="1100" spc="-60" dirty="0">
                <a:solidFill>
                  <a:srgbClr val="231F20"/>
                </a:solidFill>
                <a:latin typeface="MetaPro-Light"/>
              </a:rPr>
              <a:t> </a:t>
            </a:r>
            <a:r>
              <a:rPr lang="en-US" sz="1100" spc="-50" dirty="0">
                <a:solidFill>
                  <a:srgbClr val="231F20"/>
                </a:solidFill>
                <a:latin typeface="MetaPro-Light"/>
              </a:rPr>
              <a:t>Vernie</a:t>
            </a:r>
            <a:r>
              <a:rPr lang="en-US" sz="1100" spc="-55" dirty="0">
                <a:solidFill>
                  <a:srgbClr val="231F20"/>
                </a:solidFill>
                <a:latin typeface="MetaPro-Light"/>
              </a:rPr>
              <a:t>r</a:t>
            </a:r>
            <a:r>
              <a:rPr lang="en-US" sz="1100" spc="-45" dirty="0">
                <a:solidFill>
                  <a:srgbClr val="231F20"/>
                </a:solidFill>
                <a:latin typeface="MetaPro-Light"/>
              </a:rPr>
              <a:t>,</a:t>
            </a:r>
            <a:r>
              <a:rPr lang="en-US" sz="1100" spc="-40" dirty="0">
                <a:solidFill>
                  <a:srgbClr val="231F20"/>
                </a:solidFill>
                <a:latin typeface="MetaPro-Light"/>
              </a:rPr>
              <a:t> </a:t>
            </a:r>
            <a:r>
              <a:rPr lang="en-US" sz="1100" spc="-70" dirty="0">
                <a:solidFill>
                  <a:srgbClr val="231F20"/>
                </a:solidFill>
                <a:latin typeface="MetaPro-Light"/>
              </a:rPr>
              <a:t>Genev</a:t>
            </a:r>
            <a:r>
              <a:rPr lang="en-US" sz="1100" spc="-55" dirty="0">
                <a:solidFill>
                  <a:srgbClr val="231F20"/>
                </a:solidFill>
                <a:latin typeface="MetaPro-Light"/>
              </a:rPr>
              <a:t>a</a:t>
            </a:r>
            <a:endParaRPr lang="en-US" sz="1100" dirty="0">
              <a:latin typeface="MetaPro-Light"/>
            </a:endParaRPr>
          </a:p>
          <a:p>
            <a:pPr marL="0" marR="12700" indent="0" algn="r">
              <a:lnSpc>
                <a:spcPct val="100000"/>
              </a:lnSpc>
              <a:spcBef>
                <a:spcPts val="140"/>
              </a:spcBef>
              <a:buNone/>
            </a:pPr>
            <a:r>
              <a:rPr lang="en-US" sz="1100" spc="-90" dirty="0">
                <a:solidFill>
                  <a:srgbClr val="231F20"/>
                </a:solidFill>
                <a:latin typeface="MetaPro-Light"/>
              </a:rPr>
              <a:t>S</a:t>
            </a:r>
            <a:r>
              <a:rPr lang="en-US" sz="1100" spc="-105" dirty="0">
                <a:solidFill>
                  <a:srgbClr val="231F20"/>
                </a:solidFill>
                <a:latin typeface="MetaPro-Light"/>
              </a:rPr>
              <a:t>w</a:t>
            </a:r>
            <a:r>
              <a:rPr lang="en-US" sz="1100" spc="-15" dirty="0">
                <a:solidFill>
                  <a:srgbClr val="231F20"/>
                </a:solidFill>
                <a:latin typeface="MetaPro-Light"/>
              </a:rPr>
              <a:t>it</a:t>
            </a:r>
            <a:r>
              <a:rPr lang="en-US" sz="1100" spc="-40" dirty="0">
                <a:solidFill>
                  <a:srgbClr val="231F20"/>
                </a:solidFill>
                <a:latin typeface="MetaPro-Light"/>
              </a:rPr>
              <a:t>z</a:t>
            </a:r>
            <a:r>
              <a:rPr lang="en-US" sz="1100" spc="-35" dirty="0">
                <a:solidFill>
                  <a:srgbClr val="231F20"/>
                </a:solidFill>
                <a:latin typeface="MetaPro-Light"/>
              </a:rPr>
              <a:t>er</a:t>
            </a:r>
            <a:r>
              <a:rPr lang="en-US" sz="1100" spc="-30" dirty="0">
                <a:solidFill>
                  <a:srgbClr val="231F20"/>
                </a:solidFill>
                <a:latin typeface="MetaPro-Light"/>
              </a:rPr>
              <a:t>l</a:t>
            </a:r>
            <a:r>
              <a:rPr lang="en-US" sz="1100" spc="-40" dirty="0">
                <a:solidFill>
                  <a:srgbClr val="231F20"/>
                </a:solidFill>
                <a:latin typeface="MetaPro-Light"/>
              </a:rPr>
              <a:t>and</a:t>
            </a:r>
            <a:endParaRPr lang="en-US" sz="1100" dirty="0">
              <a:latin typeface="MetaPro-Light"/>
            </a:endParaRPr>
          </a:p>
          <a:p>
            <a:pPr marL="0" indent="0">
              <a:lnSpc>
                <a:spcPts val="1000"/>
              </a:lnSpc>
              <a:spcBef>
                <a:spcPts val="83"/>
              </a:spcBef>
              <a:buNone/>
            </a:pPr>
            <a:endParaRPr lang="en-US" sz="1100" dirty="0">
              <a:latin typeface="MetaPro-Light"/>
            </a:endParaRPr>
          </a:p>
          <a:p>
            <a:pPr marL="0" marR="13335" indent="0" algn="r">
              <a:lnSpc>
                <a:spcPct val="100000"/>
              </a:lnSpc>
              <a:buNone/>
            </a:pPr>
            <a:r>
              <a:rPr lang="en-US" sz="1800" b="1" spc="45" dirty="0">
                <a:solidFill>
                  <a:srgbClr val="ED2227"/>
                </a:solidFill>
                <a:latin typeface="MetaPro-Light"/>
              </a:rPr>
              <a:t>i</a:t>
            </a:r>
            <a:r>
              <a:rPr lang="en-US" sz="1800" b="1" spc="-160" dirty="0">
                <a:solidFill>
                  <a:srgbClr val="ED2227"/>
                </a:solidFill>
                <a:latin typeface="MetaPro-Light"/>
              </a:rPr>
              <a:t>s</a:t>
            </a:r>
            <a:r>
              <a:rPr lang="en-US" sz="1800" b="1" spc="-200" dirty="0">
                <a:solidFill>
                  <a:srgbClr val="ED2227"/>
                </a:solidFill>
                <a:latin typeface="MetaPro-Light"/>
              </a:rPr>
              <a:t>o</a:t>
            </a:r>
            <a:r>
              <a:rPr lang="en-US" sz="1800" b="1" spc="-75" dirty="0">
                <a:solidFill>
                  <a:srgbClr val="ED2227"/>
                </a:solidFill>
                <a:latin typeface="MetaPro-Light"/>
              </a:rPr>
              <a:t>.o</a:t>
            </a:r>
            <a:r>
              <a:rPr lang="en-US" sz="1800" b="1" spc="-130" dirty="0">
                <a:solidFill>
                  <a:srgbClr val="ED2227"/>
                </a:solidFill>
                <a:latin typeface="MetaPro-Light"/>
              </a:rPr>
              <a:t>r</a:t>
            </a:r>
            <a:r>
              <a:rPr lang="en-US" sz="1800" b="1" spc="-140" dirty="0">
                <a:solidFill>
                  <a:srgbClr val="ED2227"/>
                </a:solidFill>
                <a:latin typeface="MetaPro-Light"/>
              </a:rPr>
              <a:t>g</a:t>
            </a:r>
            <a:endParaRPr lang="en-US" sz="1800" dirty="0">
              <a:latin typeface="MetaPro-Light"/>
            </a:endParaRPr>
          </a:p>
          <a:p>
            <a:pPr marL="0" indent="0">
              <a:lnSpc>
                <a:spcPts val="650"/>
              </a:lnSpc>
              <a:spcBef>
                <a:spcPts val="14"/>
              </a:spcBef>
              <a:buNone/>
            </a:pPr>
            <a:endParaRPr lang="en-US" sz="1100" dirty="0">
              <a:latin typeface="MetaPro-Light"/>
            </a:endParaRPr>
          </a:p>
          <a:p>
            <a:pPr marL="0" marR="13335" indent="0" algn="r">
              <a:lnSpc>
                <a:spcPct val="100000"/>
              </a:lnSpc>
              <a:buNone/>
            </a:pPr>
            <a:r>
              <a:rPr lang="en-US" sz="1100" spc="75" dirty="0">
                <a:solidFill>
                  <a:srgbClr val="231F20"/>
                </a:solidFill>
                <a:latin typeface="MetaPro-Light"/>
              </a:rPr>
              <a:t>©</a:t>
            </a:r>
            <a:r>
              <a:rPr lang="en-US" sz="1100" spc="-35" dirty="0">
                <a:solidFill>
                  <a:srgbClr val="231F20"/>
                </a:solidFill>
                <a:latin typeface="MetaPro-Light"/>
              </a:rPr>
              <a:t> </a:t>
            </a:r>
            <a:r>
              <a:rPr lang="en-US" sz="1100" spc="-65" dirty="0">
                <a:solidFill>
                  <a:srgbClr val="231F20"/>
                </a:solidFill>
                <a:latin typeface="MetaPro-Light"/>
              </a:rPr>
              <a:t>IS</a:t>
            </a:r>
            <a:r>
              <a:rPr lang="en-US" sz="1100" spc="-120" dirty="0">
                <a:solidFill>
                  <a:srgbClr val="231F20"/>
                </a:solidFill>
                <a:latin typeface="MetaPro-Light"/>
              </a:rPr>
              <a:t>O</a:t>
            </a:r>
            <a:r>
              <a:rPr lang="en-US" sz="1100" spc="-40" dirty="0">
                <a:solidFill>
                  <a:srgbClr val="231F20"/>
                </a:solidFill>
                <a:latin typeface="MetaPro-Light"/>
              </a:rPr>
              <a:t>,</a:t>
            </a:r>
            <a:r>
              <a:rPr lang="en-US" sz="1100" spc="-35" dirty="0">
                <a:solidFill>
                  <a:srgbClr val="231F20"/>
                </a:solidFill>
                <a:latin typeface="MetaPro-Light"/>
              </a:rPr>
              <a:t> </a:t>
            </a:r>
            <a:r>
              <a:rPr lang="en-US" sz="1100" spc="5" dirty="0">
                <a:solidFill>
                  <a:srgbClr val="231F20"/>
                </a:solidFill>
                <a:latin typeface="MetaPro-Light"/>
              </a:rPr>
              <a:t>2015</a:t>
            </a:r>
          </a:p>
          <a:p>
            <a:pPr marL="0" marR="13335" indent="0" algn="r">
              <a:lnSpc>
                <a:spcPct val="100000"/>
              </a:lnSpc>
              <a:buNone/>
            </a:pPr>
            <a:endParaRPr lang="en-US" sz="1100" dirty="0">
              <a:latin typeface="MetaPro-Light"/>
            </a:endParaRPr>
          </a:p>
          <a:p>
            <a:pPr marL="513715" marR="12700" indent="0" algn="r">
              <a:lnSpc>
                <a:spcPts val="800"/>
              </a:lnSpc>
              <a:spcBef>
                <a:spcPts val="20"/>
              </a:spcBef>
              <a:buNone/>
            </a:pPr>
            <a:r>
              <a:rPr lang="en-US" sz="1100" spc="-90" dirty="0">
                <a:solidFill>
                  <a:srgbClr val="231F20"/>
                </a:solidFill>
                <a:latin typeface="MetaPro-Light"/>
              </a:rPr>
              <a:t>A</a:t>
            </a:r>
            <a:r>
              <a:rPr lang="en-US" sz="1100" spc="-5" dirty="0">
                <a:solidFill>
                  <a:srgbClr val="231F20"/>
                </a:solidFill>
                <a:latin typeface="MetaPro-Light"/>
              </a:rPr>
              <a:t>l</a:t>
            </a:r>
            <a:r>
              <a:rPr lang="en-US" sz="1100" spc="5" dirty="0">
                <a:solidFill>
                  <a:srgbClr val="231F20"/>
                </a:solidFill>
                <a:latin typeface="MetaPro-Light"/>
              </a:rPr>
              <a:t>l</a:t>
            </a:r>
            <a:r>
              <a:rPr lang="en-US" sz="1100" spc="-45" dirty="0">
                <a:solidFill>
                  <a:srgbClr val="231F20"/>
                </a:solidFill>
                <a:latin typeface="MetaPro-Light"/>
              </a:rPr>
              <a:t> </a:t>
            </a:r>
            <a:r>
              <a:rPr lang="en-US" sz="1100" spc="-20" dirty="0">
                <a:solidFill>
                  <a:srgbClr val="231F20"/>
                </a:solidFill>
                <a:latin typeface="MetaPro-Light"/>
              </a:rPr>
              <a:t>rights</a:t>
            </a:r>
            <a:r>
              <a:rPr lang="en-US" sz="1100" spc="-45" dirty="0">
                <a:solidFill>
                  <a:srgbClr val="231F20"/>
                </a:solidFill>
                <a:latin typeface="MetaPro-Light"/>
              </a:rPr>
              <a:t> </a:t>
            </a:r>
            <a:r>
              <a:rPr lang="en-US" sz="1100" spc="-30" dirty="0">
                <a:solidFill>
                  <a:srgbClr val="231F20"/>
                </a:solidFill>
                <a:latin typeface="MetaPro-Light"/>
              </a:rPr>
              <a:t>r</a:t>
            </a:r>
            <a:r>
              <a:rPr lang="en-US" sz="1100" spc="-55" dirty="0">
                <a:solidFill>
                  <a:srgbClr val="231F20"/>
                </a:solidFill>
                <a:latin typeface="MetaPro-Light"/>
              </a:rPr>
              <a:t>e</a:t>
            </a:r>
            <a:r>
              <a:rPr lang="en-US" sz="1100" spc="-50" dirty="0">
                <a:solidFill>
                  <a:srgbClr val="231F20"/>
                </a:solidFill>
                <a:latin typeface="MetaPro-Light"/>
              </a:rPr>
              <a:t>se</a:t>
            </a:r>
            <a:r>
              <a:rPr lang="en-US" sz="1100" spc="-25" dirty="0">
                <a:solidFill>
                  <a:srgbClr val="231F20"/>
                </a:solidFill>
                <a:latin typeface="MetaPro-Light"/>
              </a:rPr>
              <a:t>r</a:t>
            </a:r>
            <a:r>
              <a:rPr lang="en-US" sz="1100" spc="-40" dirty="0">
                <a:solidFill>
                  <a:srgbClr val="231F20"/>
                </a:solidFill>
                <a:latin typeface="MetaPro-Light"/>
              </a:rPr>
              <a:t>ved</a:t>
            </a:r>
            <a:r>
              <a:rPr lang="en-US" sz="1100" spc="-20" dirty="0">
                <a:solidFill>
                  <a:srgbClr val="231F20"/>
                </a:solidFill>
                <a:latin typeface="MetaPro-Light"/>
              </a:rPr>
              <a:t> </a:t>
            </a:r>
            <a:r>
              <a:rPr lang="en-US" sz="1100" spc="-45" dirty="0">
                <a:solidFill>
                  <a:srgbClr val="231F20"/>
                </a:solidFill>
                <a:latin typeface="MetaPro-Light"/>
              </a:rPr>
              <a:t>I</a:t>
            </a:r>
            <a:r>
              <a:rPr lang="en-US" sz="1100" spc="-110" dirty="0">
                <a:solidFill>
                  <a:srgbClr val="231F20"/>
                </a:solidFill>
                <a:latin typeface="MetaPro-Light"/>
              </a:rPr>
              <a:t>S</a:t>
            </a:r>
            <a:r>
              <a:rPr lang="en-US" sz="1100" spc="-75" dirty="0">
                <a:solidFill>
                  <a:srgbClr val="231F20"/>
                </a:solidFill>
                <a:latin typeface="MetaPro-Light"/>
              </a:rPr>
              <a:t>BN</a:t>
            </a:r>
            <a:r>
              <a:rPr lang="en-US" sz="1100" spc="-35" dirty="0">
                <a:solidFill>
                  <a:srgbClr val="231F20"/>
                </a:solidFill>
                <a:latin typeface="MetaPro-Light"/>
              </a:rPr>
              <a:t> </a:t>
            </a:r>
            <a:r>
              <a:rPr lang="en-US" sz="1100" dirty="0">
                <a:solidFill>
                  <a:srgbClr val="231F20"/>
                </a:solidFill>
                <a:latin typeface="MetaPro-Light"/>
              </a:rPr>
              <a:t>978-92-67-10648-9</a:t>
            </a:r>
            <a:endParaRPr lang="en-US" sz="1100" dirty="0">
              <a:latin typeface="MetaPro-Light"/>
            </a:endParaRPr>
          </a:p>
        </p:txBody>
      </p:sp>
    </p:spTree>
    <p:extLst>
      <p:ext uri="{BB962C8B-B14F-4D97-AF65-F5344CB8AC3E}">
        <p14:creationId xmlns:p14="http://schemas.microsoft.com/office/powerpoint/2010/main" val="14463695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1036</TotalTime>
  <Words>275</Words>
  <Application>Microsoft Macintosh PowerPoint</Application>
  <PresentationFormat>Widescreen</PresentationFormat>
  <Paragraphs>69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MetaPro-Light</vt:lpstr>
      <vt:lpstr>Office Theme</vt:lpstr>
      <vt:lpstr>Source code management with Jira and GIT  ISO/TC 184/SC 4: Industrial Data Living Lab </vt:lpstr>
      <vt:lpstr>Adopt Agile Workflow</vt:lpstr>
      <vt:lpstr>Adopt Agile Workflow</vt:lpstr>
      <vt:lpstr>Clean Up Bugzilla </vt:lpstr>
      <vt:lpstr>Attribute Analysis and Mapping</vt:lpstr>
      <vt:lpstr>Next STEPS</vt:lpstr>
      <vt:lpstr>ISO/TC 184/SC 4 - Industrial Data</vt:lpstr>
    </vt:vector>
  </TitlesOfParts>
  <Company>The Boeing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ISO Living Lab Transition</dc:title>
  <dc:creator>Sapp, Brandon</dc:creator>
  <cp:keywords>ISO; Living Lab; Bugzilla</cp:keywords>
  <cp:lastModifiedBy>Brandon Sapp</cp:lastModifiedBy>
  <cp:revision>75</cp:revision>
  <dcterms:created xsi:type="dcterms:W3CDTF">2018-07-09T20:28:51Z</dcterms:created>
  <dcterms:modified xsi:type="dcterms:W3CDTF">2019-09-12T20:02:27Z</dcterms:modified>
</cp:coreProperties>
</file>